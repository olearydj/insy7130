
<file path=[Content_Types].xml><?xml version="1.0" encoding="utf-8"?>
<Types xmlns="http://schemas.openxmlformats.org/package/2006/content-types">
  <Default Extension="jpeg" ContentType="image/jpeg"/>
  <Default Extension="jpg&amp;f=1&amp;nofb=1&amp;ipt=49ba720907a5ebaa9741814b2ca75c9c36b3f21b9caa77ca43dd6bebc36a0b03"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85" r:id="rId2"/>
    <p:sldId id="1779" r:id="rId3"/>
    <p:sldId id="1780" r:id="rId4"/>
    <p:sldId id="257" r:id="rId5"/>
    <p:sldId id="1775" r:id="rId6"/>
    <p:sldId id="286" r:id="rId7"/>
    <p:sldId id="288" r:id="rId8"/>
    <p:sldId id="1763" r:id="rId9"/>
    <p:sldId id="1764" r:id="rId10"/>
    <p:sldId id="1769" r:id="rId11"/>
    <p:sldId id="287" r:id="rId12"/>
    <p:sldId id="1776" r:id="rId13"/>
    <p:sldId id="1771" r:id="rId14"/>
    <p:sldId id="1772" r:id="rId15"/>
    <p:sldId id="1781" r:id="rId16"/>
    <p:sldId id="1773" r:id="rId17"/>
    <p:sldId id="1774" r:id="rId18"/>
    <p:sldId id="1778" r:id="rId19"/>
    <p:sldId id="1777" r:id="rId20"/>
    <p:sldId id="1661" r:id="rId21"/>
    <p:sldId id="1754" r:id="rId22"/>
    <p:sldId id="1647" r:id="rId23"/>
    <p:sldId id="1770" r:id="rId24"/>
    <p:sldId id="1762" r:id="rId25"/>
    <p:sldId id="1759" r:id="rId26"/>
    <p:sldId id="1730" r:id="rId27"/>
    <p:sldId id="1760" r:id="rId28"/>
    <p:sldId id="175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932"/>
    <p:restoredTop sz="97794"/>
  </p:normalViewPr>
  <p:slideViewPr>
    <p:cSldViewPr snapToGrid="0">
      <p:cViewPr varScale="1">
        <p:scale>
          <a:sx n="214" d="100"/>
          <a:sy n="214" d="100"/>
        </p:scale>
        <p:origin x="11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63AE9E-1E3F-2F4F-997D-7DF193022701}" type="datetimeFigureOut">
              <a:rPr lang="en-US" smtClean="0"/>
              <a:t>8/18/26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36020C-36DE-8C43-AAAB-A91A05C66FF0}" type="slidenum">
              <a:rPr lang="en-US" smtClean="0"/>
              <a:t>‹#›</a:t>
            </a:fld>
            <a:endParaRPr lang="en-US"/>
          </a:p>
        </p:txBody>
      </p:sp>
    </p:spTree>
    <p:extLst>
      <p:ext uri="{BB962C8B-B14F-4D97-AF65-F5344CB8AC3E}">
        <p14:creationId xmlns:p14="http://schemas.microsoft.com/office/powerpoint/2010/main" val="3362849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82DB54-E347-6A46-9D4A-CCC3EEFD9818}" type="slidenum">
              <a:rPr lang="en-US" smtClean="0"/>
              <a:t>1</a:t>
            </a:fld>
            <a:endParaRPr lang="en-US"/>
          </a:p>
        </p:txBody>
      </p:sp>
    </p:spTree>
    <p:extLst>
      <p:ext uri="{BB962C8B-B14F-4D97-AF65-F5344CB8AC3E}">
        <p14:creationId xmlns:p14="http://schemas.microsoft.com/office/powerpoint/2010/main" val="963843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94747-46BF-7F42-5DE0-54187DCA5D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6B4406-CA36-989D-9F3C-9967A24CE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E6A8BB-61C9-8820-1DC7-FC7CCF235FD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661379-28F7-9B33-0621-3AA0851E4FE9}"/>
              </a:ext>
            </a:extLst>
          </p:cNvPr>
          <p:cNvSpPr>
            <a:spLocks noGrp="1"/>
          </p:cNvSpPr>
          <p:nvPr>
            <p:ph type="sldNum" sz="quarter" idx="5"/>
          </p:nvPr>
        </p:nvSpPr>
        <p:spPr/>
        <p:txBody>
          <a:bodyPr/>
          <a:lstStyle/>
          <a:p>
            <a:fld id="{5202D62A-786C-1C41-89FF-212E98474051}" type="slidenum">
              <a:rPr lang="en-US" smtClean="0"/>
              <a:t>2</a:t>
            </a:fld>
            <a:endParaRPr lang="en-US"/>
          </a:p>
        </p:txBody>
      </p:sp>
    </p:spTree>
    <p:extLst>
      <p:ext uri="{BB962C8B-B14F-4D97-AF65-F5344CB8AC3E}">
        <p14:creationId xmlns:p14="http://schemas.microsoft.com/office/powerpoint/2010/main" val="4132365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4D4BED-9E30-B346-9945-439451489816}" type="slidenum">
              <a:rPr lang="en-US" smtClean="0"/>
              <a:t>6</a:t>
            </a:fld>
            <a:endParaRPr lang="en-US"/>
          </a:p>
        </p:txBody>
      </p:sp>
    </p:spTree>
    <p:extLst>
      <p:ext uri="{BB962C8B-B14F-4D97-AF65-F5344CB8AC3E}">
        <p14:creationId xmlns:p14="http://schemas.microsoft.com/office/powerpoint/2010/main" val="551095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02D62A-786C-1C41-89FF-212E98474051}" type="slidenum">
              <a:rPr lang="en-US" smtClean="0"/>
              <a:t>8</a:t>
            </a:fld>
            <a:endParaRPr lang="en-US"/>
          </a:p>
        </p:txBody>
      </p:sp>
    </p:spTree>
    <p:extLst>
      <p:ext uri="{BB962C8B-B14F-4D97-AF65-F5344CB8AC3E}">
        <p14:creationId xmlns:p14="http://schemas.microsoft.com/office/powerpoint/2010/main" val="175610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202D62A-786C-1C41-89FF-212E98474051}" type="slidenum">
              <a:rPr lang="en-US" smtClean="0"/>
              <a:t>24</a:t>
            </a:fld>
            <a:endParaRPr lang="en-US"/>
          </a:p>
        </p:txBody>
      </p:sp>
    </p:spTree>
    <p:extLst>
      <p:ext uri="{BB962C8B-B14F-4D97-AF65-F5344CB8AC3E}">
        <p14:creationId xmlns:p14="http://schemas.microsoft.com/office/powerpoint/2010/main" val="20505808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202D62A-786C-1C41-89FF-212E98474051}" type="slidenum">
              <a:rPr lang="en-US" smtClean="0"/>
              <a:t>25</a:t>
            </a:fld>
            <a:endParaRPr lang="en-US"/>
          </a:p>
        </p:txBody>
      </p:sp>
    </p:spTree>
    <p:extLst>
      <p:ext uri="{BB962C8B-B14F-4D97-AF65-F5344CB8AC3E}">
        <p14:creationId xmlns:p14="http://schemas.microsoft.com/office/powerpoint/2010/main" val="3386153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0B581-685E-F665-1FA9-A49C287FC8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73C9BB9-327B-B1BF-B690-551143FA9C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943A4-FA35-14F2-5714-7E40202194D5}"/>
              </a:ext>
            </a:extLst>
          </p:cNvPr>
          <p:cNvSpPr>
            <a:spLocks noGrp="1"/>
          </p:cNvSpPr>
          <p:nvPr>
            <p:ph type="dt" sz="half" idx="10"/>
          </p:nvPr>
        </p:nvSpPr>
        <p:spPr/>
        <p:txBody>
          <a:bodyPr/>
          <a:lstStyle/>
          <a:p>
            <a:r>
              <a:rPr lang="en-US"/>
              <a:t>INSY 7130</a:t>
            </a:r>
          </a:p>
        </p:txBody>
      </p:sp>
      <p:sp>
        <p:nvSpPr>
          <p:cNvPr id="5" name="Footer Placeholder 4">
            <a:extLst>
              <a:ext uri="{FF2B5EF4-FFF2-40B4-BE49-F238E27FC236}">
                <a16:creationId xmlns:a16="http://schemas.microsoft.com/office/drawing/2014/main" id="{85AC2833-42D6-8C92-0958-0317F06B2C81}"/>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C6ACD58F-78D0-BDBE-79F5-D8E008578FDA}"/>
              </a:ext>
            </a:extLst>
          </p:cNvPr>
          <p:cNvSpPr>
            <a:spLocks noGrp="1"/>
          </p:cNvSpPr>
          <p:nvPr>
            <p:ph type="sldNum" sz="quarter" idx="12"/>
          </p:nvPr>
        </p:nvSpPr>
        <p:spPr/>
        <p:txBody>
          <a:bodyPr/>
          <a:lstStyle/>
          <a:p>
            <a:fld id="{52054868-82FA-C847-A727-529BD1C951E4}" type="slidenum">
              <a:rPr lang="en-US" smtClean="0"/>
              <a:t>‹#›</a:t>
            </a:fld>
            <a:endParaRPr lang="en-US"/>
          </a:p>
        </p:txBody>
      </p:sp>
    </p:spTree>
    <p:extLst>
      <p:ext uri="{BB962C8B-B14F-4D97-AF65-F5344CB8AC3E}">
        <p14:creationId xmlns:p14="http://schemas.microsoft.com/office/powerpoint/2010/main" val="3301921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E2EA6-21DD-FA1B-1BBC-41F8F70378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AF495-69BE-E24F-E719-14AB18B976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FBBC46-634B-53C7-903A-260C9ED638E4}"/>
              </a:ext>
            </a:extLst>
          </p:cNvPr>
          <p:cNvSpPr>
            <a:spLocks noGrp="1"/>
          </p:cNvSpPr>
          <p:nvPr>
            <p:ph type="dt" sz="half" idx="10"/>
          </p:nvPr>
        </p:nvSpPr>
        <p:spPr/>
        <p:txBody>
          <a:bodyPr/>
          <a:lstStyle/>
          <a:p>
            <a:r>
              <a:rPr lang="en-US"/>
              <a:t>INSY 7130</a:t>
            </a:r>
          </a:p>
        </p:txBody>
      </p:sp>
      <p:sp>
        <p:nvSpPr>
          <p:cNvPr id="5" name="Footer Placeholder 4">
            <a:extLst>
              <a:ext uri="{FF2B5EF4-FFF2-40B4-BE49-F238E27FC236}">
                <a16:creationId xmlns:a16="http://schemas.microsoft.com/office/drawing/2014/main" id="{B42438DE-604D-EB44-0E05-61FBAE860D26}"/>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9CEFBEEE-6BBC-14D0-F4B7-277315F9E2A9}"/>
              </a:ext>
            </a:extLst>
          </p:cNvPr>
          <p:cNvSpPr>
            <a:spLocks noGrp="1"/>
          </p:cNvSpPr>
          <p:nvPr>
            <p:ph type="sldNum" sz="quarter" idx="12"/>
          </p:nvPr>
        </p:nvSpPr>
        <p:spPr/>
        <p:txBody>
          <a:bodyPr/>
          <a:lstStyle/>
          <a:p>
            <a:fld id="{52054868-82FA-C847-A727-529BD1C951E4}" type="slidenum">
              <a:rPr lang="en-US" smtClean="0"/>
              <a:t>‹#›</a:t>
            </a:fld>
            <a:endParaRPr lang="en-US"/>
          </a:p>
        </p:txBody>
      </p:sp>
    </p:spTree>
    <p:extLst>
      <p:ext uri="{BB962C8B-B14F-4D97-AF65-F5344CB8AC3E}">
        <p14:creationId xmlns:p14="http://schemas.microsoft.com/office/powerpoint/2010/main" val="4240463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2A0E3-C04D-DCE2-4AF1-AEE8C949E5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39C368-C9C5-960B-CFEA-F012A19769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0D523D-0FBA-4A3B-35B8-FF296E684CE2}"/>
              </a:ext>
            </a:extLst>
          </p:cNvPr>
          <p:cNvSpPr>
            <a:spLocks noGrp="1"/>
          </p:cNvSpPr>
          <p:nvPr>
            <p:ph type="dt" sz="half" idx="10"/>
          </p:nvPr>
        </p:nvSpPr>
        <p:spPr/>
        <p:txBody>
          <a:bodyPr/>
          <a:lstStyle/>
          <a:p>
            <a:r>
              <a:rPr lang="en-US"/>
              <a:t>INSY 7130</a:t>
            </a:r>
          </a:p>
        </p:txBody>
      </p:sp>
      <p:sp>
        <p:nvSpPr>
          <p:cNvPr id="5" name="Footer Placeholder 4">
            <a:extLst>
              <a:ext uri="{FF2B5EF4-FFF2-40B4-BE49-F238E27FC236}">
                <a16:creationId xmlns:a16="http://schemas.microsoft.com/office/drawing/2014/main" id="{168F085A-A7BC-6347-8C98-6AB4E25DD17A}"/>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82E70652-6CD7-50E9-EC3E-AD16693B4A8E}"/>
              </a:ext>
            </a:extLst>
          </p:cNvPr>
          <p:cNvSpPr>
            <a:spLocks noGrp="1"/>
          </p:cNvSpPr>
          <p:nvPr>
            <p:ph type="sldNum" sz="quarter" idx="12"/>
          </p:nvPr>
        </p:nvSpPr>
        <p:spPr/>
        <p:txBody>
          <a:bodyPr/>
          <a:lstStyle/>
          <a:p>
            <a:fld id="{52054868-82FA-C847-A727-529BD1C951E4}" type="slidenum">
              <a:rPr lang="en-US" smtClean="0"/>
              <a:t>‹#›</a:t>
            </a:fld>
            <a:endParaRPr lang="en-US"/>
          </a:p>
        </p:txBody>
      </p:sp>
    </p:spTree>
    <p:extLst>
      <p:ext uri="{BB962C8B-B14F-4D97-AF65-F5344CB8AC3E}">
        <p14:creationId xmlns:p14="http://schemas.microsoft.com/office/powerpoint/2010/main" val="569764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853A2-A466-4583-BB15-EE25778D55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DE82DF-332F-FE1F-8EE2-C0226842D9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BA4218-4B05-220E-24E9-9DB17D3528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7A5430-13B5-2650-1110-90AE127AF544}"/>
              </a:ext>
            </a:extLst>
          </p:cNvPr>
          <p:cNvSpPr>
            <a:spLocks noGrp="1"/>
          </p:cNvSpPr>
          <p:nvPr>
            <p:ph type="dt" sz="half" idx="10"/>
          </p:nvPr>
        </p:nvSpPr>
        <p:spPr/>
        <p:txBody>
          <a:bodyPr/>
          <a:lstStyle/>
          <a:p>
            <a:r>
              <a:rPr lang="en-US"/>
              <a:t>INSY 7130</a:t>
            </a:r>
          </a:p>
        </p:txBody>
      </p:sp>
      <p:sp>
        <p:nvSpPr>
          <p:cNvPr id="6" name="Footer Placeholder 5">
            <a:extLst>
              <a:ext uri="{FF2B5EF4-FFF2-40B4-BE49-F238E27FC236}">
                <a16:creationId xmlns:a16="http://schemas.microsoft.com/office/drawing/2014/main" id="{DF7EA1F5-6F7B-4DD0-B6FB-360896B2485B}"/>
              </a:ext>
            </a:extLst>
          </p:cNvPr>
          <p:cNvSpPr>
            <a:spLocks noGrp="1"/>
          </p:cNvSpPr>
          <p:nvPr>
            <p:ph type="ftr" sz="quarter" idx="11"/>
          </p:nvPr>
        </p:nvSpPr>
        <p:spPr/>
        <p:txBody>
          <a:bodyPr/>
          <a:lstStyle/>
          <a:p>
            <a:r>
              <a:rPr lang="en-US"/>
              <a:t>Industrial &amp; Systems Engineering, Auburn University - INSY 7120</a:t>
            </a:r>
          </a:p>
        </p:txBody>
      </p:sp>
      <p:sp>
        <p:nvSpPr>
          <p:cNvPr id="7" name="Slide Number Placeholder 6">
            <a:extLst>
              <a:ext uri="{FF2B5EF4-FFF2-40B4-BE49-F238E27FC236}">
                <a16:creationId xmlns:a16="http://schemas.microsoft.com/office/drawing/2014/main" id="{4BB4D0C5-9BFA-AFA1-5B90-0C06326A9804}"/>
              </a:ext>
            </a:extLst>
          </p:cNvPr>
          <p:cNvSpPr>
            <a:spLocks noGrp="1"/>
          </p:cNvSpPr>
          <p:nvPr>
            <p:ph type="sldNum" sz="quarter" idx="12"/>
          </p:nvPr>
        </p:nvSpPr>
        <p:spPr/>
        <p:txBody>
          <a:bodyPr/>
          <a:lstStyle/>
          <a:p>
            <a:fld id="{52054868-82FA-C847-A727-529BD1C951E4}" type="slidenum">
              <a:rPr lang="en-US" smtClean="0"/>
              <a:t>‹#›</a:t>
            </a:fld>
            <a:endParaRPr lang="en-US"/>
          </a:p>
        </p:txBody>
      </p:sp>
    </p:spTree>
    <p:extLst>
      <p:ext uri="{BB962C8B-B14F-4D97-AF65-F5344CB8AC3E}">
        <p14:creationId xmlns:p14="http://schemas.microsoft.com/office/powerpoint/2010/main" val="4186225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AAF45-B9FF-3FF0-C039-7C9DBF7C84F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668952-45FF-5818-DB27-FAB02E816B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C8A2AE-B112-BF12-C7B5-851F2CEC00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33D6295-77A4-EF36-555D-A10A59B372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18B8E7-8120-BEB0-AFE3-1FF9847352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CF0454B-89AB-CE30-3701-0D9DC01958EB}"/>
              </a:ext>
            </a:extLst>
          </p:cNvPr>
          <p:cNvSpPr>
            <a:spLocks noGrp="1"/>
          </p:cNvSpPr>
          <p:nvPr>
            <p:ph type="dt" sz="half" idx="10"/>
          </p:nvPr>
        </p:nvSpPr>
        <p:spPr/>
        <p:txBody>
          <a:bodyPr/>
          <a:lstStyle/>
          <a:p>
            <a:r>
              <a:rPr lang="en-US"/>
              <a:t>INSY 7130</a:t>
            </a:r>
          </a:p>
        </p:txBody>
      </p:sp>
      <p:sp>
        <p:nvSpPr>
          <p:cNvPr id="8" name="Footer Placeholder 7">
            <a:extLst>
              <a:ext uri="{FF2B5EF4-FFF2-40B4-BE49-F238E27FC236}">
                <a16:creationId xmlns:a16="http://schemas.microsoft.com/office/drawing/2014/main" id="{FDCE6D5C-E324-D122-CBC0-1B96C894D2ED}"/>
              </a:ext>
            </a:extLst>
          </p:cNvPr>
          <p:cNvSpPr>
            <a:spLocks noGrp="1"/>
          </p:cNvSpPr>
          <p:nvPr>
            <p:ph type="ftr" sz="quarter" idx="11"/>
          </p:nvPr>
        </p:nvSpPr>
        <p:spPr/>
        <p:txBody>
          <a:bodyPr/>
          <a:lstStyle/>
          <a:p>
            <a:r>
              <a:rPr lang="en-US"/>
              <a:t>Industrial &amp; Systems Engineering, Auburn University - INSY 7120</a:t>
            </a:r>
          </a:p>
        </p:txBody>
      </p:sp>
      <p:sp>
        <p:nvSpPr>
          <p:cNvPr id="9" name="Slide Number Placeholder 8">
            <a:extLst>
              <a:ext uri="{FF2B5EF4-FFF2-40B4-BE49-F238E27FC236}">
                <a16:creationId xmlns:a16="http://schemas.microsoft.com/office/drawing/2014/main" id="{44A9A3D9-055D-5490-09E1-9A388A045C37}"/>
              </a:ext>
            </a:extLst>
          </p:cNvPr>
          <p:cNvSpPr>
            <a:spLocks noGrp="1"/>
          </p:cNvSpPr>
          <p:nvPr>
            <p:ph type="sldNum" sz="quarter" idx="12"/>
          </p:nvPr>
        </p:nvSpPr>
        <p:spPr/>
        <p:txBody>
          <a:bodyPr/>
          <a:lstStyle/>
          <a:p>
            <a:fld id="{52054868-82FA-C847-A727-529BD1C951E4}" type="slidenum">
              <a:rPr lang="en-US" smtClean="0"/>
              <a:t>‹#›</a:t>
            </a:fld>
            <a:endParaRPr lang="en-US"/>
          </a:p>
        </p:txBody>
      </p:sp>
    </p:spTree>
    <p:extLst>
      <p:ext uri="{BB962C8B-B14F-4D97-AF65-F5344CB8AC3E}">
        <p14:creationId xmlns:p14="http://schemas.microsoft.com/office/powerpoint/2010/main" val="3219596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43CA3-5A27-FFBB-DC05-A14F784578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0E04A2-5399-4F28-5FCE-97CED812B9FD}"/>
              </a:ext>
            </a:extLst>
          </p:cNvPr>
          <p:cNvSpPr>
            <a:spLocks noGrp="1"/>
          </p:cNvSpPr>
          <p:nvPr>
            <p:ph type="dt" sz="half" idx="10"/>
          </p:nvPr>
        </p:nvSpPr>
        <p:spPr/>
        <p:txBody>
          <a:bodyPr/>
          <a:lstStyle/>
          <a:p>
            <a:r>
              <a:rPr lang="en-US"/>
              <a:t>INSY 7130</a:t>
            </a:r>
          </a:p>
        </p:txBody>
      </p:sp>
      <p:sp>
        <p:nvSpPr>
          <p:cNvPr id="4" name="Footer Placeholder 3">
            <a:extLst>
              <a:ext uri="{FF2B5EF4-FFF2-40B4-BE49-F238E27FC236}">
                <a16:creationId xmlns:a16="http://schemas.microsoft.com/office/drawing/2014/main" id="{111285D8-CEBE-E705-F42C-6997BDE43D7F}"/>
              </a:ext>
            </a:extLst>
          </p:cNvPr>
          <p:cNvSpPr>
            <a:spLocks noGrp="1"/>
          </p:cNvSpPr>
          <p:nvPr>
            <p:ph type="ftr" sz="quarter" idx="11"/>
          </p:nvPr>
        </p:nvSpPr>
        <p:spPr/>
        <p:txBody>
          <a:bodyPr/>
          <a:lstStyle/>
          <a:p>
            <a:r>
              <a:rPr lang="en-US"/>
              <a:t>Industrial &amp; Systems Engineering, Auburn University - INSY 7120</a:t>
            </a:r>
          </a:p>
        </p:txBody>
      </p:sp>
      <p:sp>
        <p:nvSpPr>
          <p:cNvPr id="5" name="Slide Number Placeholder 4">
            <a:extLst>
              <a:ext uri="{FF2B5EF4-FFF2-40B4-BE49-F238E27FC236}">
                <a16:creationId xmlns:a16="http://schemas.microsoft.com/office/drawing/2014/main" id="{55B3335F-5430-4564-16C4-EF0EF7240BFE}"/>
              </a:ext>
            </a:extLst>
          </p:cNvPr>
          <p:cNvSpPr>
            <a:spLocks noGrp="1"/>
          </p:cNvSpPr>
          <p:nvPr>
            <p:ph type="sldNum" sz="quarter" idx="12"/>
          </p:nvPr>
        </p:nvSpPr>
        <p:spPr/>
        <p:txBody>
          <a:bodyPr/>
          <a:lstStyle/>
          <a:p>
            <a:fld id="{52054868-82FA-C847-A727-529BD1C951E4}" type="slidenum">
              <a:rPr lang="en-US" smtClean="0"/>
              <a:t>‹#›</a:t>
            </a:fld>
            <a:endParaRPr lang="en-US"/>
          </a:p>
        </p:txBody>
      </p:sp>
    </p:spTree>
    <p:extLst>
      <p:ext uri="{BB962C8B-B14F-4D97-AF65-F5344CB8AC3E}">
        <p14:creationId xmlns:p14="http://schemas.microsoft.com/office/powerpoint/2010/main" val="3630480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4A8D8F-B6A3-ECFA-2FAA-5823FE825689}"/>
              </a:ext>
            </a:extLst>
          </p:cNvPr>
          <p:cNvSpPr>
            <a:spLocks noGrp="1"/>
          </p:cNvSpPr>
          <p:nvPr>
            <p:ph type="dt" sz="half" idx="10"/>
          </p:nvPr>
        </p:nvSpPr>
        <p:spPr/>
        <p:txBody>
          <a:bodyPr/>
          <a:lstStyle/>
          <a:p>
            <a:r>
              <a:rPr lang="en-US"/>
              <a:t>INSY 7130</a:t>
            </a:r>
          </a:p>
        </p:txBody>
      </p:sp>
      <p:sp>
        <p:nvSpPr>
          <p:cNvPr id="3" name="Footer Placeholder 2">
            <a:extLst>
              <a:ext uri="{FF2B5EF4-FFF2-40B4-BE49-F238E27FC236}">
                <a16:creationId xmlns:a16="http://schemas.microsoft.com/office/drawing/2014/main" id="{E9AE52EF-384F-F950-814C-EF5F553F771A}"/>
              </a:ext>
            </a:extLst>
          </p:cNvPr>
          <p:cNvSpPr>
            <a:spLocks noGrp="1"/>
          </p:cNvSpPr>
          <p:nvPr>
            <p:ph type="ftr" sz="quarter" idx="11"/>
          </p:nvPr>
        </p:nvSpPr>
        <p:spPr/>
        <p:txBody>
          <a:bodyPr/>
          <a:lstStyle/>
          <a:p>
            <a:r>
              <a:rPr lang="en-US"/>
              <a:t>Industrial &amp; Systems Engineering, Auburn University - INSY 7120</a:t>
            </a:r>
          </a:p>
        </p:txBody>
      </p:sp>
      <p:sp>
        <p:nvSpPr>
          <p:cNvPr id="4" name="Slide Number Placeholder 3">
            <a:extLst>
              <a:ext uri="{FF2B5EF4-FFF2-40B4-BE49-F238E27FC236}">
                <a16:creationId xmlns:a16="http://schemas.microsoft.com/office/drawing/2014/main" id="{BB6E1886-ED8D-9E8B-C98E-AEEFC8392D6B}"/>
              </a:ext>
            </a:extLst>
          </p:cNvPr>
          <p:cNvSpPr>
            <a:spLocks noGrp="1"/>
          </p:cNvSpPr>
          <p:nvPr>
            <p:ph type="sldNum" sz="quarter" idx="12"/>
          </p:nvPr>
        </p:nvSpPr>
        <p:spPr/>
        <p:txBody>
          <a:bodyPr/>
          <a:lstStyle/>
          <a:p>
            <a:fld id="{52054868-82FA-C847-A727-529BD1C951E4}" type="slidenum">
              <a:rPr lang="en-US" smtClean="0"/>
              <a:t>‹#›</a:t>
            </a:fld>
            <a:endParaRPr lang="en-US"/>
          </a:p>
        </p:txBody>
      </p:sp>
    </p:spTree>
    <p:extLst>
      <p:ext uri="{BB962C8B-B14F-4D97-AF65-F5344CB8AC3E}">
        <p14:creationId xmlns:p14="http://schemas.microsoft.com/office/powerpoint/2010/main" val="34227112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4ACA5-CA39-DCBB-35CF-D6386F13C1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42344C-7A1B-B99C-E077-0FF0F77B57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E34948-5CA1-E9F3-471C-974B40275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E0F731-D377-6036-4920-8A9A1E822238}"/>
              </a:ext>
            </a:extLst>
          </p:cNvPr>
          <p:cNvSpPr>
            <a:spLocks noGrp="1"/>
          </p:cNvSpPr>
          <p:nvPr>
            <p:ph type="dt" sz="half" idx="10"/>
          </p:nvPr>
        </p:nvSpPr>
        <p:spPr/>
        <p:txBody>
          <a:bodyPr/>
          <a:lstStyle/>
          <a:p>
            <a:r>
              <a:rPr lang="en-US"/>
              <a:t>INSY 7130</a:t>
            </a:r>
          </a:p>
        </p:txBody>
      </p:sp>
      <p:sp>
        <p:nvSpPr>
          <p:cNvPr id="6" name="Footer Placeholder 5">
            <a:extLst>
              <a:ext uri="{FF2B5EF4-FFF2-40B4-BE49-F238E27FC236}">
                <a16:creationId xmlns:a16="http://schemas.microsoft.com/office/drawing/2014/main" id="{5F8FE208-D562-B2DF-A3EC-15EF1FE912F6}"/>
              </a:ext>
            </a:extLst>
          </p:cNvPr>
          <p:cNvSpPr>
            <a:spLocks noGrp="1"/>
          </p:cNvSpPr>
          <p:nvPr>
            <p:ph type="ftr" sz="quarter" idx="11"/>
          </p:nvPr>
        </p:nvSpPr>
        <p:spPr/>
        <p:txBody>
          <a:bodyPr/>
          <a:lstStyle/>
          <a:p>
            <a:r>
              <a:rPr lang="en-US"/>
              <a:t>Industrial &amp; Systems Engineering, Auburn University - INSY 7120</a:t>
            </a:r>
          </a:p>
        </p:txBody>
      </p:sp>
      <p:sp>
        <p:nvSpPr>
          <p:cNvPr id="7" name="Slide Number Placeholder 6">
            <a:extLst>
              <a:ext uri="{FF2B5EF4-FFF2-40B4-BE49-F238E27FC236}">
                <a16:creationId xmlns:a16="http://schemas.microsoft.com/office/drawing/2014/main" id="{7A1726B0-16D3-FBB7-FF0E-E080546EBEBC}"/>
              </a:ext>
            </a:extLst>
          </p:cNvPr>
          <p:cNvSpPr>
            <a:spLocks noGrp="1"/>
          </p:cNvSpPr>
          <p:nvPr>
            <p:ph type="sldNum" sz="quarter" idx="12"/>
          </p:nvPr>
        </p:nvSpPr>
        <p:spPr/>
        <p:txBody>
          <a:bodyPr/>
          <a:lstStyle/>
          <a:p>
            <a:fld id="{52054868-82FA-C847-A727-529BD1C951E4}" type="slidenum">
              <a:rPr lang="en-US" smtClean="0"/>
              <a:t>‹#›</a:t>
            </a:fld>
            <a:endParaRPr lang="en-US"/>
          </a:p>
        </p:txBody>
      </p:sp>
    </p:spTree>
    <p:extLst>
      <p:ext uri="{BB962C8B-B14F-4D97-AF65-F5344CB8AC3E}">
        <p14:creationId xmlns:p14="http://schemas.microsoft.com/office/powerpoint/2010/main" val="2657171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668D2-297C-241E-9F49-2C222C85D2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EFA4EDF-E43B-66E4-E387-2F492E717C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4877A4-0DB0-1C44-E23D-0C23115A1B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972A67-DAA4-77C1-7F63-2D241DB57B17}"/>
              </a:ext>
            </a:extLst>
          </p:cNvPr>
          <p:cNvSpPr>
            <a:spLocks noGrp="1"/>
          </p:cNvSpPr>
          <p:nvPr>
            <p:ph type="dt" sz="half" idx="10"/>
          </p:nvPr>
        </p:nvSpPr>
        <p:spPr/>
        <p:txBody>
          <a:bodyPr/>
          <a:lstStyle/>
          <a:p>
            <a:r>
              <a:rPr lang="en-US"/>
              <a:t>INSY 7130</a:t>
            </a:r>
          </a:p>
        </p:txBody>
      </p:sp>
      <p:sp>
        <p:nvSpPr>
          <p:cNvPr id="6" name="Footer Placeholder 5">
            <a:extLst>
              <a:ext uri="{FF2B5EF4-FFF2-40B4-BE49-F238E27FC236}">
                <a16:creationId xmlns:a16="http://schemas.microsoft.com/office/drawing/2014/main" id="{0F502313-6391-D821-8E33-33841FA2B28F}"/>
              </a:ext>
            </a:extLst>
          </p:cNvPr>
          <p:cNvSpPr>
            <a:spLocks noGrp="1"/>
          </p:cNvSpPr>
          <p:nvPr>
            <p:ph type="ftr" sz="quarter" idx="11"/>
          </p:nvPr>
        </p:nvSpPr>
        <p:spPr/>
        <p:txBody>
          <a:bodyPr/>
          <a:lstStyle/>
          <a:p>
            <a:r>
              <a:rPr lang="en-US"/>
              <a:t>Industrial &amp; Systems Engineering, Auburn University - INSY 7120</a:t>
            </a:r>
          </a:p>
        </p:txBody>
      </p:sp>
      <p:sp>
        <p:nvSpPr>
          <p:cNvPr id="7" name="Slide Number Placeholder 6">
            <a:extLst>
              <a:ext uri="{FF2B5EF4-FFF2-40B4-BE49-F238E27FC236}">
                <a16:creationId xmlns:a16="http://schemas.microsoft.com/office/drawing/2014/main" id="{F0EAAA94-C5DD-E7FB-DFB2-419ED1B2615F}"/>
              </a:ext>
            </a:extLst>
          </p:cNvPr>
          <p:cNvSpPr>
            <a:spLocks noGrp="1"/>
          </p:cNvSpPr>
          <p:nvPr>
            <p:ph type="sldNum" sz="quarter" idx="12"/>
          </p:nvPr>
        </p:nvSpPr>
        <p:spPr/>
        <p:txBody>
          <a:bodyPr/>
          <a:lstStyle/>
          <a:p>
            <a:fld id="{52054868-82FA-C847-A727-529BD1C951E4}" type="slidenum">
              <a:rPr lang="en-US" smtClean="0"/>
              <a:t>‹#›</a:t>
            </a:fld>
            <a:endParaRPr lang="en-US"/>
          </a:p>
        </p:txBody>
      </p:sp>
    </p:spTree>
    <p:extLst>
      <p:ext uri="{BB962C8B-B14F-4D97-AF65-F5344CB8AC3E}">
        <p14:creationId xmlns:p14="http://schemas.microsoft.com/office/powerpoint/2010/main" val="2600110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5F215-4E39-610A-FF50-2E5A397A9C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C327F0-73E6-2158-DED1-655B179FB5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3D414D-991F-D3CE-180D-D06FEDA4392D}"/>
              </a:ext>
            </a:extLst>
          </p:cNvPr>
          <p:cNvSpPr>
            <a:spLocks noGrp="1"/>
          </p:cNvSpPr>
          <p:nvPr>
            <p:ph type="dt" sz="half" idx="10"/>
          </p:nvPr>
        </p:nvSpPr>
        <p:spPr/>
        <p:txBody>
          <a:bodyPr/>
          <a:lstStyle/>
          <a:p>
            <a:r>
              <a:rPr lang="en-US"/>
              <a:t>INSY 7130</a:t>
            </a:r>
          </a:p>
        </p:txBody>
      </p:sp>
      <p:sp>
        <p:nvSpPr>
          <p:cNvPr id="5" name="Footer Placeholder 4">
            <a:extLst>
              <a:ext uri="{FF2B5EF4-FFF2-40B4-BE49-F238E27FC236}">
                <a16:creationId xmlns:a16="http://schemas.microsoft.com/office/drawing/2014/main" id="{D4851F7E-F02C-5AD1-BFA0-8114707AB28F}"/>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47F324AB-F257-F97F-F529-13AB500F6EA5}"/>
              </a:ext>
            </a:extLst>
          </p:cNvPr>
          <p:cNvSpPr>
            <a:spLocks noGrp="1"/>
          </p:cNvSpPr>
          <p:nvPr>
            <p:ph type="sldNum" sz="quarter" idx="12"/>
          </p:nvPr>
        </p:nvSpPr>
        <p:spPr/>
        <p:txBody>
          <a:bodyPr/>
          <a:lstStyle/>
          <a:p>
            <a:fld id="{52054868-82FA-C847-A727-529BD1C951E4}" type="slidenum">
              <a:rPr lang="en-US" smtClean="0"/>
              <a:t>‹#›</a:t>
            </a:fld>
            <a:endParaRPr lang="en-US"/>
          </a:p>
        </p:txBody>
      </p:sp>
    </p:spTree>
    <p:extLst>
      <p:ext uri="{BB962C8B-B14F-4D97-AF65-F5344CB8AC3E}">
        <p14:creationId xmlns:p14="http://schemas.microsoft.com/office/powerpoint/2010/main" val="2368532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52915E-3302-7AFF-8F68-9374516387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BD6A372-AE51-1F99-27C7-9BABD9CF52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4305AD-09D3-1F16-F4E3-93D712C99050}"/>
              </a:ext>
            </a:extLst>
          </p:cNvPr>
          <p:cNvSpPr>
            <a:spLocks noGrp="1"/>
          </p:cNvSpPr>
          <p:nvPr>
            <p:ph type="dt" sz="half" idx="10"/>
          </p:nvPr>
        </p:nvSpPr>
        <p:spPr/>
        <p:txBody>
          <a:bodyPr/>
          <a:lstStyle/>
          <a:p>
            <a:r>
              <a:rPr lang="en-US"/>
              <a:t>INSY 7130</a:t>
            </a:r>
          </a:p>
        </p:txBody>
      </p:sp>
      <p:sp>
        <p:nvSpPr>
          <p:cNvPr id="5" name="Footer Placeholder 4">
            <a:extLst>
              <a:ext uri="{FF2B5EF4-FFF2-40B4-BE49-F238E27FC236}">
                <a16:creationId xmlns:a16="http://schemas.microsoft.com/office/drawing/2014/main" id="{0D92FF25-9502-2396-4319-DC40BA4FC65E}"/>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0D62B3B0-E25F-531C-FF1B-25EB09B80F87}"/>
              </a:ext>
            </a:extLst>
          </p:cNvPr>
          <p:cNvSpPr>
            <a:spLocks noGrp="1"/>
          </p:cNvSpPr>
          <p:nvPr>
            <p:ph type="sldNum" sz="quarter" idx="12"/>
          </p:nvPr>
        </p:nvSpPr>
        <p:spPr/>
        <p:txBody>
          <a:bodyPr/>
          <a:lstStyle/>
          <a:p>
            <a:fld id="{52054868-82FA-C847-A727-529BD1C951E4}" type="slidenum">
              <a:rPr lang="en-US" smtClean="0"/>
              <a:t>‹#›</a:t>
            </a:fld>
            <a:endParaRPr lang="en-US"/>
          </a:p>
        </p:txBody>
      </p:sp>
    </p:spTree>
    <p:extLst>
      <p:ext uri="{BB962C8B-B14F-4D97-AF65-F5344CB8AC3E}">
        <p14:creationId xmlns:p14="http://schemas.microsoft.com/office/powerpoint/2010/main" val="3870334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2BAF15-5F50-655A-D3FF-F082FD5C09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F754EB5-E1EF-B1EE-774B-AFF7D958CD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518F73-C0BA-AC3A-3CF4-212BBCD6E1D1}"/>
              </a:ext>
            </a:extLst>
          </p:cNvPr>
          <p:cNvSpPr>
            <a:spLocks noGrp="1"/>
          </p:cNvSpPr>
          <p:nvPr>
            <p:ph type="dt" sz="half" idx="2"/>
          </p:nvPr>
        </p:nvSpPr>
        <p:spPr>
          <a:xfrm>
            <a:off x="838200" y="6492875"/>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t>INSY 7130</a:t>
            </a:r>
          </a:p>
        </p:txBody>
      </p:sp>
      <p:sp>
        <p:nvSpPr>
          <p:cNvPr id="5" name="Footer Placeholder 4">
            <a:extLst>
              <a:ext uri="{FF2B5EF4-FFF2-40B4-BE49-F238E27FC236}">
                <a16:creationId xmlns:a16="http://schemas.microsoft.com/office/drawing/2014/main" id="{4F6FC7D3-C438-B2C9-702F-15F1EDA5F9D8}"/>
              </a:ext>
            </a:extLst>
          </p:cNvPr>
          <p:cNvSpPr>
            <a:spLocks noGrp="1"/>
          </p:cNvSpPr>
          <p:nvPr>
            <p:ph type="ftr" sz="quarter" idx="3"/>
          </p:nvPr>
        </p:nvSpPr>
        <p:spPr>
          <a:xfrm>
            <a:off x="2633272" y="6492875"/>
            <a:ext cx="6925456"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Industrial &amp; Systems Engineering, Auburn University - INSY 7120</a:t>
            </a:r>
            <a:endParaRPr lang="en-US" dirty="0"/>
          </a:p>
        </p:txBody>
      </p:sp>
      <p:sp>
        <p:nvSpPr>
          <p:cNvPr id="6" name="Slide Number Placeholder 5">
            <a:extLst>
              <a:ext uri="{FF2B5EF4-FFF2-40B4-BE49-F238E27FC236}">
                <a16:creationId xmlns:a16="http://schemas.microsoft.com/office/drawing/2014/main" id="{79C864DB-C7B6-A9E6-26C0-2F8EE2116A06}"/>
              </a:ext>
            </a:extLst>
          </p:cNvPr>
          <p:cNvSpPr>
            <a:spLocks noGrp="1"/>
          </p:cNvSpPr>
          <p:nvPr>
            <p:ph type="sldNum" sz="quarter" idx="4"/>
          </p:nvPr>
        </p:nvSpPr>
        <p:spPr>
          <a:xfrm>
            <a:off x="8610600" y="6492875"/>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2054868-82FA-C847-A727-529BD1C951E4}" type="slidenum">
              <a:rPr lang="en-US" smtClean="0"/>
              <a:t>‹#›</a:t>
            </a:fld>
            <a:endParaRPr lang="en-US"/>
          </a:p>
        </p:txBody>
      </p:sp>
    </p:spTree>
    <p:extLst>
      <p:ext uri="{BB962C8B-B14F-4D97-AF65-F5344CB8AC3E}">
        <p14:creationId xmlns:p14="http://schemas.microsoft.com/office/powerpoint/2010/main" val="13876186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amp;f=1&amp;nofb=1&amp;ipt=49ba720907a5ebaa9741814b2ca75c9c36b3f21b9caa77ca43dd6bebc36a0b03"/><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statlearning.com/" TargetMode="External"/><Relationship Id="rId2" Type="http://schemas.openxmlformats.org/officeDocument/2006/relationships/hyperlink" Target="https://dataminingbook.info/book_html/" TargetMode="External"/><Relationship Id="rId1" Type="http://schemas.openxmlformats.org/officeDocument/2006/relationships/slideLayout" Target="../slideLayouts/slideLayout2.xml"/><Relationship Id="rId4" Type="http://schemas.openxmlformats.org/officeDocument/2006/relationships/hyperlink" Target="https://otexts.com/fpppy/"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colab.google/"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en.wikipedia.org/wiki/Larry_Tesler"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DB452E2-0C0B-A744-9A6F-97F4AD4A28AA}"/>
              </a:ext>
            </a:extLst>
          </p:cNvPr>
          <p:cNvSpPr>
            <a:spLocks noGrp="1"/>
          </p:cNvSpPr>
          <p:nvPr>
            <p:ph type="ftr" sz="quarter" idx="11"/>
          </p:nvPr>
        </p:nvSpPr>
        <p:spPr/>
        <p:txBody>
          <a:bodyPr/>
          <a:lstStyle/>
          <a:p>
            <a:r>
              <a:rPr lang="en-US"/>
              <a:t>Industrial &amp; Systems Engineering, Auburn University - INSY 7120</a:t>
            </a:r>
          </a:p>
        </p:txBody>
      </p:sp>
      <p:sp>
        <p:nvSpPr>
          <p:cNvPr id="5" name="Slide Number Placeholder 4">
            <a:extLst>
              <a:ext uri="{FF2B5EF4-FFF2-40B4-BE49-F238E27FC236}">
                <a16:creationId xmlns:a16="http://schemas.microsoft.com/office/drawing/2014/main" id="{7C2FFCBD-6F1F-F34F-B00F-268BDD8FD3CC}"/>
              </a:ext>
            </a:extLst>
          </p:cNvPr>
          <p:cNvSpPr>
            <a:spLocks noGrp="1"/>
          </p:cNvSpPr>
          <p:nvPr>
            <p:ph type="sldNum" sz="quarter" idx="12"/>
          </p:nvPr>
        </p:nvSpPr>
        <p:spPr/>
        <p:txBody>
          <a:bodyPr/>
          <a:lstStyle/>
          <a:p>
            <a:fld id="{74C1AF7F-5A29-CC4C-A2A6-A74C0BEF789F}" type="slidenum">
              <a:rPr lang="en-US" smtClean="0"/>
              <a:t>1</a:t>
            </a:fld>
            <a:endParaRPr lang="en-US"/>
          </a:p>
        </p:txBody>
      </p:sp>
      <p:sp>
        <p:nvSpPr>
          <p:cNvPr id="3" name="Subtitle 2">
            <a:extLst>
              <a:ext uri="{FF2B5EF4-FFF2-40B4-BE49-F238E27FC236}">
                <a16:creationId xmlns:a16="http://schemas.microsoft.com/office/drawing/2014/main" id="{9AAAB97D-29B1-9F4C-940B-B69D4156B446}"/>
              </a:ext>
            </a:extLst>
          </p:cNvPr>
          <p:cNvSpPr>
            <a:spLocks noGrp="1"/>
          </p:cNvSpPr>
          <p:nvPr>
            <p:ph type="subTitle" idx="1"/>
          </p:nvPr>
        </p:nvSpPr>
        <p:spPr>
          <a:xfrm>
            <a:off x="1524000" y="3765176"/>
            <a:ext cx="9144000" cy="1492624"/>
          </a:xfrm>
        </p:spPr>
        <p:txBody>
          <a:bodyPr/>
          <a:lstStyle/>
          <a:p>
            <a:pPr>
              <a:lnSpc>
                <a:spcPct val="100000"/>
              </a:lnSpc>
              <a:spcBef>
                <a:spcPts val="0"/>
              </a:spcBef>
            </a:pPr>
            <a:r>
              <a:rPr lang="en-US" sz="3400" dirty="0"/>
              <a:t>Lecture 01a – Class Intro</a:t>
            </a:r>
          </a:p>
          <a:p>
            <a:pPr>
              <a:lnSpc>
                <a:spcPct val="100000"/>
              </a:lnSpc>
              <a:spcBef>
                <a:spcPts val="0"/>
              </a:spcBef>
            </a:pPr>
            <a:r>
              <a:rPr lang="en-US" dirty="0"/>
              <a:t>Dan O’Leary // </a:t>
            </a:r>
            <a:r>
              <a:rPr lang="en-US" dirty="0" err="1"/>
              <a:t>dan.oleary@auburn.edu</a:t>
            </a:r>
            <a:endParaRPr lang="en-US" dirty="0"/>
          </a:p>
        </p:txBody>
      </p:sp>
      <p:sp>
        <p:nvSpPr>
          <p:cNvPr id="2" name="Title 1">
            <a:extLst>
              <a:ext uri="{FF2B5EF4-FFF2-40B4-BE49-F238E27FC236}">
                <a16:creationId xmlns:a16="http://schemas.microsoft.com/office/drawing/2014/main" id="{891E0ED3-F5AC-D949-946B-07A488AE8A52}"/>
              </a:ext>
            </a:extLst>
          </p:cNvPr>
          <p:cNvSpPr>
            <a:spLocks noGrp="1"/>
          </p:cNvSpPr>
          <p:nvPr>
            <p:ph type="ctrTitle"/>
          </p:nvPr>
        </p:nvSpPr>
        <p:spPr/>
        <p:txBody>
          <a:bodyPr>
            <a:normAutofit/>
          </a:bodyPr>
          <a:lstStyle/>
          <a:p>
            <a:r>
              <a:rPr lang="en-US" sz="4900" b="1" dirty="0"/>
              <a:t>Data Mining Techniques and Applications for Operations</a:t>
            </a:r>
            <a:br>
              <a:rPr lang="en-US" dirty="0"/>
            </a:br>
            <a:r>
              <a:rPr lang="en-US" sz="3600" dirty="0"/>
              <a:t>INSY 7130</a:t>
            </a:r>
          </a:p>
        </p:txBody>
      </p:sp>
      <p:sp>
        <p:nvSpPr>
          <p:cNvPr id="6" name="Date Placeholder 5">
            <a:extLst>
              <a:ext uri="{FF2B5EF4-FFF2-40B4-BE49-F238E27FC236}">
                <a16:creationId xmlns:a16="http://schemas.microsoft.com/office/drawing/2014/main" id="{4233CDB3-BCA8-EA03-0C1C-43F078F0740D}"/>
              </a:ext>
            </a:extLst>
          </p:cNvPr>
          <p:cNvSpPr>
            <a:spLocks noGrp="1"/>
          </p:cNvSpPr>
          <p:nvPr>
            <p:ph type="dt" sz="half" idx="10"/>
          </p:nvPr>
        </p:nvSpPr>
        <p:spPr/>
        <p:txBody>
          <a:bodyPr/>
          <a:lstStyle/>
          <a:p>
            <a:r>
              <a:rPr lang="en-US"/>
              <a:t>INSY 7130</a:t>
            </a:r>
          </a:p>
        </p:txBody>
      </p:sp>
    </p:spTree>
    <p:extLst>
      <p:ext uri="{BB962C8B-B14F-4D97-AF65-F5344CB8AC3E}">
        <p14:creationId xmlns:p14="http://schemas.microsoft.com/office/powerpoint/2010/main" val="2966415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164E4-708C-9B63-2F3E-5B689C16EEE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20D0183-16D1-0536-9552-C158053798EE}"/>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5F710C0C-356E-289C-BB66-5E088F210056}"/>
              </a:ext>
            </a:extLst>
          </p:cNvPr>
          <p:cNvSpPr>
            <a:spLocks noGrp="1"/>
          </p:cNvSpPr>
          <p:nvPr>
            <p:ph type="sldNum" sz="quarter" idx="12"/>
          </p:nvPr>
        </p:nvSpPr>
        <p:spPr/>
        <p:txBody>
          <a:bodyPr/>
          <a:lstStyle/>
          <a:p>
            <a:fld id="{07219D31-0E31-E340-8AA7-445981C79750}" type="slidenum">
              <a:rPr lang="en-US" smtClean="0"/>
              <a:t>2</a:t>
            </a:fld>
            <a:endParaRPr lang="en-US"/>
          </a:p>
        </p:txBody>
      </p:sp>
      <p:sp>
        <p:nvSpPr>
          <p:cNvPr id="8" name="Text Placeholder 7">
            <a:extLst>
              <a:ext uri="{FF2B5EF4-FFF2-40B4-BE49-F238E27FC236}">
                <a16:creationId xmlns:a16="http://schemas.microsoft.com/office/drawing/2014/main" id="{9E7D93FC-8CBE-F364-CE02-04A64D3026A3}"/>
              </a:ext>
            </a:extLst>
          </p:cNvPr>
          <p:cNvSpPr>
            <a:spLocks noGrp="1"/>
          </p:cNvSpPr>
          <p:nvPr>
            <p:ph type="body" idx="1"/>
          </p:nvPr>
        </p:nvSpPr>
        <p:spPr/>
        <p:txBody>
          <a:bodyPr/>
          <a:lstStyle/>
          <a:p>
            <a:r>
              <a:rPr lang="en-US" dirty="0"/>
              <a:t>(not rhetorical)</a:t>
            </a:r>
          </a:p>
        </p:txBody>
      </p:sp>
      <p:sp>
        <p:nvSpPr>
          <p:cNvPr id="7" name="Title 6">
            <a:extLst>
              <a:ext uri="{FF2B5EF4-FFF2-40B4-BE49-F238E27FC236}">
                <a16:creationId xmlns:a16="http://schemas.microsoft.com/office/drawing/2014/main" id="{233353E4-29FD-78B7-04FA-C93C5F94CD41}"/>
              </a:ext>
            </a:extLst>
          </p:cNvPr>
          <p:cNvSpPr>
            <a:spLocks noGrp="1"/>
          </p:cNvSpPr>
          <p:nvPr>
            <p:ph type="title"/>
          </p:nvPr>
        </p:nvSpPr>
        <p:spPr/>
        <p:txBody>
          <a:bodyPr/>
          <a:lstStyle/>
          <a:p>
            <a:r>
              <a:rPr lang="en-US" dirty="0"/>
              <a:t>What is “Data Mining”?</a:t>
            </a:r>
          </a:p>
        </p:txBody>
      </p:sp>
      <p:sp>
        <p:nvSpPr>
          <p:cNvPr id="2" name="Date Placeholder 1">
            <a:extLst>
              <a:ext uri="{FF2B5EF4-FFF2-40B4-BE49-F238E27FC236}">
                <a16:creationId xmlns:a16="http://schemas.microsoft.com/office/drawing/2014/main" id="{7BDA8BCB-C7E9-BCF9-DF9D-A186400EA12C}"/>
              </a:ext>
            </a:extLst>
          </p:cNvPr>
          <p:cNvSpPr>
            <a:spLocks noGrp="1"/>
          </p:cNvSpPr>
          <p:nvPr>
            <p:ph type="dt" sz="half" idx="10"/>
          </p:nvPr>
        </p:nvSpPr>
        <p:spPr/>
        <p:txBody>
          <a:bodyPr/>
          <a:lstStyle/>
          <a:p>
            <a:r>
              <a:rPr lang="en-US"/>
              <a:t>INSY 7130</a:t>
            </a:r>
          </a:p>
        </p:txBody>
      </p:sp>
    </p:spTree>
    <p:extLst>
      <p:ext uri="{BB962C8B-B14F-4D97-AF65-F5344CB8AC3E}">
        <p14:creationId xmlns:p14="http://schemas.microsoft.com/office/powerpoint/2010/main" val="34709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EAF7B81-0AA2-8C7A-113B-A6C06B9B7BA3}"/>
              </a:ext>
            </a:extLst>
          </p:cNvPr>
          <p:cNvSpPr>
            <a:spLocks noGrp="1"/>
          </p:cNvSpPr>
          <p:nvPr>
            <p:ph type="title"/>
          </p:nvPr>
        </p:nvSpPr>
        <p:spPr/>
        <p:txBody>
          <a:bodyPr/>
          <a:lstStyle/>
          <a:p>
            <a:r>
              <a:rPr lang="en-US" dirty="0"/>
              <a:t>Data Mining</a:t>
            </a:r>
          </a:p>
        </p:txBody>
      </p:sp>
      <p:sp>
        <p:nvSpPr>
          <p:cNvPr id="8" name="Content Placeholder 7">
            <a:extLst>
              <a:ext uri="{FF2B5EF4-FFF2-40B4-BE49-F238E27FC236}">
                <a16:creationId xmlns:a16="http://schemas.microsoft.com/office/drawing/2014/main" id="{CEA4C84B-A889-6413-2BEC-4E9722B49EED}"/>
              </a:ext>
            </a:extLst>
          </p:cNvPr>
          <p:cNvSpPr>
            <a:spLocks noGrp="1"/>
          </p:cNvSpPr>
          <p:nvPr>
            <p:ph idx="1"/>
          </p:nvPr>
        </p:nvSpPr>
        <p:spPr/>
        <p:txBody>
          <a:bodyPr>
            <a:normAutofit/>
          </a:bodyPr>
          <a:lstStyle/>
          <a:p>
            <a:r>
              <a:rPr lang="en-US" dirty="0"/>
              <a:t>Umbrella term for methods that help us discover patterns in data.</a:t>
            </a:r>
          </a:p>
          <a:p>
            <a:r>
              <a:rPr lang="en-US" dirty="0"/>
              <a:t>In this course:</a:t>
            </a:r>
          </a:p>
          <a:p>
            <a:pPr lvl="1"/>
            <a:r>
              <a:rPr lang="en-US" sz="2800" dirty="0"/>
              <a:t>Finding patterns</a:t>
            </a:r>
          </a:p>
          <a:p>
            <a:pPr lvl="1"/>
            <a:r>
              <a:rPr lang="en-US" sz="2800" dirty="0"/>
              <a:t>Determining whether they are stable, meaningful, and useful</a:t>
            </a:r>
          </a:p>
          <a:p>
            <a:r>
              <a:rPr lang="en-US" dirty="0"/>
              <a:t>Includes similarity measures, representations, nearest neighbors, dimensionality reduction, embeddings, clustering methods, association rules, anomaly detection, time-series analysis and forecasting</a:t>
            </a:r>
          </a:p>
          <a:p>
            <a:r>
              <a:rPr lang="en-US" dirty="0"/>
              <a:t>Largely “unsupervised,” but not all</a:t>
            </a:r>
          </a:p>
        </p:txBody>
      </p:sp>
      <p:sp>
        <p:nvSpPr>
          <p:cNvPr id="4" name="Date Placeholder 3">
            <a:extLst>
              <a:ext uri="{FF2B5EF4-FFF2-40B4-BE49-F238E27FC236}">
                <a16:creationId xmlns:a16="http://schemas.microsoft.com/office/drawing/2014/main" id="{14A64B13-33DA-FB62-7136-666B0F79ACDA}"/>
              </a:ext>
            </a:extLst>
          </p:cNvPr>
          <p:cNvSpPr>
            <a:spLocks noGrp="1"/>
          </p:cNvSpPr>
          <p:nvPr>
            <p:ph type="dt" sz="half" idx="10"/>
          </p:nvPr>
        </p:nvSpPr>
        <p:spPr/>
        <p:txBody>
          <a:bodyPr/>
          <a:lstStyle/>
          <a:p>
            <a:r>
              <a:rPr lang="en-US"/>
              <a:t>INSY 7130</a:t>
            </a:r>
          </a:p>
        </p:txBody>
      </p:sp>
      <p:sp>
        <p:nvSpPr>
          <p:cNvPr id="5" name="Footer Placeholder 4">
            <a:extLst>
              <a:ext uri="{FF2B5EF4-FFF2-40B4-BE49-F238E27FC236}">
                <a16:creationId xmlns:a16="http://schemas.microsoft.com/office/drawing/2014/main" id="{DBF69ED4-17CD-EC3A-EC91-C838DFEDE651}"/>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A86DA76E-CB8A-1A2B-99C9-618DE4B3BE67}"/>
              </a:ext>
            </a:extLst>
          </p:cNvPr>
          <p:cNvSpPr>
            <a:spLocks noGrp="1"/>
          </p:cNvSpPr>
          <p:nvPr>
            <p:ph type="sldNum" sz="quarter" idx="12"/>
          </p:nvPr>
        </p:nvSpPr>
        <p:spPr/>
        <p:txBody>
          <a:bodyPr/>
          <a:lstStyle/>
          <a:p>
            <a:fld id="{52054868-82FA-C847-A727-529BD1C951E4}" type="slidenum">
              <a:rPr lang="en-US" smtClean="0"/>
              <a:t>3</a:t>
            </a:fld>
            <a:endParaRPr lang="en-US"/>
          </a:p>
        </p:txBody>
      </p:sp>
    </p:spTree>
    <p:extLst>
      <p:ext uri="{BB962C8B-B14F-4D97-AF65-F5344CB8AC3E}">
        <p14:creationId xmlns:p14="http://schemas.microsoft.com/office/powerpoint/2010/main" val="2638354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Today's Agenda</a:t>
            </a:r>
          </a:p>
        </p:txBody>
      </p:sp>
      <p:sp>
        <p:nvSpPr>
          <p:cNvPr id="3" name="Content Placeholder 2"/>
          <p:cNvSpPr>
            <a:spLocks noGrp="1"/>
          </p:cNvSpPr>
          <p:nvPr>
            <p:ph idx="1"/>
          </p:nvPr>
        </p:nvSpPr>
        <p:spPr/>
        <p:txBody>
          <a:bodyPr/>
          <a:lstStyle/>
          <a:p>
            <a:r>
              <a:rPr lang="en-US" sz="2800" dirty="0"/>
              <a:t>Get acclimated and acquainted</a:t>
            </a:r>
          </a:p>
          <a:p>
            <a:r>
              <a:rPr lang="en-US" dirty="0"/>
              <a:t>Syllabus, objectives, expectations</a:t>
            </a:r>
          </a:p>
          <a:p>
            <a:r>
              <a:rPr lang="en-US" sz="2800" dirty="0"/>
              <a:t>Introduce course material</a:t>
            </a:r>
            <a:endParaRPr sz="2800" dirty="0"/>
          </a:p>
        </p:txBody>
      </p:sp>
      <p:sp>
        <p:nvSpPr>
          <p:cNvPr id="4" name="Date Placeholder 3">
            <a:extLst>
              <a:ext uri="{FF2B5EF4-FFF2-40B4-BE49-F238E27FC236}">
                <a16:creationId xmlns:a16="http://schemas.microsoft.com/office/drawing/2014/main" id="{09888B14-5BF6-CAA3-63BF-98C1B96CD1BD}"/>
              </a:ext>
            </a:extLst>
          </p:cNvPr>
          <p:cNvSpPr>
            <a:spLocks noGrp="1"/>
          </p:cNvSpPr>
          <p:nvPr>
            <p:ph type="dt" sz="half" idx="10"/>
          </p:nvPr>
        </p:nvSpPr>
        <p:spPr/>
        <p:txBody>
          <a:bodyPr/>
          <a:lstStyle/>
          <a:p>
            <a:r>
              <a:rPr lang="en-US"/>
              <a:t>INSY 7130</a:t>
            </a:r>
          </a:p>
        </p:txBody>
      </p:sp>
      <p:sp>
        <p:nvSpPr>
          <p:cNvPr id="5" name="Footer Placeholder 4">
            <a:extLst>
              <a:ext uri="{FF2B5EF4-FFF2-40B4-BE49-F238E27FC236}">
                <a16:creationId xmlns:a16="http://schemas.microsoft.com/office/drawing/2014/main" id="{1DB19E88-2B9E-B752-11A5-DF865BB70011}"/>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55B6EAB1-2EE6-12BD-3BE1-A7202BC791D9}"/>
              </a:ext>
            </a:extLst>
          </p:cNvPr>
          <p:cNvSpPr>
            <a:spLocks noGrp="1"/>
          </p:cNvSpPr>
          <p:nvPr>
            <p:ph type="sldNum" sz="quarter" idx="12"/>
          </p:nvPr>
        </p:nvSpPr>
        <p:spPr/>
        <p:txBody>
          <a:bodyPr/>
          <a:lstStyle/>
          <a:p>
            <a:fld id="{52054868-82FA-C847-A727-529BD1C951E4}"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5181B-85EF-E506-8E01-18255CBCA265}"/>
              </a:ext>
            </a:extLst>
          </p:cNvPr>
          <p:cNvSpPr>
            <a:spLocks noGrp="1"/>
          </p:cNvSpPr>
          <p:nvPr>
            <p:ph type="title"/>
          </p:nvPr>
        </p:nvSpPr>
        <p:spPr/>
        <p:txBody>
          <a:bodyPr/>
          <a:lstStyle/>
          <a:p>
            <a:r>
              <a:rPr lang="en-US" dirty="0"/>
              <a:t>Course Details</a:t>
            </a:r>
          </a:p>
        </p:txBody>
      </p:sp>
      <p:sp>
        <p:nvSpPr>
          <p:cNvPr id="3" name="Content Placeholder 2">
            <a:extLst>
              <a:ext uri="{FF2B5EF4-FFF2-40B4-BE49-F238E27FC236}">
                <a16:creationId xmlns:a16="http://schemas.microsoft.com/office/drawing/2014/main" id="{91CC0864-C448-53D3-91B8-D12C8F4AE1B9}"/>
              </a:ext>
            </a:extLst>
          </p:cNvPr>
          <p:cNvSpPr>
            <a:spLocks noGrp="1"/>
          </p:cNvSpPr>
          <p:nvPr>
            <p:ph idx="1"/>
          </p:nvPr>
        </p:nvSpPr>
        <p:spPr/>
        <p:txBody>
          <a:bodyPr>
            <a:normAutofit/>
          </a:bodyPr>
          <a:lstStyle/>
          <a:p>
            <a:r>
              <a:rPr lang="en-US" dirty="0"/>
              <a:t>Credits: 3 hours</a:t>
            </a:r>
          </a:p>
          <a:p>
            <a:r>
              <a:rPr lang="en-US" dirty="0"/>
              <a:t>Prerequisite: No formal course prerequisite. Introductory probability and statistics plus prior Python or R experience are strongly recommended. INSY 6500 preferred, not required.</a:t>
            </a:r>
          </a:p>
          <a:p>
            <a:r>
              <a:rPr lang="en-US" dirty="0"/>
              <a:t>Lectures: Tuesday and Thursday 11:00 - 12:15, </a:t>
            </a:r>
            <a:r>
              <a:rPr lang="en-US" dirty="0">
                <a:highlight>
                  <a:srgbClr val="FFFF00"/>
                </a:highlight>
              </a:rPr>
              <a:t>Library 4027</a:t>
            </a:r>
          </a:p>
          <a:p>
            <a:r>
              <a:rPr lang="en-US" dirty="0"/>
              <a:t>Instructional Delivery Method: Hybrid</a:t>
            </a:r>
          </a:p>
          <a:p>
            <a:r>
              <a:rPr lang="en-US" dirty="0"/>
              <a:t>Recording: Sessions are recorded and available to students</a:t>
            </a:r>
          </a:p>
          <a:p>
            <a:r>
              <a:rPr lang="en-US" dirty="0"/>
              <a:t>Semester: August 17, 2026 - December 04, 2026</a:t>
            </a:r>
          </a:p>
          <a:p>
            <a:r>
              <a:rPr lang="en-US" dirty="0"/>
              <a:t>Final Exam: Monday, December 07, 10:30 - 12:30, Library 4027</a:t>
            </a:r>
          </a:p>
        </p:txBody>
      </p:sp>
      <p:sp>
        <p:nvSpPr>
          <p:cNvPr id="4" name="Date Placeholder 3">
            <a:extLst>
              <a:ext uri="{FF2B5EF4-FFF2-40B4-BE49-F238E27FC236}">
                <a16:creationId xmlns:a16="http://schemas.microsoft.com/office/drawing/2014/main" id="{DC8D67F1-A0C7-DB84-C6A7-081FABA064F9}"/>
              </a:ext>
            </a:extLst>
          </p:cNvPr>
          <p:cNvSpPr>
            <a:spLocks noGrp="1"/>
          </p:cNvSpPr>
          <p:nvPr>
            <p:ph type="dt" sz="half" idx="10"/>
          </p:nvPr>
        </p:nvSpPr>
        <p:spPr/>
        <p:txBody>
          <a:bodyPr/>
          <a:lstStyle/>
          <a:p>
            <a:r>
              <a:rPr lang="en-US"/>
              <a:t>INSY 7130</a:t>
            </a:r>
          </a:p>
        </p:txBody>
      </p:sp>
      <p:sp>
        <p:nvSpPr>
          <p:cNvPr id="5" name="Footer Placeholder 4">
            <a:extLst>
              <a:ext uri="{FF2B5EF4-FFF2-40B4-BE49-F238E27FC236}">
                <a16:creationId xmlns:a16="http://schemas.microsoft.com/office/drawing/2014/main" id="{7C886CFA-DD61-780E-CB55-6B3471400DE5}"/>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6DBB3C64-480A-F160-C8D0-6B673144AE8D}"/>
              </a:ext>
            </a:extLst>
          </p:cNvPr>
          <p:cNvSpPr>
            <a:spLocks noGrp="1"/>
          </p:cNvSpPr>
          <p:nvPr>
            <p:ph type="sldNum" sz="quarter" idx="12"/>
          </p:nvPr>
        </p:nvSpPr>
        <p:spPr/>
        <p:txBody>
          <a:bodyPr/>
          <a:lstStyle/>
          <a:p>
            <a:fld id="{52054868-82FA-C847-A727-529BD1C951E4}" type="slidenum">
              <a:rPr lang="en-US" smtClean="0"/>
              <a:t>5</a:t>
            </a:fld>
            <a:endParaRPr lang="en-US"/>
          </a:p>
        </p:txBody>
      </p:sp>
    </p:spTree>
    <p:extLst>
      <p:ext uri="{BB962C8B-B14F-4D97-AF65-F5344CB8AC3E}">
        <p14:creationId xmlns:p14="http://schemas.microsoft.com/office/powerpoint/2010/main" val="2666784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52F99-58FC-484E-A67D-46FECBB0C3D8}"/>
              </a:ext>
            </a:extLst>
          </p:cNvPr>
          <p:cNvSpPr>
            <a:spLocks noGrp="1"/>
          </p:cNvSpPr>
          <p:nvPr>
            <p:ph type="title"/>
          </p:nvPr>
        </p:nvSpPr>
        <p:spPr/>
        <p:txBody>
          <a:bodyPr/>
          <a:lstStyle/>
          <a:p>
            <a:r>
              <a:rPr lang="en-US" dirty="0"/>
              <a:t>About Me</a:t>
            </a:r>
          </a:p>
        </p:txBody>
      </p:sp>
      <p:sp>
        <p:nvSpPr>
          <p:cNvPr id="3" name="Content Placeholder 2">
            <a:extLst>
              <a:ext uri="{FF2B5EF4-FFF2-40B4-BE49-F238E27FC236}">
                <a16:creationId xmlns:a16="http://schemas.microsoft.com/office/drawing/2014/main" id="{07DF43F8-4ED0-1648-9BFF-32BC61B953E2}"/>
              </a:ext>
            </a:extLst>
          </p:cNvPr>
          <p:cNvSpPr>
            <a:spLocks noGrp="1"/>
          </p:cNvSpPr>
          <p:nvPr>
            <p:ph idx="1"/>
          </p:nvPr>
        </p:nvSpPr>
        <p:spPr/>
        <p:txBody>
          <a:bodyPr>
            <a:noAutofit/>
          </a:bodyPr>
          <a:lstStyle/>
          <a:p>
            <a:pPr>
              <a:lnSpc>
                <a:spcPct val="100000"/>
              </a:lnSpc>
              <a:spcBef>
                <a:spcPts val="0"/>
              </a:spcBef>
              <a:spcAft>
                <a:spcPts val="300"/>
              </a:spcAft>
            </a:pPr>
            <a:r>
              <a:rPr lang="en-US" sz="2600" dirty="0"/>
              <a:t>BS Mechanical Engineering Auburn, 1992</a:t>
            </a:r>
          </a:p>
          <a:p>
            <a:pPr>
              <a:lnSpc>
                <a:spcPct val="100000"/>
              </a:lnSpc>
              <a:spcBef>
                <a:spcPts val="0"/>
              </a:spcBef>
              <a:spcAft>
                <a:spcPts val="300"/>
              </a:spcAft>
            </a:pPr>
            <a:r>
              <a:rPr lang="en-US" sz="2600" dirty="0"/>
              <a:t>25 years founding / running two smallish software companies</a:t>
            </a:r>
          </a:p>
          <a:p>
            <a:pPr>
              <a:lnSpc>
                <a:spcPct val="100000"/>
              </a:lnSpc>
              <a:spcBef>
                <a:spcPts val="0"/>
              </a:spcBef>
              <a:spcAft>
                <a:spcPts val="300"/>
              </a:spcAft>
            </a:pPr>
            <a:r>
              <a:rPr lang="en-US" sz="2600" dirty="0"/>
              <a:t>Master of Engineering Management (ISE), 2020</a:t>
            </a:r>
          </a:p>
          <a:p>
            <a:pPr>
              <a:lnSpc>
                <a:spcPct val="100000"/>
              </a:lnSpc>
              <a:spcBef>
                <a:spcPts val="0"/>
              </a:spcBef>
              <a:spcAft>
                <a:spcPts val="300"/>
              </a:spcAft>
            </a:pPr>
            <a:r>
              <a:rPr lang="en-US" sz="2600" dirty="0" err="1"/>
              <a:t>Ph.D</a:t>
            </a:r>
            <a:r>
              <a:rPr lang="en-US" sz="2600" dirty="0"/>
              <a:t> Industrial Engineering, 2024</a:t>
            </a:r>
          </a:p>
          <a:p>
            <a:pPr>
              <a:lnSpc>
                <a:spcPct val="100000"/>
              </a:lnSpc>
              <a:spcBef>
                <a:spcPts val="0"/>
              </a:spcBef>
              <a:spcAft>
                <a:spcPts val="300"/>
              </a:spcAft>
            </a:pPr>
            <a:r>
              <a:rPr lang="en-US" sz="2600" dirty="0"/>
              <a:t>Lecturer: product development / </a:t>
            </a:r>
            <a:r>
              <a:rPr lang="en-US" sz="2600" dirty="0" err="1"/>
              <a:t>eng</a:t>
            </a:r>
            <a:r>
              <a:rPr lang="en-US" sz="2600" dirty="0"/>
              <a:t> econ, computational / ds</a:t>
            </a:r>
          </a:p>
          <a:p>
            <a:pPr>
              <a:lnSpc>
                <a:spcPct val="100000"/>
              </a:lnSpc>
              <a:spcBef>
                <a:spcPts val="0"/>
              </a:spcBef>
              <a:spcAft>
                <a:spcPts val="300"/>
              </a:spcAft>
            </a:pPr>
            <a:r>
              <a:rPr lang="en-US" sz="2600" dirty="0"/>
              <a:t>Coordinator, ISE Graduate Certificate in DS/ML</a:t>
            </a:r>
          </a:p>
          <a:p>
            <a:pPr>
              <a:lnSpc>
                <a:spcPct val="100000"/>
              </a:lnSpc>
              <a:spcBef>
                <a:spcPts val="0"/>
              </a:spcBef>
              <a:spcAft>
                <a:spcPts val="300"/>
              </a:spcAft>
            </a:pPr>
            <a:r>
              <a:rPr lang="en-US" sz="2600" dirty="0"/>
              <a:t>Research &amp; curriculum development: BET, MEM, Product Innovation</a:t>
            </a:r>
          </a:p>
          <a:p>
            <a:pPr>
              <a:lnSpc>
                <a:spcPct val="100000"/>
              </a:lnSpc>
              <a:spcBef>
                <a:spcPts val="0"/>
              </a:spcBef>
              <a:spcAft>
                <a:spcPts val="300"/>
              </a:spcAft>
            </a:pPr>
            <a:r>
              <a:rPr lang="en-US" sz="2600" dirty="0"/>
              <a:t>Real-time analysis and visualization, machine learning, data science</a:t>
            </a:r>
          </a:p>
        </p:txBody>
      </p:sp>
      <p:sp>
        <p:nvSpPr>
          <p:cNvPr id="4" name="Footer Placeholder 3">
            <a:extLst>
              <a:ext uri="{FF2B5EF4-FFF2-40B4-BE49-F238E27FC236}">
                <a16:creationId xmlns:a16="http://schemas.microsoft.com/office/drawing/2014/main" id="{A07C51EC-2692-3347-9D88-8B49B2F485E9}"/>
              </a:ext>
            </a:extLst>
          </p:cNvPr>
          <p:cNvSpPr>
            <a:spLocks noGrp="1"/>
          </p:cNvSpPr>
          <p:nvPr>
            <p:ph type="ftr" sz="quarter" idx="11"/>
          </p:nvPr>
        </p:nvSpPr>
        <p:spPr/>
        <p:txBody>
          <a:bodyPr/>
          <a:lstStyle/>
          <a:p>
            <a:r>
              <a:rPr lang="en-US"/>
              <a:t>Industrial &amp; Systems Engineering, Auburn University - INSY 7120</a:t>
            </a:r>
          </a:p>
        </p:txBody>
      </p:sp>
      <p:sp>
        <p:nvSpPr>
          <p:cNvPr id="5" name="Slide Number Placeholder 4">
            <a:extLst>
              <a:ext uri="{FF2B5EF4-FFF2-40B4-BE49-F238E27FC236}">
                <a16:creationId xmlns:a16="http://schemas.microsoft.com/office/drawing/2014/main" id="{C5C1C361-68EB-EB4D-B2B4-7C11F6B54F62}"/>
              </a:ext>
            </a:extLst>
          </p:cNvPr>
          <p:cNvSpPr>
            <a:spLocks noGrp="1"/>
          </p:cNvSpPr>
          <p:nvPr>
            <p:ph type="sldNum" sz="quarter" idx="12"/>
          </p:nvPr>
        </p:nvSpPr>
        <p:spPr/>
        <p:txBody>
          <a:bodyPr/>
          <a:lstStyle/>
          <a:p>
            <a:fld id="{74C1AF7F-5A29-CC4C-A2A6-A74C0BEF789F}" type="slidenum">
              <a:rPr lang="en-US" smtClean="0"/>
              <a:t>6</a:t>
            </a:fld>
            <a:endParaRPr lang="en-US"/>
          </a:p>
        </p:txBody>
      </p:sp>
      <p:sp>
        <p:nvSpPr>
          <p:cNvPr id="6" name="Date Placeholder 5">
            <a:extLst>
              <a:ext uri="{FF2B5EF4-FFF2-40B4-BE49-F238E27FC236}">
                <a16:creationId xmlns:a16="http://schemas.microsoft.com/office/drawing/2014/main" id="{F1BCBDB2-8A03-3255-BCEA-525C14C9B0A3}"/>
              </a:ext>
            </a:extLst>
          </p:cNvPr>
          <p:cNvSpPr>
            <a:spLocks noGrp="1"/>
          </p:cNvSpPr>
          <p:nvPr>
            <p:ph type="dt" sz="half" idx="10"/>
          </p:nvPr>
        </p:nvSpPr>
        <p:spPr/>
        <p:txBody>
          <a:bodyPr/>
          <a:lstStyle/>
          <a:p>
            <a:r>
              <a:rPr lang="en-US"/>
              <a:t>INSY 7130</a:t>
            </a:r>
          </a:p>
        </p:txBody>
      </p:sp>
    </p:spTree>
    <p:extLst>
      <p:ext uri="{BB962C8B-B14F-4D97-AF65-F5344CB8AC3E}">
        <p14:creationId xmlns:p14="http://schemas.microsoft.com/office/powerpoint/2010/main" val="1625821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DB195-FB03-425D-A50E-53964EA33688}"/>
              </a:ext>
            </a:extLst>
          </p:cNvPr>
          <p:cNvSpPr>
            <a:spLocks noGrp="1"/>
          </p:cNvSpPr>
          <p:nvPr>
            <p:ph type="title"/>
          </p:nvPr>
        </p:nvSpPr>
        <p:spPr/>
        <p:txBody>
          <a:bodyPr>
            <a:normAutofit/>
          </a:bodyPr>
          <a:lstStyle/>
          <a:p>
            <a:r>
              <a:rPr lang="en-US" dirty="0"/>
              <a:t>You are Here…</a:t>
            </a:r>
            <a:br>
              <a:rPr lang="en-US" dirty="0"/>
            </a:br>
            <a:r>
              <a:rPr lang="en-US" sz="2800" dirty="0"/>
              <a:t>A course for finding, checking, and using structure in data</a:t>
            </a:r>
            <a:endParaRPr lang="en-US" dirty="0"/>
          </a:p>
        </p:txBody>
      </p:sp>
      <p:pic>
        <p:nvPicPr>
          <p:cNvPr id="5" name="Picture 4">
            <a:extLst>
              <a:ext uri="{FF2B5EF4-FFF2-40B4-BE49-F238E27FC236}">
                <a16:creationId xmlns:a16="http://schemas.microsoft.com/office/drawing/2014/main" id="{A8EE1048-2F1B-CFA4-0BF9-63B625277611}"/>
              </a:ext>
            </a:extLst>
          </p:cNvPr>
          <p:cNvPicPr>
            <a:picLocks noChangeAspect="1"/>
          </p:cNvPicPr>
          <p:nvPr/>
        </p:nvPicPr>
        <p:blipFill>
          <a:blip r:embed="rId2"/>
          <a:srcRect t="12887"/>
          <a:stretch>
            <a:fillRect/>
          </a:stretch>
        </p:blipFill>
        <p:spPr>
          <a:xfrm>
            <a:off x="702129" y="2036260"/>
            <a:ext cx="11170909" cy="3646083"/>
          </a:xfrm>
          <a:prstGeom prst="rect">
            <a:avLst/>
          </a:prstGeom>
        </p:spPr>
      </p:pic>
      <p:sp>
        <p:nvSpPr>
          <p:cNvPr id="6" name="Date Placeholder 5">
            <a:extLst>
              <a:ext uri="{FF2B5EF4-FFF2-40B4-BE49-F238E27FC236}">
                <a16:creationId xmlns:a16="http://schemas.microsoft.com/office/drawing/2014/main" id="{87728927-0558-FE70-C6DE-609FF7DB348B}"/>
              </a:ext>
            </a:extLst>
          </p:cNvPr>
          <p:cNvSpPr>
            <a:spLocks noGrp="1"/>
          </p:cNvSpPr>
          <p:nvPr>
            <p:ph type="dt" sz="half" idx="10"/>
          </p:nvPr>
        </p:nvSpPr>
        <p:spPr/>
        <p:txBody>
          <a:bodyPr/>
          <a:lstStyle/>
          <a:p>
            <a:r>
              <a:rPr lang="en-US"/>
              <a:t>INSY 7130</a:t>
            </a:r>
          </a:p>
        </p:txBody>
      </p:sp>
      <p:sp>
        <p:nvSpPr>
          <p:cNvPr id="7" name="Footer Placeholder 6">
            <a:extLst>
              <a:ext uri="{FF2B5EF4-FFF2-40B4-BE49-F238E27FC236}">
                <a16:creationId xmlns:a16="http://schemas.microsoft.com/office/drawing/2014/main" id="{9DAE05BC-7A91-635E-B634-54D133C93666}"/>
              </a:ext>
            </a:extLst>
          </p:cNvPr>
          <p:cNvSpPr>
            <a:spLocks noGrp="1"/>
          </p:cNvSpPr>
          <p:nvPr>
            <p:ph type="ftr" sz="quarter" idx="11"/>
          </p:nvPr>
        </p:nvSpPr>
        <p:spPr/>
        <p:txBody>
          <a:bodyPr/>
          <a:lstStyle/>
          <a:p>
            <a:r>
              <a:rPr lang="en-US"/>
              <a:t>Industrial &amp; Systems Engineering, Auburn University - INSY 7120</a:t>
            </a:r>
          </a:p>
        </p:txBody>
      </p:sp>
      <p:sp>
        <p:nvSpPr>
          <p:cNvPr id="8" name="Slide Number Placeholder 7">
            <a:extLst>
              <a:ext uri="{FF2B5EF4-FFF2-40B4-BE49-F238E27FC236}">
                <a16:creationId xmlns:a16="http://schemas.microsoft.com/office/drawing/2014/main" id="{00CC90BB-E2F0-F20B-67F8-C1C9BDE27E7D}"/>
              </a:ext>
            </a:extLst>
          </p:cNvPr>
          <p:cNvSpPr>
            <a:spLocks noGrp="1"/>
          </p:cNvSpPr>
          <p:nvPr>
            <p:ph type="sldNum" sz="quarter" idx="12"/>
          </p:nvPr>
        </p:nvSpPr>
        <p:spPr/>
        <p:txBody>
          <a:bodyPr/>
          <a:lstStyle/>
          <a:p>
            <a:fld id="{52054868-82FA-C847-A727-529BD1C951E4}" type="slidenum">
              <a:rPr lang="en-US" smtClean="0"/>
              <a:t>7</a:t>
            </a:fld>
            <a:endParaRPr lang="en-US"/>
          </a:p>
        </p:txBody>
      </p:sp>
    </p:spTree>
    <p:extLst>
      <p:ext uri="{BB962C8B-B14F-4D97-AF65-F5344CB8AC3E}">
        <p14:creationId xmlns:p14="http://schemas.microsoft.com/office/powerpoint/2010/main" val="2437732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318ABAA-E709-7426-7499-B7F430F527EC}"/>
              </a:ext>
            </a:extLst>
          </p:cNvPr>
          <p:cNvSpPr>
            <a:spLocks noGrp="1"/>
          </p:cNvSpPr>
          <p:nvPr>
            <p:ph type="title"/>
          </p:nvPr>
        </p:nvSpPr>
        <p:spPr/>
        <p:txBody>
          <a:bodyPr/>
          <a:lstStyle/>
          <a:p>
            <a:r>
              <a:rPr lang="en-US" dirty="0"/>
              <a:t>Graduate Certificate</a:t>
            </a:r>
          </a:p>
        </p:txBody>
      </p:sp>
      <p:sp>
        <p:nvSpPr>
          <p:cNvPr id="5" name="Content Placeholder 4">
            <a:extLst>
              <a:ext uri="{FF2B5EF4-FFF2-40B4-BE49-F238E27FC236}">
                <a16:creationId xmlns:a16="http://schemas.microsoft.com/office/drawing/2014/main" id="{81CF0025-04D3-6898-646E-D9C730191C57}"/>
              </a:ext>
            </a:extLst>
          </p:cNvPr>
          <p:cNvSpPr>
            <a:spLocks noGrp="1"/>
          </p:cNvSpPr>
          <p:nvPr>
            <p:ph idx="1"/>
          </p:nvPr>
        </p:nvSpPr>
        <p:spPr/>
        <p:txBody>
          <a:bodyPr>
            <a:normAutofit/>
          </a:bodyPr>
          <a:lstStyle/>
          <a:p>
            <a:r>
              <a:rPr lang="en-US" dirty="0"/>
              <a:t>These courses courses available to </a:t>
            </a:r>
            <a:r>
              <a:rPr lang="en-US" b="1" dirty="0"/>
              <a:t>all</a:t>
            </a:r>
            <a:r>
              <a:rPr lang="en-US" dirty="0"/>
              <a:t> grad students in ISE</a:t>
            </a:r>
          </a:p>
          <a:p>
            <a:pPr lvl="1"/>
            <a:r>
              <a:rPr lang="en-US" sz="2800" dirty="0"/>
              <a:t>On-campus and distance students (primarily MEM)</a:t>
            </a:r>
          </a:p>
          <a:p>
            <a:pPr lvl="1"/>
            <a:r>
              <a:rPr lang="en-US" sz="2800" dirty="0"/>
              <a:t>Open to grad students in other programs with approval</a:t>
            </a:r>
          </a:p>
          <a:p>
            <a:r>
              <a:rPr lang="en-US" dirty="0"/>
              <a:t>As stand alone courses – don’t have to be in the certificate</a:t>
            </a:r>
          </a:p>
          <a:p>
            <a:r>
              <a:rPr lang="en-US" dirty="0"/>
              <a:t>As part of the “Modeling &amp; Data Analytics for Operations” certificate</a:t>
            </a:r>
          </a:p>
          <a:p>
            <a:pPr lvl="1"/>
            <a:r>
              <a:rPr lang="en-US" sz="2800" dirty="0"/>
              <a:t>Complete your choice of three</a:t>
            </a:r>
          </a:p>
          <a:p>
            <a:pPr lvl="1"/>
            <a:r>
              <a:rPr lang="en-US" sz="2800" dirty="0"/>
              <a:t>Great complement to your MS / MEM / PhD!</a:t>
            </a:r>
          </a:p>
          <a:p>
            <a:endParaRPr lang="en-US" dirty="0"/>
          </a:p>
        </p:txBody>
      </p:sp>
      <p:sp>
        <p:nvSpPr>
          <p:cNvPr id="2" name="Footer Placeholder 1">
            <a:extLst>
              <a:ext uri="{FF2B5EF4-FFF2-40B4-BE49-F238E27FC236}">
                <a16:creationId xmlns:a16="http://schemas.microsoft.com/office/drawing/2014/main" id="{18F4C770-26B1-FB34-5DBD-63716D3E8AE1}"/>
              </a:ext>
            </a:extLst>
          </p:cNvPr>
          <p:cNvSpPr>
            <a:spLocks noGrp="1"/>
          </p:cNvSpPr>
          <p:nvPr>
            <p:ph type="ftr" sz="quarter" idx="11"/>
          </p:nvPr>
        </p:nvSpPr>
        <p:spPr/>
        <p:txBody>
          <a:bodyPr/>
          <a:lstStyle/>
          <a:p>
            <a:r>
              <a:rPr lang="en-US"/>
              <a:t>Industrial &amp; Systems Engineering, Auburn University - INSY 7120</a:t>
            </a:r>
          </a:p>
        </p:txBody>
      </p:sp>
      <p:sp>
        <p:nvSpPr>
          <p:cNvPr id="3" name="Slide Number Placeholder 2">
            <a:extLst>
              <a:ext uri="{FF2B5EF4-FFF2-40B4-BE49-F238E27FC236}">
                <a16:creationId xmlns:a16="http://schemas.microsoft.com/office/drawing/2014/main" id="{4416ECC6-5538-8B57-9C0B-09A9E7F4D969}"/>
              </a:ext>
            </a:extLst>
          </p:cNvPr>
          <p:cNvSpPr>
            <a:spLocks noGrp="1"/>
          </p:cNvSpPr>
          <p:nvPr>
            <p:ph type="sldNum" sz="quarter" idx="12"/>
          </p:nvPr>
        </p:nvSpPr>
        <p:spPr/>
        <p:txBody>
          <a:bodyPr/>
          <a:lstStyle/>
          <a:p>
            <a:fld id="{07219D31-0E31-E340-8AA7-445981C79750}" type="slidenum">
              <a:rPr lang="en-US" smtClean="0"/>
              <a:t>8</a:t>
            </a:fld>
            <a:endParaRPr lang="en-US"/>
          </a:p>
        </p:txBody>
      </p:sp>
      <p:sp>
        <p:nvSpPr>
          <p:cNvPr id="6" name="Date Placeholder 5">
            <a:extLst>
              <a:ext uri="{FF2B5EF4-FFF2-40B4-BE49-F238E27FC236}">
                <a16:creationId xmlns:a16="http://schemas.microsoft.com/office/drawing/2014/main" id="{5039BD40-C51C-5647-CF2A-7D6B71815ABE}"/>
              </a:ext>
            </a:extLst>
          </p:cNvPr>
          <p:cNvSpPr>
            <a:spLocks noGrp="1"/>
          </p:cNvSpPr>
          <p:nvPr>
            <p:ph type="dt" sz="half" idx="10"/>
          </p:nvPr>
        </p:nvSpPr>
        <p:spPr/>
        <p:txBody>
          <a:bodyPr/>
          <a:lstStyle/>
          <a:p>
            <a:r>
              <a:rPr lang="en-US"/>
              <a:t>INSY 7130</a:t>
            </a:r>
          </a:p>
        </p:txBody>
      </p:sp>
    </p:spTree>
    <p:extLst>
      <p:ext uri="{BB962C8B-B14F-4D97-AF65-F5344CB8AC3E}">
        <p14:creationId xmlns:p14="http://schemas.microsoft.com/office/powerpoint/2010/main" val="826496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41788-ECBD-9831-41D1-B8551924C5AF}"/>
              </a:ext>
            </a:extLst>
          </p:cNvPr>
          <p:cNvSpPr>
            <a:spLocks noGrp="1"/>
          </p:cNvSpPr>
          <p:nvPr>
            <p:ph type="title"/>
          </p:nvPr>
        </p:nvSpPr>
        <p:spPr/>
        <p:txBody>
          <a:bodyPr/>
          <a:lstStyle/>
          <a:p>
            <a:r>
              <a:rPr lang="en-US" dirty="0"/>
              <a:t>Program Changes Proposed / Pending</a:t>
            </a:r>
          </a:p>
        </p:txBody>
      </p:sp>
      <p:sp>
        <p:nvSpPr>
          <p:cNvPr id="3" name="Content Placeholder 2">
            <a:extLst>
              <a:ext uri="{FF2B5EF4-FFF2-40B4-BE49-F238E27FC236}">
                <a16:creationId xmlns:a16="http://schemas.microsoft.com/office/drawing/2014/main" id="{04AA7ACD-97E2-5FF1-99B0-D6F004937B96}"/>
              </a:ext>
            </a:extLst>
          </p:cNvPr>
          <p:cNvSpPr>
            <a:spLocks noGrp="1"/>
          </p:cNvSpPr>
          <p:nvPr>
            <p:ph idx="1"/>
          </p:nvPr>
        </p:nvSpPr>
        <p:spPr/>
        <p:txBody>
          <a:bodyPr>
            <a:normAutofit/>
          </a:bodyPr>
          <a:lstStyle/>
          <a:p>
            <a:r>
              <a:rPr lang="en-US" dirty="0"/>
              <a:t>Renaming Program and Courses</a:t>
            </a:r>
          </a:p>
          <a:p>
            <a:pPr lvl="1"/>
            <a:r>
              <a:rPr lang="en-US" sz="2800" dirty="0"/>
              <a:t>e.g. Applied Data Science &amp; Machine Learning</a:t>
            </a:r>
          </a:p>
          <a:p>
            <a:r>
              <a:rPr lang="en-US" dirty="0"/>
              <a:t>Moving 7k courses to 6k</a:t>
            </a:r>
          </a:p>
          <a:p>
            <a:r>
              <a:rPr lang="en-US" dirty="0"/>
              <a:t>Expanding offerings:</a:t>
            </a:r>
          </a:p>
          <a:p>
            <a:pPr lvl="1"/>
            <a:r>
              <a:rPr lang="en-US" sz="2800" dirty="0"/>
              <a:t>6k Modern Software Development Practices for DS/ML</a:t>
            </a:r>
          </a:p>
          <a:p>
            <a:pPr lvl="1"/>
            <a:r>
              <a:rPr lang="en-US" sz="2800" dirty="0"/>
              <a:t>6k Intro to Neural Nets and Deep Learning</a:t>
            </a:r>
          </a:p>
          <a:p>
            <a:pPr lvl="1"/>
            <a:r>
              <a:rPr lang="en-US" sz="2800" dirty="0"/>
              <a:t>7k TBD courses focused on applying SOTA DS/ML to specific research areas</a:t>
            </a:r>
          </a:p>
        </p:txBody>
      </p:sp>
      <p:sp>
        <p:nvSpPr>
          <p:cNvPr id="4" name="Footer Placeholder 3">
            <a:extLst>
              <a:ext uri="{FF2B5EF4-FFF2-40B4-BE49-F238E27FC236}">
                <a16:creationId xmlns:a16="http://schemas.microsoft.com/office/drawing/2014/main" id="{E2EAA06B-8284-981B-2A76-4805CFC144FD}"/>
              </a:ext>
            </a:extLst>
          </p:cNvPr>
          <p:cNvSpPr>
            <a:spLocks noGrp="1"/>
          </p:cNvSpPr>
          <p:nvPr>
            <p:ph type="ftr" sz="quarter" idx="11"/>
          </p:nvPr>
        </p:nvSpPr>
        <p:spPr/>
        <p:txBody>
          <a:bodyPr/>
          <a:lstStyle/>
          <a:p>
            <a:r>
              <a:rPr lang="en-US"/>
              <a:t>Industrial &amp; Systems Engineering, Auburn University - INSY 7120</a:t>
            </a:r>
          </a:p>
        </p:txBody>
      </p:sp>
      <p:sp>
        <p:nvSpPr>
          <p:cNvPr id="5" name="Slide Number Placeholder 4">
            <a:extLst>
              <a:ext uri="{FF2B5EF4-FFF2-40B4-BE49-F238E27FC236}">
                <a16:creationId xmlns:a16="http://schemas.microsoft.com/office/drawing/2014/main" id="{9EDB79C7-EE8C-EF71-64F3-184BE71926CE}"/>
              </a:ext>
            </a:extLst>
          </p:cNvPr>
          <p:cNvSpPr>
            <a:spLocks noGrp="1"/>
          </p:cNvSpPr>
          <p:nvPr>
            <p:ph type="sldNum" sz="quarter" idx="12"/>
          </p:nvPr>
        </p:nvSpPr>
        <p:spPr/>
        <p:txBody>
          <a:bodyPr/>
          <a:lstStyle/>
          <a:p>
            <a:fld id="{07219D31-0E31-E340-8AA7-445981C79750}" type="slidenum">
              <a:rPr lang="en-US" smtClean="0"/>
              <a:t>9</a:t>
            </a:fld>
            <a:endParaRPr lang="en-US"/>
          </a:p>
        </p:txBody>
      </p:sp>
      <p:sp>
        <p:nvSpPr>
          <p:cNvPr id="6" name="Date Placeholder 5">
            <a:extLst>
              <a:ext uri="{FF2B5EF4-FFF2-40B4-BE49-F238E27FC236}">
                <a16:creationId xmlns:a16="http://schemas.microsoft.com/office/drawing/2014/main" id="{0738D109-3826-9CD7-120D-6242ADAAFE7C}"/>
              </a:ext>
            </a:extLst>
          </p:cNvPr>
          <p:cNvSpPr>
            <a:spLocks noGrp="1"/>
          </p:cNvSpPr>
          <p:nvPr>
            <p:ph type="dt" sz="half" idx="10"/>
          </p:nvPr>
        </p:nvSpPr>
        <p:spPr/>
        <p:txBody>
          <a:bodyPr/>
          <a:lstStyle/>
          <a:p>
            <a:r>
              <a:rPr lang="en-US"/>
              <a:t>INSY 7130</a:t>
            </a:r>
          </a:p>
        </p:txBody>
      </p:sp>
    </p:spTree>
    <p:extLst>
      <p:ext uri="{BB962C8B-B14F-4D97-AF65-F5344CB8AC3E}">
        <p14:creationId xmlns:p14="http://schemas.microsoft.com/office/powerpoint/2010/main" val="1088741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E0B34-45D6-7848-6DD2-B9FE7EF0C727}"/>
              </a:ext>
            </a:extLst>
          </p:cNvPr>
          <p:cNvSpPr>
            <a:spLocks noGrp="1"/>
          </p:cNvSpPr>
          <p:nvPr>
            <p:ph type="title"/>
          </p:nvPr>
        </p:nvSpPr>
        <p:spPr/>
        <p:txBody>
          <a:bodyPr/>
          <a:lstStyle/>
          <a:p>
            <a:r>
              <a:rPr lang="en-US" dirty="0"/>
              <a:t>Where this Might Take You…</a:t>
            </a:r>
          </a:p>
        </p:txBody>
      </p:sp>
      <p:sp>
        <p:nvSpPr>
          <p:cNvPr id="3" name="Content Placeholder 2">
            <a:extLst>
              <a:ext uri="{FF2B5EF4-FFF2-40B4-BE49-F238E27FC236}">
                <a16:creationId xmlns:a16="http://schemas.microsoft.com/office/drawing/2014/main" id="{E192C4F4-F657-C8CE-A977-2A9B13E76913}"/>
              </a:ext>
            </a:extLst>
          </p:cNvPr>
          <p:cNvSpPr>
            <a:spLocks noGrp="1"/>
          </p:cNvSpPr>
          <p:nvPr>
            <p:ph idx="1"/>
          </p:nvPr>
        </p:nvSpPr>
        <p:spPr>
          <a:xfrm>
            <a:off x="838200" y="1701333"/>
            <a:ext cx="10515600" cy="4351338"/>
          </a:xfrm>
        </p:spPr>
        <p:txBody>
          <a:bodyPr>
            <a:normAutofit lnSpcReduction="10000"/>
          </a:bodyPr>
          <a:lstStyle/>
          <a:p>
            <a:r>
              <a:rPr lang="en-US" dirty="0"/>
              <a:t>Data Analyst</a:t>
            </a:r>
          </a:p>
          <a:p>
            <a:pPr lvl="1"/>
            <a:r>
              <a:rPr lang="en-US" dirty="0"/>
              <a:t>Manufacturing, Healthcare, Finance</a:t>
            </a:r>
          </a:p>
          <a:p>
            <a:r>
              <a:rPr lang="en-US" dirty="0"/>
              <a:t>Business Intelligence Developer</a:t>
            </a:r>
          </a:p>
          <a:p>
            <a:pPr lvl="1"/>
            <a:r>
              <a:rPr lang="en-US" dirty="0"/>
              <a:t>Retail, Logistics</a:t>
            </a:r>
          </a:p>
          <a:p>
            <a:r>
              <a:rPr lang="en-US" dirty="0"/>
              <a:t>Graduate Research</a:t>
            </a:r>
          </a:p>
          <a:p>
            <a:pPr lvl="1"/>
            <a:r>
              <a:rPr lang="en-US" dirty="0"/>
              <a:t>Using Python for thesis/dissertation analysis</a:t>
            </a:r>
          </a:p>
          <a:p>
            <a:r>
              <a:rPr lang="en-US" dirty="0"/>
              <a:t>Data Engineer</a:t>
            </a:r>
          </a:p>
          <a:p>
            <a:pPr lvl="1"/>
            <a:r>
              <a:rPr lang="en-US" dirty="0"/>
              <a:t>Building data pipelines and automation</a:t>
            </a:r>
          </a:p>
          <a:p>
            <a:r>
              <a:rPr lang="en-US" dirty="0"/>
              <a:t>ML Engineer (with INSY 7120)</a:t>
            </a:r>
          </a:p>
          <a:p>
            <a:pPr lvl="1"/>
            <a:r>
              <a:rPr lang="en-US" dirty="0"/>
              <a:t>Predictive modeling roles</a:t>
            </a:r>
          </a:p>
          <a:p>
            <a:endParaRPr lang="en-US" dirty="0"/>
          </a:p>
        </p:txBody>
      </p:sp>
      <p:sp>
        <p:nvSpPr>
          <p:cNvPr id="4" name="Date Placeholder 3">
            <a:extLst>
              <a:ext uri="{FF2B5EF4-FFF2-40B4-BE49-F238E27FC236}">
                <a16:creationId xmlns:a16="http://schemas.microsoft.com/office/drawing/2014/main" id="{3E26B2B7-11D4-A6AA-0FF6-9B64958140AB}"/>
              </a:ext>
            </a:extLst>
          </p:cNvPr>
          <p:cNvSpPr>
            <a:spLocks noGrp="1"/>
          </p:cNvSpPr>
          <p:nvPr>
            <p:ph type="dt" sz="half" idx="10"/>
          </p:nvPr>
        </p:nvSpPr>
        <p:spPr/>
        <p:txBody>
          <a:bodyPr/>
          <a:lstStyle/>
          <a:p>
            <a:r>
              <a:rPr lang="en-US"/>
              <a:t>INSY 7130</a:t>
            </a:r>
          </a:p>
        </p:txBody>
      </p:sp>
      <p:sp>
        <p:nvSpPr>
          <p:cNvPr id="5" name="Footer Placeholder 4">
            <a:extLst>
              <a:ext uri="{FF2B5EF4-FFF2-40B4-BE49-F238E27FC236}">
                <a16:creationId xmlns:a16="http://schemas.microsoft.com/office/drawing/2014/main" id="{5ECA432E-B915-0B48-4000-63801187E06A}"/>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C5F489D8-B537-AAD0-611D-798E494C9FCA}"/>
              </a:ext>
            </a:extLst>
          </p:cNvPr>
          <p:cNvSpPr>
            <a:spLocks noGrp="1"/>
          </p:cNvSpPr>
          <p:nvPr>
            <p:ph type="sldNum" sz="quarter" idx="12"/>
          </p:nvPr>
        </p:nvSpPr>
        <p:spPr/>
        <p:txBody>
          <a:bodyPr/>
          <a:lstStyle/>
          <a:p>
            <a:fld id="{07219D31-0E31-E340-8AA7-445981C79750}" type="slidenum">
              <a:rPr lang="en-US" smtClean="0"/>
              <a:t>10</a:t>
            </a:fld>
            <a:endParaRPr lang="en-US"/>
          </a:p>
        </p:txBody>
      </p:sp>
      <p:pic>
        <p:nvPicPr>
          <p:cNvPr id="1028" name="Picture 4" descr="Oh, the Places You'll Go! by Dr. Seuss | Goodreads">
            <a:extLst>
              <a:ext uri="{FF2B5EF4-FFF2-40B4-BE49-F238E27FC236}">
                <a16:creationId xmlns:a16="http://schemas.microsoft.com/office/drawing/2014/main" id="{A008D2F0-EC01-AE6A-1CBC-16A19E2E5D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2164" y="1009651"/>
            <a:ext cx="3907780" cy="5167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5803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FA8A5-7265-11FE-E61A-68626A7A0B7C}"/>
              </a:ext>
            </a:extLst>
          </p:cNvPr>
          <p:cNvSpPr>
            <a:spLocks noGrp="1"/>
          </p:cNvSpPr>
          <p:nvPr>
            <p:ph type="title"/>
          </p:nvPr>
        </p:nvSpPr>
        <p:spPr/>
        <p:txBody>
          <a:bodyPr/>
          <a:lstStyle/>
          <a:p>
            <a:r>
              <a:rPr lang="en-US" dirty="0"/>
              <a:t>Course Description</a:t>
            </a:r>
          </a:p>
        </p:txBody>
      </p:sp>
      <p:sp>
        <p:nvSpPr>
          <p:cNvPr id="3" name="Content Placeholder 2">
            <a:extLst>
              <a:ext uri="{FF2B5EF4-FFF2-40B4-BE49-F238E27FC236}">
                <a16:creationId xmlns:a16="http://schemas.microsoft.com/office/drawing/2014/main" id="{8E8EC73D-4888-8C92-F31D-960071B57D34}"/>
              </a:ext>
            </a:extLst>
          </p:cNvPr>
          <p:cNvSpPr>
            <a:spLocks noGrp="1"/>
          </p:cNvSpPr>
          <p:nvPr>
            <p:ph idx="1"/>
          </p:nvPr>
        </p:nvSpPr>
        <p:spPr/>
        <p:txBody>
          <a:bodyPr>
            <a:normAutofit/>
          </a:bodyPr>
          <a:lstStyle/>
          <a:p>
            <a:pPr marL="0" indent="0" algn="ctr">
              <a:buNone/>
            </a:pPr>
            <a:r>
              <a:rPr lang="en-US" sz="3200" i="1" dirty="0"/>
              <a:t>This applied course examines analytical problems in which meaningful labels are absent or observations are ordered and dependent. Students use Python to represent and compare observations, discover multivariate patterns, and analyze temporal structure for forecasting. Throughout the course, they formulate defensible questions, compare credible baselines, test sensitivity and stability, evaluate forecasts without temporal leakage, and connect results to operational decisions without overstating the evidence.</a:t>
            </a:r>
          </a:p>
        </p:txBody>
      </p:sp>
      <p:sp>
        <p:nvSpPr>
          <p:cNvPr id="4" name="Date Placeholder 3">
            <a:extLst>
              <a:ext uri="{FF2B5EF4-FFF2-40B4-BE49-F238E27FC236}">
                <a16:creationId xmlns:a16="http://schemas.microsoft.com/office/drawing/2014/main" id="{6F5898A2-1BE3-7A2D-2611-C52A075CAA52}"/>
              </a:ext>
            </a:extLst>
          </p:cNvPr>
          <p:cNvSpPr>
            <a:spLocks noGrp="1"/>
          </p:cNvSpPr>
          <p:nvPr>
            <p:ph type="dt" sz="half" idx="10"/>
          </p:nvPr>
        </p:nvSpPr>
        <p:spPr/>
        <p:txBody>
          <a:bodyPr/>
          <a:lstStyle/>
          <a:p>
            <a:r>
              <a:rPr lang="en-US"/>
              <a:t>INSY 7130</a:t>
            </a:r>
          </a:p>
        </p:txBody>
      </p:sp>
      <p:sp>
        <p:nvSpPr>
          <p:cNvPr id="5" name="Footer Placeholder 4">
            <a:extLst>
              <a:ext uri="{FF2B5EF4-FFF2-40B4-BE49-F238E27FC236}">
                <a16:creationId xmlns:a16="http://schemas.microsoft.com/office/drawing/2014/main" id="{4C4AD465-D99C-0DA4-822B-BF6C1D2C8A42}"/>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4D416C27-CB33-5A66-E6D9-75E98BF4A371}"/>
              </a:ext>
            </a:extLst>
          </p:cNvPr>
          <p:cNvSpPr>
            <a:spLocks noGrp="1"/>
          </p:cNvSpPr>
          <p:nvPr>
            <p:ph type="sldNum" sz="quarter" idx="12"/>
          </p:nvPr>
        </p:nvSpPr>
        <p:spPr/>
        <p:txBody>
          <a:bodyPr/>
          <a:lstStyle/>
          <a:p>
            <a:fld id="{52054868-82FA-C847-A727-529BD1C951E4}" type="slidenum">
              <a:rPr lang="en-US" smtClean="0"/>
              <a:t>11</a:t>
            </a:fld>
            <a:endParaRPr lang="en-US"/>
          </a:p>
        </p:txBody>
      </p:sp>
    </p:spTree>
    <p:extLst>
      <p:ext uri="{BB962C8B-B14F-4D97-AF65-F5344CB8AC3E}">
        <p14:creationId xmlns:p14="http://schemas.microsoft.com/office/powerpoint/2010/main" val="90916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00C32-558D-D04D-B61F-A48CC605294F}"/>
              </a:ext>
            </a:extLst>
          </p:cNvPr>
          <p:cNvSpPr>
            <a:spLocks noGrp="1"/>
          </p:cNvSpPr>
          <p:nvPr>
            <p:ph type="title"/>
          </p:nvPr>
        </p:nvSpPr>
        <p:spPr/>
        <p:txBody>
          <a:bodyPr/>
          <a:lstStyle/>
          <a:p>
            <a:r>
              <a:rPr lang="en-US" dirty="0"/>
              <a:t>Course Objectives</a:t>
            </a:r>
          </a:p>
        </p:txBody>
      </p:sp>
      <p:sp>
        <p:nvSpPr>
          <p:cNvPr id="3" name="Content Placeholder 2">
            <a:extLst>
              <a:ext uri="{FF2B5EF4-FFF2-40B4-BE49-F238E27FC236}">
                <a16:creationId xmlns:a16="http://schemas.microsoft.com/office/drawing/2014/main" id="{4787B342-58F0-A5CB-B566-0211E5DA2B9B}"/>
              </a:ext>
            </a:extLst>
          </p:cNvPr>
          <p:cNvSpPr>
            <a:spLocks noGrp="1"/>
          </p:cNvSpPr>
          <p:nvPr>
            <p:ph idx="1"/>
          </p:nvPr>
        </p:nvSpPr>
        <p:spPr/>
        <p:txBody>
          <a:bodyPr>
            <a:normAutofit lnSpcReduction="10000"/>
          </a:bodyPr>
          <a:lstStyle/>
          <a:p>
            <a:r>
              <a:rPr lang="en-US" dirty="0"/>
              <a:t>Formulate appropriate analytical questions and assess whether available data can support them</a:t>
            </a:r>
          </a:p>
          <a:p>
            <a:r>
              <a:rPr lang="en-US" dirty="0"/>
              <a:t>Choose and justify representations and analytical approaches for unlabeled and temporally ordered data</a:t>
            </a:r>
          </a:p>
          <a:p>
            <a:r>
              <a:rPr lang="en-US" dirty="0"/>
              <a:t>Implement and compare reproducible Python analytical workflows</a:t>
            </a:r>
          </a:p>
          <a:p>
            <a:r>
              <a:rPr lang="en-US" dirty="0"/>
              <a:t>Evaluate results using appropriate baselines, uncertainty, sensitivity, and validation evidence</a:t>
            </a:r>
          </a:p>
          <a:p>
            <a:r>
              <a:rPr lang="en-US" dirty="0"/>
              <a:t>Communicate conclusions, limitations, and operational implications responsibly</a:t>
            </a:r>
          </a:p>
        </p:txBody>
      </p:sp>
      <p:sp>
        <p:nvSpPr>
          <p:cNvPr id="4" name="Date Placeholder 3">
            <a:extLst>
              <a:ext uri="{FF2B5EF4-FFF2-40B4-BE49-F238E27FC236}">
                <a16:creationId xmlns:a16="http://schemas.microsoft.com/office/drawing/2014/main" id="{D1A04E26-49D3-186A-9735-D49410D893A0}"/>
              </a:ext>
            </a:extLst>
          </p:cNvPr>
          <p:cNvSpPr>
            <a:spLocks noGrp="1"/>
          </p:cNvSpPr>
          <p:nvPr>
            <p:ph type="dt" sz="half" idx="10"/>
          </p:nvPr>
        </p:nvSpPr>
        <p:spPr/>
        <p:txBody>
          <a:bodyPr/>
          <a:lstStyle/>
          <a:p>
            <a:r>
              <a:rPr lang="en-US"/>
              <a:t>INSY 7130</a:t>
            </a:r>
          </a:p>
        </p:txBody>
      </p:sp>
      <p:sp>
        <p:nvSpPr>
          <p:cNvPr id="5" name="Footer Placeholder 4">
            <a:extLst>
              <a:ext uri="{FF2B5EF4-FFF2-40B4-BE49-F238E27FC236}">
                <a16:creationId xmlns:a16="http://schemas.microsoft.com/office/drawing/2014/main" id="{C896540D-3C2E-23E2-6C37-609804BFE7B4}"/>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D32D2709-9436-8862-56A9-565268C796C7}"/>
              </a:ext>
            </a:extLst>
          </p:cNvPr>
          <p:cNvSpPr>
            <a:spLocks noGrp="1"/>
          </p:cNvSpPr>
          <p:nvPr>
            <p:ph type="sldNum" sz="quarter" idx="12"/>
          </p:nvPr>
        </p:nvSpPr>
        <p:spPr/>
        <p:txBody>
          <a:bodyPr/>
          <a:lstStyle/>
          <a:p>
            <a:fld id="{52054868-82FA-C847-A727-529BD1C951E4}" type="slidenum">
              <a:rPr lang="en-US" smtClean="0"/>
              <a:t>12</a:t>
            </a:fld>
            <a:endParaRPr lang="en-US"/>
          </a:p>
        </p:txBody>
      </p:sp>
    </p:spTree>
    <p:extLst>
      <p:ext uri="{BB962C8B-B14F-4D97-AF65-F5344CB8AC3E}">
        <p14:creationId xmlns:p14="http://schemas.microsoft.com/office/powerpoint/2010/main" val="2781077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8E4DB-C001-144C-20F0-05736F3F083C}"/>
              </a:ext>
            </a:extLst>
          </p:cNvPr>
          <p:cNvSpPr>
            <a:spLocks noGrp="1"/>
          </p:cNvSpPr>
          <p:nvPr>
            <p:ph type="title"/>
          </p:nvPr>
        </p:nvSpPr>
        <p:spPr/>
        <p:txBody>
          <a:bodyPr/>
          <a:lstStyle/>
          <a:p>
            <a:r>
              <a:rPr lang="en-US" dirty="0"/>
              <a:t>Tentative Plan – 5 Units… (1/2)</a:t>
            </a:r>
          </a:p>
        </p:txBody>
      </p:sp>
      <p:sp>
        <p:nvSpPr>
          <p:cNvPr id="3" name="Content Placeholder 2">
            <a:extLst>
              <a:ext uri="{FF2B5EF4-FFF2-40B4-BE49-F238E27FC236}">
                <a16:creationId xmlns:a16="http://schemas.microsoft.com/office/drawing/2014/main" id="{1FE871D4-B936-4C6E-50C9-6140C66EABA1}"/>
              </a:ext>
            </a:extLst>
          </p:cNvPr>
          <p:cNvSpPr>
            <a:spLocks noGrp="1"/>
          </p:cNvSpPr>
          <p:nvPr>
            <p:ph idx="1"/>
          </p:nvPr>
        </p:nvSpPr>
        <p:spPr/>
        <p:txBody>
          <a:bodyPr>
            <a:normAutofit/>
          </a:bodyPr>
          <a:lstStyle/>
          <a:p>
            <a:pPr marL="514350" indent="-514350">
              <a:buFont typeface="+mj-lt"/>
              <a:buAutoNum type="arabicPeriod"/>
            </a:pPr>
            <a:r>
              <a:rPr lang="en-US" dirty="0"/>
              <a:t>Evidence and analytical validation</a:t>
            </a:r>
          </a:p>
          <a:p>
            <a:pPr marL="754063" lvl="1" indent="-239713"/>
            <a:r>
              <a:rPr lang="en-US" dirty="0"/>
              <a:t>Reproducibility, baselines, uncertainty, resampling, sensitivity, stability, and what makes a finding credible.</a:t>
            </a:r>
          </a:p>
          <a:p>
            <a:pPr marL="514350" indent="-514350">
              <a:buFont typeface="+mj-lt"/>
              <a:buAutoNum type="arabicPeriod"/>
            </a:pPr>
            <a:r>
              <a:rPr lang="en-US" dirty="0"/>
              <a:t>Similarity and representation foundations</a:t>
            </a:r>
          </a:p>
          <a:p>
            <a:pPr marL="754063" lvl="1" indent="-239713"/>
            <a:r>
              <a:rPr lang="en-US" dirty="0"/>
              <a:t>How scaling, distance, neighbors, PCA and embeddings determine what patterns can appear and how to check those choices.</a:t>
            </a:r>
          </a:p>
          <a:p>
            <a:pPr marL="514350" indent="-514350">
              <a:buFont typeface="+mj-lt"/>
              <a:buAutoNum type="arabicPeriod"/>
            </a:pPr>
            <a:r>
              <a:rPr lang="en-US" dirty="0"/>
              <a:t>Clustering methods and validation</a:t>
            </a:r>
          </a:p>
          <a:p>
            <a:pPr marL="754063" lvl="1" indent="-239713">
              <a:lnSpc>
                <a:spcPct val="100000"/>
              </a:lnSpc>
            </a:pPr>
            <a:r>
              <a:rPr lang="en-US" dirty="0"/>
              <a:t>Finding groups with several approaches, then assessing their stability, assumptions, and operational meaning.</a:t>
            </a:r>
          </a:p>
        </p:txBody>
      </p:sp>
      <p:sp>
        <p:nvSpPr>
          <p:cNvPr id="4" name="Date Placeholder 3">
            <a:extLst>
              <a:ext uri="{FF2B5EF4-FFF2-40B4-BE49-F238E27FC236}">
                <a16:creationId xmlns:a16="http://schemas.microsoft.com/office/drawing/2014/main" id="{E109E5A8-7422-A91E-E7B1-00187682803C}"/>
              </a:ext>
            </a:extLst>
          </p:cNvPr>
          <p:cNvSpPr>
            <a:spLocks noGrp="1"/>
          </p:cNvSpPr>
          <p:nvPr>
            <p:ph type="dt" sz="half" idx="10"/>
          </p:nvPr>
        </p:nvSpPr>
        <p:spPr/>
        <p:txBody>
          <a:bodyPr/>
          <a:lstStyle/>
          <a:p>
            <a:r>
              <a:rPr lang="en-US"/>
              <a:t>INSY 7130</a:t>
            </a:r>
          </a:p>
        </p:txBody>
      </p:sp>
      <p:sp>
        <p:nvSpPr>
          <p:cNvPr id="5" name="Footer Placeholder 4">
            <a:extLst>
              <a:ext uri="{FF2B5EF4-FFF2-40B4-BE49-F238E27FC236}">
                <a16:creationId xmlns:a16="http://schemas.microsoft.com/office/drawing/2014/main" id="{22E767BB-F2C1-F7A2-9CA1-9EB6E866E77B}"/>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49ECD67C-86E6-DF47-6547-423AC4855986}"/>
              </a:ext>
            </a:extLst>
          </p:cNvPr>
          <p:cNvSpPr>
            <a:spLocks noGrp="1"/>
          </p:cNvSpPr>
          <p:nvPr>
            <p:ph type="sldNum" sz="quarter" idx="12"/>
          </p:nvPr>
        </p:nvSpPr>
        <p:spPr/>
        <p:txBody>
          <a:bodyPr/>
          <a:lstStyle/>
          <a:p>
            <a:fld id="{52054868-82FA-C847-A727-529BD1C951E4}" type="slidenum">
              <a:rPr lang="en-US" smtClean="0"/>
              <a:t>13</a:t>
            </a:fld>
            <a:endParaRPr lang="en-US"/>
          </a:p>
        </p:txBody>
      </p:sp>
    </p:spTree>
    <p:extLst>
      <p:ext uri="{BB962C8B-B14F-4D97-AF65-F5344CB8AC3E}">
        <p14:creationId xmlns:p14="http://schemas.microsoft.com/office/powerpoint/2010/main" val="1129895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111B6-A27D-6399-2383-945A7BD321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ECDDEE-E4E2-2506-F55C-9B78B8B12B6A}"/>
              </a:ext>
            </a:extLst>
          </p:cNvPr>
          <p:cNvSpPr>
            <a:spLocks noGrp="1"/>
          </p:cNvSpPr>
          <p:nvPr>
            <p:ph type="title"/>
          </p:nvPr>
        </p:nvSpPr>
        <p:spPr/>
        <p:txBody>
          <a:bodyPr/>
          <a:lstStyle/>
          <a:p>
            <a:r>
              <a:rPr lang="en-US" dirty="0"/>
              <a:t>Tentative Plan – 5 Units… (2/2)</a:t>
            </a:r>
          </a:p>
        </p:txBody>
      </p:sp>
      <p:sp>
        <p:nvSpPr>
          <p:cNvPr id="3" name="Content Placeholder 2">
            <a:extLst>
              <a:ext uri="{FF2B5EF4-FFF2-40B4-BE49-F238E27FC236}">
                <a16:creationId xmlns:a16="http://schemas.microsoft.com/office/drawing/2014/main" id="{F444F7EE-E6C4-6650-3689-106642DA6544}"/>
              </a:ext>
            </a:extLst>
          </p:cNvPr>
          <p:cNvSpPr>
            <a:spLocks noGrp="1"/>
          </p:cNvSpPr>
          <p:nvPr>
            <p:ph idx="1"/>
          </p:nvPr>
        </p:nvSpPr>
        <p:spPr/>
        <p:txBody>
          <a:bodyPr>
            <a:normAutofit/>
          </a:bodyPr>
          <a:lstStyle/>
          <a:p>
            <a:pPr marL="514350" indent="-514350">
              <a:buFont typeface="+mj-lt"/>
              <a:buAutoNum type="arabicPeriod" startAt="4"/>
            </a:pPr>
            <a:r>
              <a:rPr lang="en-US" dirty="0"/>
              <a:t>Pattern mining and anomaly detection</a:t>
            </a:r>
          </a:p>
          <a:p>
            <a:pPr marL="754063" lvl="1" indent="-239713">
              <a:lnSpc>
                <a:spcPct val="100000"/>
              </a:lnSpc>
            </a:pPr>
            <a:r>
              <a:rPr lang="en-US" dirty="0"/>
              <a:t>Discovering co-occurrence patterns and unusual observations, with attention to multiplicity, thresholds, false alarms, and usefulness.</a:t>
            </a:r>
          </a:p>
          <a:p>
            <a:pPr marL="514350" indent="-514350">
              <a:buFont typeface="+mj-lt"/>
              <a:buAutoNum type="arabicPeriod" startAt="4"/>
            </a:pPr>
            <a:r>
              <a:rPr lang="en-US" dirty="0"/>
              <a:t>Time-series analysis and forecasting</a:t>
            </a:r>
          </a:p>
          <a:p>
            <a:pPr marL="754063" lvl="1" indent="-239713">
              <a:lnSpc>
                <a:spcPct val="100000"/>
              </a:lnSpc>
            </a:pPr>
            <a:r>
              <a:rPr lang="en-US" dirty="0"/>
              <a:t>Temporal structure, dependence, stationarity, forecasting, rolling evaluation, uncertainty intervals, and temporal anomalies.</a:t>
            </a:r>
          </a:p>
        </p:txBody>
      </p:sp>
      <p:sp>
        <p:nvSpPr>
          <p:cNvPr id="4" name="Date Placeholder 3">
            <a:extLst>
              <a:ext uri="{FF2B5EF4-FFF2-40B4-BE49-F238E27FC236}">
                <a16:creationId xmlns:a16="http://schemas.microsoft.com/office/drawing/2014/main" id="{E299D2AD-B7E4-6408-59E9-99BDEB37A1AC}"/>
              </a:ext>
            </a:extLst>
          </p:cNvPr>
          <p:cNvSpPr>
            <a:spLocks noGrp="1"/>
          </p:cNvSpPr>
          <p:nvPr>
            <p:ph type="dt" sz="half" idx="10"/>
          </p:nvPr>
        </p:nvSpPr>
        <p:spPr/>
        <p:txBody>
          <a:bodyPr/>
          <a:lstStyle/>
          <a:p>
            <a:r>
              <a:rPr lang="en-US"/>
              <a:t>INSY 7130</a:t>
            </a:r>
          </a:p>
        </p:txBody>
      </p:sp>
      <p:sp>
        <p:nvSpPr>
          <p:cNvPr id="5" name="Footer Placeholder 4">
            <a:extLst>
              <a:ext uri="{FF2B5EF4-FFF2-40B4-BE49-F238E27FC236}">
                <a16:creationId xmlns:a16="http://schemas.microsoft.com/office/drawing/2014/main" id="{18860C20-5148-5CF3-EBB8-CB36BAAB4D25}"/>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66CFA562-D9BD-5D68-0A35-69C5751168F5}"/>
              </a:ext>
            </a:extLst>
          </p:cNvPr>
          <p:cNvSpPr>
            <a:spLocks noGrp="1"/>
          </p:cNvSpPr>
          <p:nvPr>
            <p:ph type="sldNum" sz="quarter" idx="12"/>
          </p:nvPr>
        </p:nvSpPr>
        <p:spPr/>
        <p:txBody>
          <a:bodyPr/>
          <a:lstStyle/>
          <a:p>
            <a:fld id="{52054868-82FA-C847-A727-529BD1C951E4}" type="slidenum">
              <a:rPr lang="en-US" smtClean="0"/>
              <a:t>14</a:t>
            </a:fld>
            <a:endParaRPr lang="en-US"/>
          </a:p>
        </p:txBody>
      </p:sp>
    </p:spTree>
    <p:extLst>
      <p:ext uri="{BB962C8B-B14F-4D97-AF65-F5344CB8AC3E}">
        <p14:creationId xmlns:p14="http://schemas.microsoft.com/office/powerpoint/2010/main" val="2243843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1DA8547-B55E-1BE6-1D52-66070C76DBEA}"/>
              </a:ext>
            </a:extLst>
          </p:cNvPr>
          <p:cNvSpPr>
            <a:spLocks noGrp="1"/>
          </p:cNvSpPr>
          <p:nvPr>
            <p:ph type="dt" sz="half" idx="10"/>
          </p:nvPr>
        </p:nvSpPr>
        <p:spPr/>
        <p:txBody>
          <a:bodyPr/>
          <a:lstStyle/>
          <a:p>
            <a:r>
              <a:rPr lang="en-US"/>
              <a:t>INSY 7130</a:t>
            </a:r>
          </a:p>
        </p:txBody>
      </p:sp>
      <p:sp>
        <p:nvSpPr>
          <p:cNvPr id="5" name="Footer Placeholder 4">
            <a:extLst>
              <a:ext uri="{FF2B5EF4-FFF2-40B4-BE49-F238E27FC236}">
                <a16:creationId xmlns:a16="http://schemas.microsoft.com/office/drawing/2014/main" id="{7209DC78-A5FC-562B-31A2-CC2A755DED86}"/>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8A8CF190-9682-DADD-F98D-A9B49DC96055}"/>
              </a:ext>
            </a:extLst>
          </p:cNvPr>
          <p:cNvSpPr>
            <a:spLocks noGrp="1"/>
          </p:cNvSpPr>
          <p:nvPr>
            <p:ph type="sldNum" sz="quarter" idx="12"/>
          </p:nvPr>
        </p:nvSpPr>
        <p:spPr/>
        <p:txBody>
          <a:bodyPr/>
          <a:lstStyle/>
          <a:p>
            <a:fld id="{52054868-82FA-C847-A727-529BD1C951E4}" type="slidenum">
              <a:rPr lang="en-US" smtClean="0"/>
              <a:t>15</a:t>
            </a:fld>
            <a:endParaRPr lang="en-US"/>
          </a:p>
        </p:txBody>
      </p:sp>
      <p:pic>
        <p:nvPicPr>
          <p:cNvPr id="8" name="Picture 7">
            <a:extLst>
              <a:ext uri="{FF2B5EF4-FFF2-40B4-BE49-F238E27FC236}">
                <a16:creationId xmlns:a16="http://schemas.microsoft.com/office/drawing/2014/main" id="{2A288A0A-1EE1-14D9-668C-3A02A95B7BC8}"/>
              </a:ext>
            </a:extLst>
          </p:cNvPr>
          <p:cNvPicPr>
            <a:picLocks noChangeAspect="1"/>
          </p:cNvPicPr>
          <p:nvPr/>
        </p:nvPicPr>
        <p:blipFill>
          <a:blip r:embed="rId2"/>
          <a:stretch>
            <a:fillRect/>
          </a:stretch>
        </p:blipFill>
        <p:spPr>
          <a:xfrm>
            <a:off x="520700" y="683406"/>
            <a:ext cx="11150600" cy="5491188"/>
          </a:xfrm>
          <a:prstGeom prst="rect">
            <a:avLst/>
          </a:prstGeom>
        </p:spPr>
      </p:pic>
    </p:spTree>
    <p:extLst>
      <p:ext uri="{BB962C8B-B14F-4D97-AF65-F5344CB8AC3E}">
        <p14:creationId xmlns:p14="http://schemas.microsoft.com/office/powerpoint/2010/main" val="1568251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1BA4F-EFAA-F6FD-30D6-E4D746DCEC2C}"/>
              </a:ext>
            </a:extLst>
          </p:cNvPr>
          <p:cNvSpPr>
            <a:spLocks noGrp="1"/>
          </p:cNvSpPr>
          <p:nvPr>
            <p:ph type="title"/>
          </p:nvPr>
        </p:nvSpPr>
        <p:spPr/>
        <p:txBody>
          <a:bodyPr/>
          <a:lstStyle/>
          <a:p>
            <a:r>
              <a:rPr lang="en-US" dirty="0"/>
              <a:t>Assessment (1/2)</a:t>
            </a:r>
          </a:p>
        </p:txBody>
      </p:sp>
      <p:sp>
        <p:nvSpPr>
          <p:cNvPr id="3" name="Content Placeholder 2">
            <a:extLst>
              <a:ext uri="{FF2B5EF4-FFF2-40B4-BE49-F238E27FC236}">
                <a16:creationId xmlns:a16="http://schemas.microsoft.com/office/drawing/2014/main" id="{8B1793E7-5285-F7D0-00F1-05E011D710A4}"/>
              </a:ext>
            </a:extLst>
          </p:cNvPr>
          <p:cNvSpPr>
            <a:spLocks noGrp="1"/>
          </p:cNvSpPr>
          <p:nvPr>
            <p:ph idx="1"/>
          </p:nvPr>
        </p:nvSpPr>
        <p:spPr/>
        <p:txBody>
          <a:bodyPr>
            <a:normAutofit/>
          </a:bodyPr>
          <a:lstStyle/>
          <a:p>
            <a:r>
              <a:rPr lang="en-US" dirty="0"/>
              <a:t>20% Homework</a:t>
            </a:r>
          </a:p>
          <a:p>
            <a:pPr lvl="1"/>
            <a:r>
              <a:rPr lang="en-US" dirty="0"/>
              <a:t>5 x assignments, small(</a:t>
            </a:r>
            <a:r>
              <a:rPr lang="en-US" dirty="0" err="1"/>
              <a:t>ish</a:t>
            </a:r>
            <a:r>
              <a:rPr lang="en-US" dirty="0"/>
              <a:t>), lightly graded</a:t>
            </a:r>
          </a:p>
          <a:p>
            <a:r>
              <a:rPr lang="en-US" dirty="0"/>
              <a:t>50% Tests</a:t>
            </a:r>
          </a:p>
          <a:p>
            <a:pPr lvl="1"/>
            <a:r>
              <a:rPr lang="en-US" dirty="0"/>
              <a:t>20% Test 1 – Units 1 and 2</a:t>
            </a:r>
          </a:p>
          <a:p>
            <a:pPr lvl="1"/>
            <a:r>
              <a:rPr lang="en-US" dirty="0"/>
              <a:t>20% Test 2 – Units 3 and 4</a:t>
            </a:r>
          </a:p>
          <a:p>
            <a:pPr lvl="1"/>
            <a:r>
              <a:rPr lang="en-US" dirty="0"/>
              <a:t>10% Test 3 – Unit 5</a:t>
            </a:r>
          </a:p>
          <a:p>
            <a:r>
              <a:rPr lang="en-US" dirty="0"/>
              <a:t>30% Project</a:t>
            </a:r>
          </a:p>
          <a:p>
            <a:pPr lvl="1"/>
            <a:r>
              <a:rPr lang="en-US" dirty="0"/>
              <a:t>Develop and validate a substantial, portfolio worthy analysis</a:t>
            </a:r>
          </a:p>
          <a:p>
            <a:pPr lvl="1"/>
            <a:r>
              <a:rPr lang="en-US" dirty="0"/>
              <a:t>You provide the data and the questions</a:t>
            </a:r>
          </a:p>
          <a:p>
            <a:pPr lvl="1"/>
            <a:r>
              <a:rPr lang="en-US" dirty="0"/>
              <a:t>Research / work related material encouraged</a:t>
            </a:r>
          </a:p>
        </p:txBody>
      </p:sp>
      <p:sp>
        <p:nvSpPr>
          <p:cNvPr id="4" name="Date Placeholder 3">
            <a:extLst>
              <a:ext uri="{FF2B5EF4-FFF2-40B4-BE49-F238E27FC236}">
                <a16:creationId xmlns:a16="http://schemas.microsoft.com/office/drawing/2014/main" id="{46BEF361-08D0-95BB-B92D-1D85F9EF5EA1}"/>
              </a:ext>
            </a:extLst>
          </p:cNvPr>
          <p:cNvSpPr>
            <a:spLocks noGrp="1"/>
          </p:cNvSpPr>
          <p:nvPr>
            <p:ph type="dt" sz="half" idx="10"/>
          </p:nvPr>
        </p:nvSpPr>
        <p:spPr/>
        <p:txBody>
          <a:bodyPr/>
          <a:lstStyle/>
          <a:p>
            <a:r>
              <a:rPr lang="en-US"/>
              <a:t>INSY 7130</a:t>
            </a:r>
          </a:p>
        </p:txBody>
      </p:sp>
      <p:sp>
        <p:nvSpPr>
          <p:cNvPr id="5" name="Footer Placeholder 4">
            <a:extLst>
              <a:ext uri="{FF2B5EF4-FFF2-40B4-BE49-F238E27FC236}">
                <a16:creationId xmlns:a16="http://schemas.microsoft.com/office/drawing/2014/main" id="{A431ACD9-CBC7-E00E-1878-CB7CAE17A91F}"/>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CF2B6BA5-B008-0BDF-2B64-56CB84953B94}"/>
              </a:ext>
            </a:extLst>
          </p:cNvPr>
          <p:cNvSpPr>
            <a:spLocks noGrp="1"/>
          </p:cNvSpPr>
          <p:nvPr>
            <p:ph type="sldNum" sz="quarter" idx="12"/>
          </p:nvPr>
        </p:nvSpPr>
        <p:spPr/>
        <p:txBody>
          <a:bodyPr/>
          <a:lstStyle/>
          <a:p>
            <a:fld id="{52054868-82FA-C847-A727-529BD1C951E4}" type="slidenum">
              <a:rPr lang="en-US" smtClean="0"/>
              <a:t>16</a:t>
            </a:fld>
            <a:endParaRPr lang="en-US"/>
          </a:p>
        </p:txBody>
      </p:sp>
    </p:spTree>
    <p:extLst>
      <p:ext uri="{BB962C8B-B14F-4D97-AF65-F5344CB8AC3E}">
        <p14:creationId xmlns:p14="http://schemas.microsoft.com/office/powerpoint/2010/main" val="124462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7D385-1EAB-8CA6-B09C-C856BF37B7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28120-8B44-5116-85B4-C6F516F15FF9}"/>
              </a:ext>
            </a:extLst>
          </p:cNvPr>
          <p:cNvSpPr>
            <a:spLocks noGrp="1"/>
          </p:cNvSpPr>
          <p:nvPr>
            <p:ph type="title"/>
          </p:nvPr>
        </p:nvSpPr>
        <p:spPr/>
        <p:txBody>
          <a:bodyPr/>
          <a:lstStyle/>
          <a:p>
            <a:r>
              <a:rPr lang="en-US" dirty="0"/>
              <a:t>Assessment (2/2)</a:t>
            </a:r>
          </a:p>
        </p:txBody>
      </p:sp>
      <p:sp>
        <p:nvSpPr>
          <p:cNvPr id="3" name="Content Placeholder 2">
            <a:extLst>
              <a:ext uri="{FF2B5EF4-FFF2-40B4-BE49-F238E27FC236}">
                <a16:creationId xmlns:a16="http://schemas.microsoft.com/office/drawing/2014/main" id="{AD599FD4-78EE-B862-5910-41314A8A4020}"/>
              </a:ext>
            </a:extLst>
          </p:cNvPr>
          <p:cNvSpPr>
            <a:spLocks noGrp="1"/>
          </p:cNvSpPr>
          <p:nvPr>
            <p:ph idx="1"/>
          </p:nvPr>
        </p:nvSpPr>
        <p:spPr/>
        <p:txBody>
          <a:bodyPr>
            <a:normAutofit/>
          </a:bodyPr>
          <a:lstStyle/>
          <a:p>
            <a:r>
              <a:rPr lang="en-US" dirty="0"/>
              <a:t>Tests 1 and 2 will have 2 parts:</a:t>
            </a:r>
          </a:p>
          <a:p>
            <a:pPr lvl="1"/>
            <a:r>
              <a:rPr lang="en-US" sz="2800" dirty="0"/>
              <a:t>In-class concepts</a:t>
            </a:r>
          </a:p>
          <a:p>
            <a:pPr lvl="1"/>
            <a:r>
              <a:rPr lang="en-US" sz="2800" dirty="0"/>
              <a:t>Take home application</a:t>
            </a:r>
          </a:p>
          <a:p>
            <a:r>
              <a:rPr lang="en-US" dirty="0"/>
              <a:t>Test 3 will only have the in-class concepts part (final exam week)</a:t>
            </a:r>
          </a:p>
          <a:p>
            <a:r>
              <a:rPr lang="en-US" dirty="0"/>
              <a:t>Unit 5 application will be assessed with the project</a:t>
            </a:r>
          </a:p>
        </p:txBody>
      </p:sp>
      <p:sp>
        <p:nvSpPr>
          <p:cNvPr id="4" name="Date Placeholder 3">
            <a:extLst>
              <a:ext uri="{FF2B5EF4-FFF2-40B4-BE49-F238E27FC236}">
                <a16:creationId xmlns:a16="http://schemas.microsoft.com/office/drawing/2014/main" id="{96CD9848-B396-C192-F8BE-8AEAA5FEBAF2}"/>
              </a:ext>
            </a:extLst>
          </p:cNvPr>
          <p:cNvSpPr>
            <a:spLocks noGrp="1"/>
          </p:cNvSpPr>
          <p:nvPr>
            <p:ph type="dt" sz="half" idx="10"/>
          </p:nvPr>
        </p:nvSpPr>
        <p:spPr/>
        <p:txBody>
          <a:bodyPr/>
          <a:lstStyle/>
          <a:p>
            <a:r>
              <a:rPr lang="en-US"/>
              <a:t>INSY 7130</a:t>
            </a:r>
          </a:p>
        </p:txBody>
      </p:sp>
      <p:sp>
        <p:nvSpPr>
          <p:cNvPr id="5" name="Footer Placeholder 4">
            <a:extLst>
              <a:ext uri="{FF2B5EF4-FFF2-40B4-BE49-F238E27FC236}">
                <a16:creationId xmlns:a16="http://schemas.microsoft.com/office/drawing/2014/main" id="{300119A8-6C42-317C-F893-1B72D18B5074}"/>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58087688-D669-15A1-0AB7-E6C8DA45037B}"/>
              </a:ext>
            </a:extLst>
          </p:cNvPr>
          <p:cNvSpPr>
            <a:spLocks noGrp="1"/>
          </p:cNvSpPr>
          <p:nvPr>
            <p:ph type="sldNum" sz="quarter" idx="12"/>
          </p:nvPr>
        </p:nvSpPr>
        <p:spPr/>
        <p:txBody>
          <a:bodyPr/>
          <a:lstStyle/>
          <a:p>
            <a:fld id="{52054868-82FA-C847-A727-529BD1C951E4}" type="slidenum">
              <a:rPr lang="en-US" smtClean="0"/>
              <a:t>17</a:t>
            </a:fld>
            <a:endParaRPr lang="en-US"/>
          </a:p>
        </p:txBody>
      </p:sp>
    </p:spTree>
    <p:extLst>
      <p:ext uri="{BB962C8B-B14F-4D97-AF65-F5344CB8AC3E}">
        <p14:creationId xmlns:p14="http://schemas.microsoft.com/office/powerpoint/2010/main" val="3199757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81C48-6DA7-8E39-AE2B-A67733EB335F}"/>
              </a:ext>
            </a:extLst>
          </p:cNvPr>
          <p:cNvSpPr>
            <a:spLocks noGrp="1"/>
          </p:cNvSpPr>
          <p:nvPr>
            <p:ph type="title"/>
          </p:nvPr>
        </p:nvSpPr>
        <p:spPr/>
        <p:txBody>
          <a:bodyPr/>
          <a:lstStyle/>
          <a:p>
            <a:r>
              <a:rPr lang="en-US" dirty="0"/>
              <a:t>Textbooks (1/2)</a:t>
            </a:r>
          </a:p>
        </p:txBody>
      </p:sp>
      <p:sp>
        <p:nvSpPr>
          <p:cNvPr id="4" name="Date Placeholder 3">
            <a:extLst>
              <a:ext uri="{FF2B5EF4-FFF2-40B4-BE49-F238E27FC236}">
                <a16:creationId xmlns:a16="http://schemas.microsoft.com/office/drawing/2014/main" id="{00DB36F9-D39A-144E-8A31-884B1217F083}"/>
              </a:ext>
            </a:extLst>
          </p:cNvPr>
          <p:cNvSpPr>
            <a:spLocks noGrp="1"/>
          </p:cNvSpPr>
          <p:nvPr>
            <p:ph type="dt" sz="half" idx="10"/>
          </p:nvPr>
        </p:nvSpPr>
        <p:spPr/>
        <p:txBody>
          <a:bodyPr/>
          <a:lstStyle/>
          <a:p>
            <a:r>
              <a:rPr lang="en-US"/>
              <a:t>INSY 7130</a:t>
            </a:r>
          </a:p>
        </p:txBody>
      </p:sp>
      <p:sp>
        <p:nvSpPr>
          <p:cNvPr id="5" name="Footer Placeholder 4">
            <a:extLst>
              <a:ext uri="{FF2B5EF4-FFF2-40B4-BE49-F238E27FC236}">
                <a16:creationId xmlns:a16="http://schemas.microsoft.com/office/drawing/2014/main" id="{6865B584-D8B7-CA48-DEA4-65A17F730F08}"/>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C84B55CE-EBEA-36BD-90E0-452A2B331D9B}"/>
              </a:ext>
            </a:extLst>
          </p:cNvPr>
          <p:cNvSpPr>
            <a:spLocks noGrp="1"/>
          </p:cNvSpPr>
          <p:nvPr>
            <p:ph type="sldNum" sz="quarter" idx="12"/>
          </p:nvPr>
        </p:nvSpPr>
        <p:spPr/>
        <p:txBody>
          <a:bodyPr/>
          <a:lstStyle/>
          <a:p>
            <a:fld id="{52054868-82FA-C847-A727-529BD1C951E4}" type="slidenum">
              <a:rPr lang="en-US" smtClean="0"/>
              <a:t>18</a:t>
            </a:fld>
            <a:endParaRPr lang="en-US"/>
          </a:p>
        </p:txBody>
      </p:sp>
      <p:grpSp>
        <p:nvGrpSpPr>
          <p:cNvPr id="13" name="Group 12">
            <a:extLst>
              <a:ext uri="{FF2B5EF4-FFF2-40B4-BE49-F238E27FC236}">
                <a16:creationId xmlns:a16="http://schemas.microsoft.com/office/drawing/2014/main" id="{AD254459-F278-6B4E-BEBA-C6402E1E324C}"/>
              </a:ext>
            </a:extLst>
          </p:cNvPr>
          <p:cNvGrpSpPr/>
          <p:nvPr/>
        </p:nvGrpSpPr>
        <p:grpSpPr>
          <a:xfrm>
            <a:off x="2049517" y="1598448"/>
            <a:ext cx="7446149" cy="4810045"/>
            <a:chOff x="2324535" y="1581632"/>
            <a:chExt cx="7657665" cy="4946680"/>
          </a:xfrm>
        </p:grpSpPr>
        <p:pic>
          <p:nvPicPr>
            <p:cNvPr id="7" name="Picture 6" descr="Halp | Funny cats gallery Photo 4">
              <a:extLst>
                <a:ext uri="{FF2B5EF4-FFF2-40B4-BE49-F238E27FC236}">
                  <a16:creationId xmlns:a16="http://schemas.microsoft.com/office/drawing/2014/main" id="{71B8D72F-4BA0-D022-E363-2C339DB2DBCC}"/>
                </a:ext>
              </a:extLst>
            </p:cNvPr>
            <p:cNvPicPr>
              <a:picLocks noChangeAspect="1"/>
            </p:cNvPicPr>
            <p:nvPr/>
          </p:nvPicPr>
          <p:blipFill>
            <a:blip r:embed="rId2"/>
            <a:stretch>
              <a:fillRect/>
            </a:stretch>
          </p:blipFill>
          <p:spPr>
            <a:xfrm>
              <a:off x="2324535" y="1581632"/>
              <a:ext cx="2197100" cy="2311400"/>
            </a:xfrm>
            <a:prstGeom prst="rect">
              <a:avLst/>
            </a:prstGeom>
          </p:spPr>
        </p:pic>
        <p:grpSp>
          <p:nvGrpSpPr>
            <p:cNvPr id="12" name="Group 11">
              <a:extLst>
                <a:ext uri="{FF2B5EF4-FFF2-40B4-BE49-F238E27FC236}">
                  <a16:creationId xmlns:a16="http://schemas.microsoft.com/office/drawing/2014/main" id="{017E3ED2-7F90-801F-AFC9-FE6394768563}"/>
                </a:ext>
              </a:extLst>
            </p:cNvPr>
            <p:cNvGrpSpPr/>
            <p:nvPr/>
          </p:nvGrpSpPr>
          <p:grpSpPr>
            <a:xfrm>
              <a:off x="3056744" y="1690688"/>
              <a:ext cx="6925456" cy="4837624"/>
              <a:chOff x="4761185" y="1883332"/>
              <a:chExt cx="5866011" cy="4097572"/>
            </a:xfrm>
          </p:grpSpPr>
          <p:pic>
            <p:nvPicPr>
              <p:cNvPr id="9" name="Picture 8">
                <a:extLst>
                  <a:ext uri="{FF2B5EF4-FFF2-40B4-BE49-F238E27FC236}">
                    <a16:creationId xmlns:a16="http://schemas.microsoft.com/office/drawing/2014/main" id="{BBF1079B-9C38-1C65-BAA3-4FD6AF97A7A6}"/>
                  </a:ext>
                </a:extLst>
              </p:cNvPr>
              <p:cNvPicPr>
                <a:picLocks noChangeAspect="1"/>
              </p:cNvPicPr>
              <p:nvPr/>
            </p:nvPicPr>
            <p:blipFill>
              <a:blip r:embed="rId3"/>
              <a:srcRect r="57174"/>
              <a:stretch>
                <a:fillRect/>
              </a:stretch>
            </p:blipFill>
            <p:spPr>
              <a:xfrm>
                <a:off x="6233259" y="1883332"/>
                <a:ext cx="4393937" cy="2105499"/>
              </a:xfrm>
              <a:prstGeom prst="rect">
                <a:avLst/>
              </a:prstGeom>
            </p:spPr>
          </p:pic>
          <p:pic>
            <p:nvPicPr>
              <p:cNvPr id="10" name="Picture 9">
                <a:extLst>
                  <a:ext uri="{FF2B5EF4-FFF2-40B4-BE49-F238E27FC236}">
                    <a16:creationId xmlns:a16="http://schemas.microsoft.com/office/drawing/2014/main" id="{2590D3A2-7D9F-E8A4-F12A-88EE0257DB3C}"/>
                  </a:ext>
                </a:extLst>
              </p:cNvPr>
              <p:cNvPicPr>
                <a:picLocks noChangeAspect="1"/>
              </p:cNvPicPr>
              <p:nvPr/>
            </p:nvPicPr>
            <p:blipFill>
              <a:blip r:embed="rId3"/>
              <a:srcRect l="42826"/>
              <a:stretch>
                <a:fillRect/>
              </a:stretch>
            </p:blipFill>
            <p:spPr>
              <a:xfrm>
                <a:off x="4761185" y="3875405"/>
                <a:ext cx="5866011" cy="2105499"/>
              </a:xfrm>
              <a:prstGeom prst="rect">
                <a:avLst/>
              </a:prstGeom>
            </p:spPr>
          </p:pic>
        </p:grpSp>
      </p:grpSp>
    </p:spTree>
    <p:extLst>
      <p:ext uri="{BB962C8B-B14F-4D97-AF65-F5344CB8AC3E}">
        <p14:creationId xmlns:p14="http://schemas.microsoft.com/office/powerpoint/2010/main" val="1272644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0FF8F-409F-D520-9EA7-8DF09420845E}"/>
              </a:ext>
            </a:extLst>
          </p:cNvPr>
          <p:cNvSpPr>
            <a:spLocks noGrp="1"/>
          </p:cNvSpPr>
          <p:nvPr>
            <p:ph type="title"/>
          </p:nvPr>
        </p:nvSpPr>
        <p:spPr/>
        <p:txBody>
          <a:bodyPr/>
          <a:lstStyle/>
          <a:p>
            <a:r>
              <a:rPr lang="en-US" dirty="0"/>
              <a:t>Textbooks (2/2)</a:t>
            </a:r>
          </a:p>
        </p:txBody>
      </p:sp>
      <p:sp>
        <p:nvSpPr>
          <p:cNvPr id="3" name="Content Placeholder 2">
            <a:extLst>
              <a:ext uri="{FF2B5EF4-FFF2-40B4-BE49-F238E27FC236}">
                <a16:creationId xmlns:a16="http://schemas.microsoft.com/office/drawing/2014/main" id="{66AF9D32-07DC-FA09-49FE-1E1664C3B722}"/>
              </a:ext>
            </a:extLst>
          </p:cNvPr>
          <p:cNvSpPr>
            <a:spLocks noGrp="1"/>
          </p:cNvSpPr>
          <p:nvPr>
            <p:ph idx="1"/>
          </p:nvPr>
        </p:nvSpPr>
        <p:spPr/>
        <p:txBody>
          <a:bodyPr>
            <a:normAutofit fontScale="92500" lnSpcReduction="10000"/>
          </a:bodyPr>
          <a:lstStyle/>
          <a:p>
            <a:r>
              <a:rPr lang="en-US" dirty="0"/>
              <a:t>Charu C. Aggarwal, Data Mining: The Textbook</a:t>
            </a:r>
          </a:p>
          <a:p>
            <a:r>
              <a:rPr lang="en-US" dirty="0"/>
              <a:t>Mohammed J. Zaki and Wagner Meira Jr., </a:t>
            </a:r>
            <a:r>
              <a:rPr lang="en-US" dirty="0">
                <a:hlinkClick r:id="rId2"/>
              </a:rPr>
              <a:t>Data Mining and Machine Learning</a:t>
            </a:r>
            <a:endParaRPr lang="en-US" dirty="0"/>
          </a:p>
          <a:p>
            <a:r>
              <a:rPr lang="en-US" dirty="0"/>
              <a:t>Pang-Ning Tan et al., Introduction to Data Mining</a:t>
            </a:r>
          </a:p>
          <a:p>
            <a:r>
              <a:rPr lang="en-US" dirty="0"/>
              <a:t>Galit Shmueli et al., Machine Learning for Business Analytics</a:t>
            </a:r>
          </a:p>
          <a:p>
            <a:r>
              <a:rPr lang="en-US" dirty="0"/>
              <a:t>Gareth James et al., </a:t>
            </a:r>
            <a:r>
              <a:rPr lang="en-US" dirty="0">
                <a:hlinkClick r:id="rId3"/>
              </a:rPr>
              <a:t>An Introduction to Statistical Learning (Python)</a:t>
            </a:r>
            <a:endParaRPr lang="en-US" dirty="0"/>
          </a:p>
          <a:p>
            <a:r>
              <a:rPr lang="en-US" dirty="0"/>
              <a:t>Jake VanderPlas, Python Data Science Handbook</a:t>
            </a:r>
          </a:p>
          <a:p>
            <a:r>
              <a:rPr lang="en-US" dirty="0"/>
              <a:t>Rob J. Hyndman et al., </a:t>
            </a:r>
            <a:r>
              <a:rPr lang="en-US" dirty="0">
                <a:hlinkClick r:id="rId4"/>
              </a:rPr>
              <a:t>Forecasting: Principles and Practice (Python)</a:t>
            </a:r>
            <a:endParaRPr lang="en-US" dirty="0"/>
          </a:p>
          <a:p>
            <a:r>
              <a:rPr lang="en-US" dirty="0"/>
              <a:t>Official library documentation and other technical references, including scikit-learn, SciPy, </a:t>
            </a:r>
            <a:r>
              <a:rPr lang="en-US" dirty="0" err="1"/>
              <a:t>statsmodels</a:t>
            </a:r>
            <a:r>
              <a:rPr lang="en-US" dirty="0"/>
              <a:t>, and </a:t>
            </a:r>
            <a:r>
              <a:rPr lang="en-US" dirty="0" err="1"/>
              <a:t>mlxtend</a:t>
            </a:r>
            <a:r>
              <a:rPr lang="en-US" dirty="0"/>
              <a:t> guides</a:t>
            </a:r>
          </a:p>
        </p:txBody>
      </p:sp>
      <p:sp>
        <p:nvSpPr>
          <p:cNvPr id="4" name="Date Placeholder 3">
            <a:extLst>
              <a:ext uri="{FF2B5EF4-FFF2-40B4-BE49-F238E27FC236}">
                <a16:creationId xmlns:a16="http://schemas.microsoft.com/office/drawing/2014/main" id="{34F718E9-A979-6BF1-9603-6D74C0548B08}"/>
              </a:ext>
            </a:extLst>
          </p:cNvPr>
          <p:cNvSpPr>
            <a:spLocks noGrp="1"/>
          </p:cNvSpPr>
          <p:nvPr>
            <p:ph type="dt" sz="half" idx="10"/>
          </p:nvPr>
        </p:nvSpPr>
        <p:spPr/>
        <p:txBody>
          <a:bodyPr/>
          <a:lstStyle/>
          <a:p>
            <a:r>
              <a:rPr lang="en-US"/>
              <a:t>INSY 7130</a:t>
            </a:r>
          </a:p>
        </p:txBody>
      </p:sp>
      <p:sp>
        <p:nvSpPr>
          <p:cNvPr id="5" name="Footer Placeholder 4">
            <a:extLst>
              <a:ext uri="{FF2B5EF4-FFF2-40B4-BE49-F238E27FC236}">
                <a16:creationId xmlns:a16="http://schemas.microsoft.com/office/drawing/2014/main" id="{8E116A50-E2D6-FE50-8E1C-2CFCC4D82D1B}"/>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ACFA5639-3A11-AF48-40C9-038B37344183}"/>
              </a:ext>
            </a:extLst>
          </p:cNvPr>
          <p:cNvSpPr>
            <a:spLocks noGrp="1"/>
          </p:cNvSpPr>
          <p:nvPr>
            <p:ph type="sldNum" sz="quarter" idx="12"/>
          </p:nvPr>
        </p:nvSpPr>
        <p:spPr/>
        <p:txBody>
          <a:bodyPr/>
          <a:lstStyle/>
          <a:p>
            <a:fld id="{52054868-82FA-C847-A727-529BD1C951E4}" type="slidenum">
              <a:rPr lang="en-US" smtClean="0"/>
              <a:t>19</a:t>
            </a:fld>
            <a:endParaRPr lang="en-US"/>
          </a:p>
        </p:txBody>
      </p:sp>
    </p:spTree>
    <p:extLst>
      <p:ext uri="{BB962C8B-B14F-4D97-AF65-F5344CB8AC3E}">
        <p14:creationId xmlns:p14="http://schemas.microsoft.com/office/powerpoint/2010/main" val="1828714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1C93D-6D6E-FADD-AA46-CE26BFB44AC5}"/>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kern="1200" dirty="0">
                <a:solidFill>
                  <a:schemeClr val="tx1"/>
                </a:solidFill>
                <a:latin typeface="+mj-lt"/>
                <a:ea typeface="+mj-ea"/>
                <a:cs typeface="+mj-cs"/>
              </a:rPr>
              <a:t>Google </a:t>
            </a:r>
            <a:r>
              <a:rPr lang="en-US" kern="1200" dirty="0" err="1">
                <a:solidFill>
                  <a:schemeClr val="tx1"/>
                </a:solidFill>
                <a:latin typeface="+mj-lt"/>
                <a:ea typeface="+mj-ea"/>
                <a:cs typeface="+mj-cs"/>
              </a:rPr>
              <a:t>Colab</a:t>
            </a:r>
            <a:br>
              <a:rPr lang="en-US" kern="1200" dirty="0">
                <a:solidFill>
                  <a:schemeClr val="tx1"/>
                </a:solidFill>
                <a:latin typeface="+mj-lt"/>
                <a:ea typeface="+mj-ea"/>
                <a:cs typeface="+mj-cs"/>
              </a:rPr>
            </a:br>
            <a:r>
              <a:rPr lang="en-US" sz="2800" kern="1200" dirty="0" err="1">
                <a:solidFill>
                  <a:schemeClr val="tx1"/>
                </a:solidFill>
                <a:latin typeface="+mj-lt"/>
                <a:ea typeface="+mj-ea"/>
                <a:cs typeface="+mj-cs"/>
                <a:hlinkClick r:id="rId2"/>
              </a:rPr>
              <a:t>colab.google</a:t>
            </a:r>
            <a:endParaRPr lang="en-US" kern="1200" dirty="0">
              <a:solidFill>
                <a:schemeClr val="tx1"/>
              </a:solidFill>
              <a:latin typeface="+mj-lt"/>
              <a:ea typeface="+mj-ea"/>
              <a:cs typeface="+mj-cs"/>
            </a:endParaRPr>
          </a:p>
        </p:txBody>
      </p:sp>
      <p:pic>
        <p:nvPicPr>
          <p:cNvPr id="7" name="Picture 6">
            <a:extLst>
              <a:ext uri="{FF2B5EF4-FFF2-40B4-BE49-F238E27FC236}">
                <a16:creationId xmlns:a16="http://schemas.microsoft.com/office/drawing/2014/main" id="{40450ACC-E28C-0237-2FEF-F9C4EC2D54F7}"/>
              </a:ext>
            </a:extLst>
          </p:cNvPr>
          <p:cNvPicPr>
            <a:picLocks noChangeAspect="1"/>
          </p:cNvPicPr>
          <p:nvPr/>
        </p:nvPicPr>
        <p:blipFill>
          <a:blip r:embed="rId3"/>
          <a:stretch>
            <a:fillRect/>
          </a:stretch>
        </p:blipFill>
        <p:spPr>
          <a:xfrm>
            <a:off x="4938006" y="640080"/>
            <a:ext cx="6647196" cy="5550408"/>
          </a:xfrm>
          <a:prstGeom prst="rect">
            <a:avLst/>
          </a:prstGeom>
        </p:spPr>
      </p:pic>
      <p:sp>
        <p:nvSpPr>
          <p:cNvPr id="5" name="Footer Placeholder 4">
            <a:extLst>
              <a:ext uri="{FF2B5EF4-FFF2-40B4-BE49-F238E27FC236}">
                <a16:creationId xmlns:a16="http://schemas.microsoft.com/office/drawing/2014/main" id="{0EA33B1B-555D-966B-C3F1-2D89AF2B73D4}"/>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lnSpc>
                <a:spcPct val="90000"/>
              </a:lnSpc>
              <a:spcAft>
                <a:spcPts val="600"/>
              </a:spcAft>
            </a:pPr>
            <a:r>
              <a:rPr lang="en-US" sz="900" kern="1200">
                <a:solidFill>
                  <a:schemeClr val="tx1">
                    <a:tint val="75000"/>
                  </a:schemeClr>
                </a:solidFill>
                <a:latin typeface="+mn-lt"/>
                <a:ea typeface="+mn-ea"/>
                <a:cs typeface="+mn-cs"/>
              </a:rPr>
              <a:t>Industrial &amp; Systems Engineering, Auburn University - INSY 7120</a:t>
            </a:r>
          </a:p>
        </p:txBody>
      </p:sp>
      <p:sp>
        <p:nvSpPr>
          <p:cNvPr id="6" name="Slide Number Placeholder 5">
            <a:extLst>
              <a:ext uri="{FF2B5EF4-FFF2-40B4-BE49-F238E27FC236}">
                <a16:creationId xmlns:a16="http://schemas.microsoft.com/office/drawing/2014/main" id="{50371D8E-1572-8B32-D357-D3741BB0289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3DCB7E71-652D-8D41-910D-7A904FEC8DF1}" type="slidenum">
              <a:rPr lang="en-US" smtClean="0"/>
              <a:pPr>
                <a:spcAft>
                  <a:spcPts val="600"/>
                </a:spcAft>
              </a:pPr>
              <a:t>20</a:t>
            </a:fld>
            <a:endParaRPr lang="en-US"/>
          </a:p>
        </p:txBody>
      </p:sp>
      <p:sp>
        <p:nvSpPr>
          <p:cNvPr id="3" name="Date Placeholder 2">
            <a:extLst>
              <a:ext uri="{FF2B5EF4-FFF2-40B4-BE49-F238E27FC236}">
                <a16:creationId xmlns:a16="http://schemas.microsoft.com/office/drawing/2014/main" id="{D8797C24-4F39-CD43-3D0D-B599235CC378}"/>
              </a:ext>
            </a:extLst>
          </p:cNvPr>
          <p:cNvSpPr>
            <a:spLocks noGrp="1"/>
          </p:cNvSpPr>
          <p:nvPr>
            <p:ph type="dt" sz="half" idx="10"/>
          </p:nvPr>
        </p:nvSpPr>
        <p:spPr/>
        <p:txBody>
          <a:bodyPr/>
          <a:lstStyle/>
          <a:p>
            <a:r>
              <a:rPr lang="en-US"/>
              <a:t>INSY 7130</a:t>
            </a:r>
          </a:p>
        </p:txBody>
      </p:sp>
    </p:spTree>
    <p:extLst>
      <p:ext uri="{BB962C8B-B14F-4D97-AF65-F5344CB8AC3E}">
        <p14:creationId xmlns:p14="http://schemas.microsoft.com/office/powerpoint/2010/main" val="1276211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6E244-8770-8352-73F6-961212A50BA1}"/>
              </a:ext>
            </a:extLst>
          </p:cNvPr>
          <p:cNvSpPr>
            <a:spLocks noGrp="1"/>
          </p:cNvSpPr>
          <p:nvPr>
            <p:ph type="title"/>
          </p:nvPr>
        </p:nvSpPr>
        <p:spPr/>
        <p:txBody>
          <a:bodyPr/>
          <a:lstStyle/>
          <a:p>
            <a:r>
              <a:rPr lang="en-US" dirty="0"/>
              <a:t>Instructional Framework</a:t>
            </a:r>
          </a:p>
        </p:txBody>
      </p:sp>
      <p:sp>
        <p:nvSpPr>
          <p:cNvPr id="3" name="Content Placeholder 2">
            <a:extLst>
              <a:ext uri="{FF2B5EF4-FFF2-40B4-BE49-F238E27FC236}">
                <a16:creationId xmlns:a16="http://schemas.microsoft.com/office/drawing/2014/main" id="{DC8E39AF-5E1E-4C64-BC3B-3A6344C2B986}"/>
              </a:ext>
            </a:extLst>
          </p:cNvPr>
          <p:cNvSpPr>
            <a:spLocks noGrp="1"/>
          </p:cNvSpPr>
          <p:nvPr>
            <p:ph idx="1"/>
          </p:nvPr>
        </p:nvSpPr>
        <p:spPr/>
        <p:txBody>
          <a:bodyPr>
            <a:normAutofit lnSpcReduction="10000"/>
          </a:bodyPr>
          <a:lstStyle/>
          <a:p>
            <a:r>
              <a:rPr lang="en-US" dirty="0"/>
              <a:t>Concepts – fundamental ideas and building blocks</a:t>
            </a:r>
          </a:p>
          <a:p>
            <a:pPr lvl="1"/>
            <a:r>
              <a:rPr lang="en-US" sz="2800" dirty="0"/>
              <a:t>e.g., supervised vs unsupervised learning</a:t>
            </a:r>
          </a:p>
          <a:p>
            <a:r>
              <a:rPr lang="en-US" dirty="0"/>
              <a:t>Principles – key guidelines / insights that inform how we approach problems</a:t>
            </a:r>
          </a:p>
          <a:p>
            <a:pPr lvl="1"/>
            <a:r>
              <a:rPr lang="en-US" sz="2800" dirty="0"/>
              <a:t>e.g., bias-variance tradeoff</a:t>
            </a:r>
          </a:p>
          <a:p>
            <a:r>
              <a:rPr lang="en-US" dirty="0"/>
              <a:t>Methods – algorithms and techniques used to implement solutions</a:t>
            </a:r>
          </a:p>
          <a:p>
            <a:pPr lvl="1"/>
            <a:r>
              <a:rPr lang="en-US" sz="2800" dirty="0"/>
              <a:t>e.g., polynomial regression</a:t>
            </a:r>
          </a:p>
          <a:p>
            <a:r>
              <a:rPr lang="en-US" dirty="0"/>
              <a:t>Theory – foundations and proofs that explain why methods work</a:t>
            </a:r>
          </a:p>
          <a:p>
            <a:pPr lvl="1"/>
            <a:r>
              <a:rPr lang="en-US" sz="2800" dirty="0"/>
              <a:t>e.g., gradient descent for optimizing a loss function</a:t>
            </a:r>
          </a:p>
        </p:txBody>
      </p:sp>
      <p:sp>
        <p:nvSpPr>
          <p:cNvPr id="5" name="Footer Placeholder 4">
            <a:extLst>
              <a:ext uri="{FF2B5EF4-FFF2-40B4-BE49-F238E27FC236}">
                <a16:creationId xmlns:a16="http://schemas.microsoft.com/office/drawing/2014/main" id="{F12E001D-B80D-0038-E628-0A791A3133EC}"/>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CE246D45-A248-CF31-3B5D-33DEC5222758}"/>
              </a:ext>
            </a:extLst>
          </p:cNvPr>
          <p:cNvSpPr>
            <a:spLocks noGrp="1"/>
          </p:cNvSpPr>
          <p:nvPr>
            <p:ph type="sldNum" sz="quarter" idx="12"/>
          </p:nvPr>
        </p:nvSpPr>
        <p:spPr/>
        <p:txBody>
          <a:bodyPr/>
          <a:lstStyle/>
          <a:p>
            <a:fld id="{07219D31-0E31-E340-8AA7-445981C79750}" type="slidenum">
              <a:rPr lang="en-US" smtClean="0"/>
              <a:t>21</a:t>
            </a:fld>
            <a:endParaRPr lang="en-US"/>
          </a:p>
        </p:txBody>
      </p:sp>
      <p:sp>
        <p:nvSpPr>
          <p:cNvPr id="4" name="Date Placeholder 3">
            <a:extLst>
              <a:ext uri="{FF2B5EF4-FFF2-40B4-BE49-F238E27FC236}">
                <a16:creationId xmlns:a16="http://schemas.microsoft.com/office/drawing/2014/main" id="{29C92481-4F59-7C32-936F-E265AF6482A9}"/>
              </a:ext>
            </a:extLst>
          </p:cNvPr>
          <p:cNvSpPr>
            <a:spLocks noGrp="1"/>
          </p:cNvSpPr>
          <p:nvPr>
            <p:ph type="dt" sz="half" idx="10"/>
          </p:nvPr>
        </p:nvSpPr>
        <p:spPr/>
        <p:txBody>
          <a:bodyPr/>
          <a:lstStyle/>
          <a:p>
            <a:r>
              <a:rPr lang="en-US"/>
              <a:t>INSY 7130</a:t>
            </a:r>
          </a:p>
        </p:txBody>
      </p:sp>
    </p:spTree>
    <p:extLst>
      <p:ext uri="{BB962C8B-B14F-4D97-AF65-F5344CB8AC3E}">
        <p14:creationId xmlns:p14="http://schemas.microsoft.com/office/powerpoint/2010/main" val="30131360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B70A5-3FC3-A444-6CCA-F927166D90CF}"/>
              </a:ext>
            </a:extLst>
          </p:cNvPr>
          <p:cNvSpPr>
            <a:spLocks noGrp="1"/>
          </p:cNvSpPr>
          <p:nvPr>
            <p:ph type="title"/>
          </p:nvPr>
        </p:nvSpPr>
        <p:spPr/>
        <p:txBody>
          <a:bodyPr/>
          <a:lstStyle/>
          <a:p>
            <a:r>
              <a:rPr lang="en-US" dirty="0"/>
              <a:t>AI Tools</a:t>
            </a:r>
          </a:p>
        </p:txBody>
      </p:sp>
      <p:sp>
        <p:nvSpPr>
          <p:cNvPr id="3" name="Content Placeholder 2">
            <a:extLst>
              <a:ext uri="{FF2B5EF4-FFF2-40B4-BE49-F238E27FC236}">
                <a16:creationId xmlns:a16="http://schemas.microsoft.com/office/drawing/2014/main" id="{EE63CB6D-6C39-44DC-3700-BBF3BC448224}"/>
              </a:ext>
            </a:extLst>
          </p:cNvPr>
          <p:cNvSpPr>
            <a:spLocks noGrp="1"/>
          </p:cNvSpPr>
          <p:nvPr>
            <p:ph idx="1"/>
          </p:nvPr>
        </p:nvSpPr>
        <p:spPr/>
        <p:txBody>
          <a:bodyPr/>
          <a:lstStyle/>
          <a:p>
            <a:r>
              <a:rPr lang="en-US" dirty="0"/>
              <a:t>Incredibly useful for learning, understanding, productivity</a:t>
            </a:r>
          </a:p>
          <a:p>
            <a:r>
              <a:rPr lang="en-US" dirty="0"/>
              <a:t>Know Python and DS/ML/AI very well</a:t>
            </a:r>
          </a:p>
          <a:p>
            <a:r>
              <a:rPr lang="en-US" dirty="0"/>
              <a:t>Not perfect</a:t>
            </a:r>
          </a:p>
          <a:p>
            <a:r>
              <a:rPr lang="en-US" dirty="0"/>
              <a:t>Use with caution, best as a partner not a replacement</a:t>
            </a:r>
          </a:p>
          <a:p>
            <a:r>
              <a:rPr lang="en-US" dirty="0"/>
              <a:t>Use ethically - submit your own work</a:t>
            </a:r>
          </a:p>
          <a:p>
            <a:r>
              <a:rPr lang="en-US" dirty="0"/>
              <a:t>Not available during tests</a:t>
            </a:r>
          </a:p>
          <a:p>
            <a:r>
              <a:rPr lang="en-US" dirty="0"/>
              <a:t>The durable human contribution is </a:t>
            </a:r>
            <a:r>
              <a:rPr lang="en-US" b="1" dirty="0"/>
              <a:t>judgment</a:t>
            </a:r>
            <a:r>
              <a:rPr lang="en-US" dirty="0"/>
              <a:t>.</a:t>
            </a:r>
          </a:p>
        </p:txBody>
      </p:sp>
      <p:sp>
        <p:nvSpPr>
          <p:cNvPr id="5" name="Footer Placeholder 4">
            <a:extLst>
              <a:ext uri="{FF2B5EF4-FFF2-40B4-BE49-F238E27FC236}">
                <a16:creationId xmlns:a16="http://schemas.microsoft.com/office/drawing/2014/main" id="{3BEDFD1E-7777-9B95-361B-32EC108FE6C0}"/>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3E912CFA-AE41-4455-6242-195E224F93F3}"/>
              </a:ext>
            </a:extLst>
          </p:cNvPr>
          <p:cNvSpPr>
            <a:spLocks noGrp="1"/>
          </p:cNvSpPr>
          <p:nvPr>
            <p:ph type="sldNum" sz="quarter" idx="12"/>
          </p:nvPr>
        </p:nvSpPr>
        <p:spPr/>
        <p:txBody>
          <a:bodyPr/>
          <a:lstStyle/>
          <a:p>
            <a:fld id="{3DCB7E71-652D-8D41-910D-7A904FEC8DF1}" type="slidenum">
              <a:rPr lang="en-US" smtClean="0"/>
              <a:t>22</a:t>
            </a:fld>
            <a:endParaRPr lang="en-US"/>
          </a:p>
        </p:txBody>
      </p:sp>
      <p:sp>
        <p:nvSpPr>
          <p:cNvPr id="4" name="Date Placeholder 3">
            <a:extLst>
              <a:ext uri="{FF2B5EF4-FFF2-40B4-BE49-F238E27FC236}">
                <a16:creationId xmlns:a16="http://schemas.microsoft.com/office/drawing/2014/main" id="{7EAA6FF1-03CA-1A17-9C59-6AAF8B52DAB1}"/>
              </a:ext>
            </a:extLst>
          </p:cNvPr>
          <p:cNvSpPr>
            <a:spLocks noGrp="1"/>
          </p:cNvSpPr>
          <p:nvPr>
            <p:ph type="dt" sz="half" idx="10"/>
          </p:nvPr>
        </p:nvSpPr>
        <p:spPr/>
        <p:txBody>
          <a:bodyPr/>
          <a:lstStyle/>
          <a:p>
            <a:r>
              <a:rPr lang="en-US"/>
              <a:t>INSY 7130</a:t>
            </a:r>
          </a:p>
        </p:txBody>
      </p:sp>
    </p:spTree>
    <p:extLst>
      <p:ext uri="{BB962C8B-B14F-4D97-AF65-F5344CB8AC3E}">
        <p14:creationId xmlns:p14="http://schemas.microsoft.com/office/powerpoint/2010/main" val="36181605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4DD3F-3846-92EF-49C9-E7459BD4B3F2}"/>
              </a:ext>
            </a:extLst>
          </p:cNvPr>
          <p:cNvSpPr>
            <a:spLocks noGrp="1"/>
          </p:cNvSpPr>
          <p:nvPr>
            <p:ph type="title"/>
          </p:nvPr>
        </p:nvSpPr>
        <p:spPr/>
        <p:txBody>
          <a:bodyPr/>
          <a:lstStyle/>
          <a:p>
            <a:r>
              <a:rPr lang="en-US" dirty="0"/>
              <a:t>Judgment</a:t>
            </a:r>
          </a:p>
        </p:txBody>
      </p:sp>
      <p:sp>
        <p:nvSpPr>
          <p:cNvPr id="3" name="Content Placeholder 2">
            <a:extLst>
              <a:ext uri="{FF2B5EF4-FFF2-40B4-BE49-F238E27FC236}">
                <a16:creationId xmlns:a16="http://schemas.microsoft.com/office/drawing/2014/main" id="{E0F36CF6-7910-5698-578A-0BC3D4A2AE41}"/>
              </a:ext>
            </a:extLst>
          </p:cNvPr>
          <p:cNvSpPr>
            <a:spLocks noGrp="1"/>
          </p:cNvSpPr>
          <p:nvPr>
            <p:ph idx="1"/>
          </p:nvPr>
        </p:nvSpPr>
        <p:spPr/>
        <p:txBody>
          <a:bodyPr>
            <a:noAutofit/>
          </a:bodyPr>
          <a:lstStyle/>
          <a:p>
            <a:r>
              <a:rPr lang="en-US" dirty="0"/>
              <a:t>The practiced ability to decide what is worth doing and what is good enough</a:t>
            </a:r>
          </a:p>
          <a:p>
            <a:pPr lvl="1"/>
            <a:r>
              <a:rPr lang="en-US" sz="2800" dirty="0"/>
              <a:t>using </a:t>
            </a:r>
            <a:r>
              <a:rPr lang="en-US" sz="2800" u="sng" dirty="0"/>
              <a:t>critical thinking</a:t>
            </a:r>
            <a:r>
              <a:rPr lang="en-US" sz="2800" dirty="0"/>
              <a:t> to test the evidence</a:t>
            </a:r>
          </a:p>
          <a:p>
            <a:pPr lvl="1"/>
            <a:r>
              <a:rPr lang="en-US" sz="2800" u="sng" dirty="0"/>
              <a:t>domain expertise</a:t>
            </a:r>
            <a:r>
              <a:rPr lang="en-US" sz="2800" dirty="0"/>
              <a:t> to understand context and consequences</a:t>
            </a:r>
          </a:p>
          <a:p>
            <a:pPr lvl="1"/>
            <a:r>
              <a:rPr lang="en-US" sz="2800" dirty="0"/>
              <a:t>and </a:t>
            </a:r>
            <a:r>
              <a:rPr lang="en-US" sz="2800" u="sng" dirty="0"/>
              <a:t>taste</a:t>
            </a:r>
            <a:r>
              <a:rPr lang="en-US" sz="2800" dirty="0"/>
              <a:t> to choose among plausible alternatives</a:t>
            </a:r>
          </a:p>
          <a:p>
            <a:pPr lvl="1"/>
            <a:r>
              <a:rPr lang="en-US" sz="2800" dirty="0"/>
              <a:t>while owning the decision and its results.</a:t>
            </a:r>
          </a:p>
          <a:p>
            <a:r>
              <a:rPr lang="en-US" dirty="0"/>
              <a:t>Developed through </a:t>
            </a:r>
            <a:r>
              <a:rPr lang="en-US" u="sng" dirty="0"/>
              <a:t>practice</a:t>
            </a:r>
            <a:r>
              <a:rPr lang="en-US" dirty="0"/>
              <a:t> and </a:t>
            </a:r>
            <a:r>
              <a:rPr lang="en-US" u="sng" dirty="0"/>
              <a:t>training</a:t>
            </a:r>
            <a:r>
              <a:rPr lang="en-US" dirty="0"/>
              <a:t>: producing, testing, comparing, failing, critique, feedback, and observed outcomes.</a:t>
            </a:r>
          </a:p>
          <a:p>
            <a:r>
              <a:rPr lang="en-US" dirty="0"/>
              <a:t>Automate repetition, not apprenticeship.</a:t>
            </a:r>
          </a:p>
        </p:txBody>
      </p:sp>
      <p:sp>
        <p:nvSpPr>
          <p:cNvPr id="4" name="Date Placeholder 3">
            <a:extLst>
              <a:ext uri="{FF2B5EF4-FFF2-40B4-BE49-F238E27FC236}">
                <a16:creationId xmlns:a16="http://schemas.microsoft.com/office/drawing/2014/main" id="{4651043A-0740-4997-EEB3-A0FE8108D9CA}"/>
              </a:ext>
            </a:extLst>
          </p:cNvPr>
          <p:cNvSpPr>
            <a:spLocks noGrp="1"/>
          </p:cNvSpPr>
          <p:nvPr>
            <p:ph type="dt" sz="half" idx="10"/>
          </p:nvPr>
        </p:nvSpPr>
        <p:spPr/>
        <p:txBody>
          <a:bodyPr/>
          <a:lstStyle/>
          <a:p>
            <a:r>
              <a:rPr lang="en-US"/>
              <a:t>INSY 7130</a:t>
            </a:r>
          </a:p>
        </p:txBody>
      </p:sp>
      <p:sp>
        <p:nvSpPr>
          <p:cNvPr id="5" name="Footer Placeholder 4">
            <a:extLst>
              <a:ext uri="{FF2B5EF4-FFF2-40B4-BE49-F238E27FC236}">
                <a16:creationId xmlns:a16="http://schemas.microsoft.com/office/drawing/2014/main" id="{E599AF55-59F3-3473-6D95-221758495FD6}"/>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CDD6D9EC-6A84-12C3-357D-69138F6C15DF}"/>
              </a:ext>
            </a:extLst>
          </p:cNvPr>
          <p:cNvSpPr>
            <a:spLocks noGrp="1"/>
          </p:cNvSpPr>
          <p:nvPr>
            <p:ph type="sldNum" sz="quarter" idx="12"/>
          </p:nvPr>
        </p:nvSpPr>
        <p:spPr/>
        <p:txBody>
          <a:bodyPr/>
          <a:lstStyle/>
          <a:p>
            <a:fld id="{52054868-82FA-C847-A727-529BD1C951E4}" type="slidenum">
              <a:rPr lang="en-US" smtClean="0"/>
              <a:t>23</a:t>
            </a:fld>
            <a:endParaRPr lang="en-US"/>
          </a:p>
        </p:txBody>
      </p:sp>
    </p:spTree>
    <p:extLst>
      <p:ext uri="{BB962C8B-B14F-4D97-AF65-F5344CB8AC3E}">
        <p14:creationId xmlns:p14="http://schemas.microsoft.com/office/powerpoint/2010/main" val="23571073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371642E-8EA2-EF45-B9F8-FAAE09555EBF}"/>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07D5B21C-368C-20AC-577A-BF43066E7C22}"/>
              </a:ext>
            </a:extLst>
          </p:cNvPr>
          <p:cNvSpPr>
            <a:spLocks noGrp="1"/>
          </p:cNvSpPr>
          <p:nvPr>
            <p:ph type="sldNum" sz="quarter" idx="12"/>
          </p:nvPr>
        </p:nvSpPr>
        <p:spPr/>
        <p:txBody>
          <a:bodyPr/>
          <a:lstStyle/>
          <a:p>
            <a:fld id="{07219D31-0E31-E340-8AA7-445981C79750}" type="slidenum">
              <a:rPr lang="en-US" smtClean="0"/>
              <a:t>24</a:t>
            </a:fld>
            <a:endParaRPr lang="en-US"/>
          </a:p>
        </p:txBody>
      </p:sp>
      <p:sp>
        <p:nvSpPr>
          <p:cNvPr id="8" name="Text Placeholder 7">
            <a:extLst>
              <a:ext uri="{FF2B5EF4-FFF2-40B4-BE49-F238E27FC236}">
                <a16:creationId xmlns:a16="http://schemas.microsoft.com/office/drawing/2014/main" id="{4FE61AC2-4D95-E956-CF6D-82C6CB37AEF5}"/>
              </a:ext>
            </a:extLst>
          </p:cNvPr>
          <p:cNvSpPr>
            <a:spLocks noGrp="1"/>
          </p:cNvSpPr>
          <p:nvPr>
            <p:ph type="body" idx="1"/>
          </p:nvPr>
        </p:nvSpPr>
        <p:spPr/>
        <p:txBody>
          <a:bodyPr/>
          <a:lstStyle/>
          <a:p>
            <a:r>
              <a:rPr lang="en-US" dirty="0"/>
              <a:t>(not rhetorical)</a:t>
            </a:r>
          </a:p>
        </p:txBody>
      </p:sp>
      <p:sp>
        <p:nvSpPr>
          <p:cNvPr id="7" name="Title 6">
            <a:extLst>
              <a:ext uri="{FF2B5EF4-FFF2-40B4-BE49-F238E27FC236}">
                <a16:creationId xmlns:a16="http://schemas.microsoft.com/office/drawing/2014/main" id="{40638A39-870A-CB40-EA78-DA661185FB97}"/>
              </a:ext>
            </a:extLst>
          </p:cNvPr>
          <p:cNvSpPr>
            <a:spLocks noGrp="1"/>
          </p:cNvSpPr>
          <p:nvPr>
            <p:ph type="title"/>
          </p:nvPr>
        </p:nvSpPr>
        <p:spPr/>
        <p:txBody>
          <a:bodyPr/>
          <a:lstStyle/>
          <a:p>
            <a:r>
              <a:rPr lang="en-US" dirty="0"/>
              <a:t>What is “Data Science”?</a:t>
            </a:r>
          </a:p>
        </p:txBody>
      </p:sp>
      <p:sp>
        <p:nvSpPr>
          <p:cNvPr id="2" name="Date Placeholder 1">
            <a:extLst>
              <a:ext uri="{FF2B5EF4-FFF2-40B4-BE49-F238E27FC236}">
                <a16:creationId xmlns:a16="http://schemas.microsoft.com/office/drawing/2014/main" id="{0A3B8DD0-98A1-2BF9-B624-3E9D45F08E05}"/>
              </a:ext>
            </a:extLst>
          </p:cNvPr>
          <p:cNvSpPr>
            <a:spLocks noGrp="1"/>
          </p:cNvSpPr>
          <p:nvPr>
            <p:ph type="dt" sz="half" idx="10"/>
          </p:nvPr>
        </p:nvSpPr>
        <p:spPr/>
        <p:txBody>
          <a:bodyPr/>
          <a:lstStyle/>
          <a:p>
            <a:r>
              <a:rPr lang="en-US"/>
              <a:t>INSY 7130</a:t>
            </a:r>
          </a:p>
        </p:txBody>
      </p:sp>
    </p:spTree>
    <p:extLst>
      <p:ext uri="{BB962C8B-B14F-4D97-AF65-F5344CB8AC3E}">
        <p14:creationId xmlns:p14="http://schemas.microsoft.com/office/powerpoint/2010/main" val="27651224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A73EA3F-BAC4-319B-F939-876C80BFDCEA}"/>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47000FCB-3467-C2AD-4A0A-29ECE123FC4D}"/>
              </a:ext>
            </a:extLst>
          </p:cNvPr>
          <p:cNvSpPr>
            <a:spLocks noGrp="1"/>
          </p:cNvSpPr>
          <p:nvPr>
            <p:ph type="sldNum" sz="quarter" idx="12"/>
          </p:nvPr>
        </p:nvSpPr>
        <p:spPr/>
        <p:txBody>
          <a:bodyPr/>
          <a:lstStyle/>
          <a:p>
            <a:fld id="{07219D31-0E31-E340-8AA7-445981C79750}" type="slidenum">
              <a:rPr lang="en-US" smtClean="0"/>
              <a:t>25</a:t>
            </a:fld>
            <a:endParaRPr lang="en-US"/>
          </a:p>
        </p:txBody>
      </p:sp>
      <p:pic>
        <p:nvPicPr>
          <p:cNvPr id="7" name="Content Placeholder 6" descr="A venn diagram of data science, depicting it as the intersection of hacking skills, math and stats knowledge, and substantive expertise. Machine learning is at the intersection of hacking and math, traditional research is at the intersection of math and expertise, and the intersection of expertise and hacking skills is identified as a &quot;Danger Zone.&quot;">
            <a:extLst>
              <a:ext uri="{FF2B5EF4-FFF2-40B4-BE49-F238E27FC236}">
                <a16:creationId xmlns:a16="http://schemas.microsoft.com/office/drawing/2014/main" id="{47B93F00-18C5-20DF-7AE7-653F0AD556D2}"/>
              </a:ext>
            </a:extLst>
          </p:cNvPr>
          <p:cNvPicPr>
            <a:picLocks noGrp="1" noChangeAspect="1"/>
          </p:cNvPicPr>
          <p:nvPr>
            <p:ph idx="1"/>
          </p:nvPr>
        </p:nvPicPr>
        <p:blipFill>
          <a:blip r:embed="rId3"/>
          <a:stretch>
            <a:fillRect/>
          </a:stretch>
        </p:blipFill>
        <p:spPr>
          <a:xfrm>
            <a:off x="4751350" y="1579384"/>
            <a:ext cx="6914717" cy="4833589"/>
          </a:xfrm>
          <a:prstGeom prst="rect">
            <a:avLst/>
          </a:prstGeom>
        </p:spPr>
      </p:pic>
      <p:sp>
        <p:nvSpPr>
          <p:cNvPr id="8" name="TextBox 7">
            <a:extLst>
              <a:ext uri="{FF2B5EF4-FFF2-40B4-BE49-F238E27FC236}">
                <a16:creationId xmlns:a16="http://schemas.microsoft.com/office/drawing/2014/main" id="{1764B931-E1C7-A544-3FA9-3478F2D43645}"/>
              </a:ext>
            </a:extLst>
          </p:cNvPr>
          <p:cNvSpPr txBox="1"/>
          <p:nvPr/>
        </p:nvSpPr>
        <p:spPr>
          <a:xfrm>
            <a:off x="574787" y="1970006"/>
            <a:ext cx="4211053" cy="3539430"/>
          </a:xfrm>
          <a:prstGeom prst="rect">
            <a:avLst/>
          </a:prstGeom>
          <a:noFill/>
        </p:spPr>
        <p:txBody>
          <a:bodyPr wrap="square" rtlCol="0">
            <a:spAutoFit/>
          </a:bodyPr>
          <a:lstStyle/>
          <a:p>
            <a:pPr algn="ctr"/>
            <a:r>
              <a:rPr lang="en-US" sz="2800" dirty="0"/>
              <a:t>…not a new domain of knowledge to learn, but a new set of skills that you can apply within your own area of expertise.</a:t>
            </a:r>
            <a:br>
              <a:rPr lang="en-US" sz="2800" dirty="0"/>
            </a:br>
            <a:br>
              <a:rPr lang="en-US" sz="2800" dirty="0"/>
            </a:br>
            <a:r>
              <a:rPr lang="en-US" sz="2800" dirty="0"/>
              <a:t>– </a:t>
            </a:r>
            <a:r>
              <a:rPr lang="en-US" sz="2800" dirty="0" err="1"/>
              <a:t>VanderPlas</a:t>
            </a:r>
            <a:endParaRPr lang="en-US" sz="2800" dirty="0"/>
          </a:p>
          <a:p>
            <a:pPr algn="ctr"/>
            <a:endParaRPr lang="en-US" sz="2800" dirty="0"/>
          </a:p>
        </p:txBody>
      </p:sp>
      <p:sp>
        <p:nvSpPr>
          <p:cNvPr id="2" name="Title 1">
            <a:extLst>
              <a:ext uri="{FF2B5EF4-FFF2-40B4-BE49-F238E27FC236}">
                <a16:creationId xmlns:a16="http://schemas.microsoft.com/office/drawing/2014/main" id="{8FDA68C2-86CB-8770-9A60-938A6A0D9C8B}"/>
              </a:ext>
            </a:extLst>
          </p:cNvPr>
          <p:cNvSpPr>
            <a:spLocks noGrp="1"/>
          </p:cNvSpPr>
          <p:nvPr>
            <p:ph type="title"/>
          </p:nvPr>
        </p:nvSpPr>
        <p:spPr/>
        <p:txBody>
          <a:bodyPr/>
          <a:lstStyle/>
          <a:p>
            <a:r>
              <a:rPr lang="en-US" dirty="0"/>
              <a:t>Data Science is…</a:t>
            </a:r>
          </a:p>
        </p:txBody>
      </p:sp>
      <p:sp>
        <p:nvSpPr>
          <p:cNvPr id="3" name="Date Placeholder 2">
            <a:extLst>
              <a:ext uri="{FF2B5EF4-FFF2-40B4-BE49-F238E27FC236}">
                <a16:creationId xmlns:a16="http://schemas.microsoft.com/office/drawing/2014/main" id="{5957A4A5-D303-C964-9BA5-91B054AAE75C}"/>
              </a:ext>
            </a:extLst>
          </p:cNvPr>
          <p:cNvSpPr>
            <a:spLocks noGrp="1"/>
          </p:cNvSpPr>
          <p:nvPr>
            <p:ph type="dt" sz="half" idx="10"/>
          </p:nvPr>
        </p:nvSpPr>
        <p:spPr/>
        <p:txBody>
          <a:bodyPr/>
          <a:lstStyle/>
          <a:p>
            <a:r>
              <a:rPr lang="en-US"/>
              <a:t>INSY 7130</a:t>
            </a:r>
          </a:p>
        </p:txBody>
      </p:sp>
    </p:spTree>
    <p:extLst>
      <p:ext uri="{BB962C8B-B14F-4D97-AF65-F5344CB8AC3E}">
        <p14:creationId xmlns:p14="http://schemas.microsoft.com/office/powerpoint/2010/main" val="40331036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F6DA8-E0E0-DF10-9930-A1648C750292}"/>
              </a:ext>
            </a:extLst>
          </p:cNvPr>
          <p:cNvSpPr>
            <a:spLocks noGrp="1"/>
          </p:cNvSpPr>
          <p:nvPr>
            <p:ph type="title"/>
          </p:nvPr>
        </p:nvSpPr>
        <p:spPr/>
        <p:txBody>
          <a:bodyPr/>
          <a:lstStyle/>
          <a:p>
            <a:r>
              <a:rPr lang="en-US" dirty="0"/>
              <a:t>DS vs ML vs AI</a:t>
            </a:r>
          </a:p>
        </p:txBody>
      </p:sp>
      <p:sp>
        <p:nvSpPr>
          <p:cNvPr id="3" name="Content Placeholder 2">
            <a:extLst>
              <a:ext uri="{FF2B5EF4-FFF2-40B4-BE49-F238E27FC236}">
                <a16:creationId xmlns:a16="http://schemas.microsoft.com/office/drawing/2014/main" id="{468BB8DD-1B69-651A-5A27-D1BA33F70003}"/>
              </a:ext>
            </a:extLst>
          </p:cNvPr>
          <p:cNvSpPr>
            <a:spLocks noGrp="1"/>
          </p:cNvSpPr>
          <p:nvPr>
            <p:ph idx="1"/>
          </p:nvPr>
        </p:nvSpPr>
        <p:spPr>
          <a:xfrm>
            <a:off x="838200" y="1733159"/>
            <a:ext cx="10515600" cy="4351338"/>
          </a:xfrm>
        </p:spPr>
        <p:txBody>
          <a:bodyPr>
            <a:normAutofit fontScale="92500"/>
          </a:bodyPr>
          <a:lstStyle/>
          <a:p>
            <a:r>
              <a:rPr lang="en-US" dirty="0"/>
              <a:t>Data Science (DS) – statistical methods focused on insights from data</a:t>
            </a:r>
          </a:p>
          <a:p>
            <a:r>
              <a:rPr lang="en-US" dirty="0"/>
              <a:t>Machine Learning (ML) – algorithms &amp; models focused on prediction</a:t>
            </a:r>
          </a:p>
          <a:p>
            <a:r>
              <a:rPr lang="en-US" dirty="0"/>
              <a:t>Artificial Intelligence (AI) – computational methods focused on simulating human-like intelligence and decision-making</a:t>
            </a:r>
          </a:p>
          <a:p>
            <a:r>
              <a:rPr lang="en-US" dirty="0"/>
              <a:t>Lots of overlap between these</a:t>
            </a:r>
          </a:p>
          <a:p>
            <a:r>
              <a:rPr lang="en-US" dirty="0"/>
              <a:t>I prefer to think of AI as a goal or desired outcome of applied methods related to DS/ML and other domains</a:t>
            </a:r>
          </a:p>
          <a:p>
            <a:r>
              <a:rPr lang="en-US" i="1" dirty="0"/>
              <a:t>AI is whatever machines haven’t done yet. – Larry </a:t>
            </a:r>
            <a:r>
              <a:rPr lang="en-US" i="1" dirty="0" err="1"/>
              <a:t>Tesler</a:t>
            </a:r>
            <a:endParaRPr lang="en-US" i="1" dirty="0"/>
          </a:p>
          <a:p>
            <a:r>
              <a:rPr lang="en-US" dirty="0" err="1"/>
              <a:t>Tesler’s</a:t>
            </a:r>
            <a:r>
              <a:rPr lang="en-US" dirty="0"/>
              <a:t> Theorem – moving goalposts, aka “AI Effect”</a:t>
            </a:r>
          </a:p>
        </p:txBody>
      </p:sp>
      <p:sp>
        <p:nvSpPr>
          <p:cNvPr id="4" name="Date Placeholder 3">
            <a:extLst>
              <a:ext uri="{FF2B5EF4-FFF2-40B4-BE49-F238E27FC236}">
                <a16:creationId xmlns:a16="http://schemas.microsoft.com/office/drawing/2014/main" id="{40AA4CAE-C9DF-0FB7-1D47-C38D88AE5130}"/>
              </a:ext>
            </a:extLst>
          </p:cNvPr>
          <p:cNvSpPr>
            <a:spLocks noGrp="1"/>
          </p:cNvSpPr>
          <p:nvPr>
            <p:ph type="dt" sz="half" idx="10"/>
          </p:nvPr>
        </p:nvSpPr>
        <p:spPr/>
        <p:txBody>
          <a:bodyPr/>
          <a:lstStyle/>
          <a:p>
            <a:r>
              <a:rPr lang="en-US"/>
              <a:t>INSY 7130</a:t>
            </a:r>
          </a:p>
        </p:txBody>
      </p:sp>
      <p:sp>
        <p:nvSpPr>
          <p:cNvPr id="5" name="Footer Placeholder 4">
            <a:extLst>
              <a:ext uri="{FF2B5EF4-FFF2-40B4-BE49-F238E27FC236}">
                <a16:creationId xmlns:a16="http://schemas.microsoft.com/office/drawing/2014/main" id="{167AE91C-1683-86F5-B2D6-171BE86B4B4A}"/>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358D2D75-1EAC-E6C8-08C5-D0104E143CBD}"/>
              </a:ext>
            </a:extLst>
          </p:cNvPr>
          <p:cNvSpPr>
            <a:spLocks noGrp="1"/>
          </p:cNvSpPr>
          <p:nvPr>
            <p:ph type="sldNum" sz="quarter" idx="12"/>
          </p:nvPr>
        </p:nvSpPr>
        <p:spPr/>
        <p:txBody>
          <a:bodyPr/>
          <a:lstStyle/>
          <a:p>
            <a:fld id="{07219D31-0E31-E340-8AA7-445981C79750}" type="slidenum">
              <a:rPr lang="en-US" smtClean="0"/>
              <a:t>26</a:t>
            </a:fld>
            <a:endParaRPr lang="en-US"/>
          </a:p>
        </p:txBody>
      </p:sp>
      <p:sp>
        <p:nvSpPr>
          <p:cNvPr id="8" name="TextBox 7">
            <a:extLst>
              <a:ext uri="{FF2B5EF4-FFF2-40B4-BE49-F238E27FC236}">
                <a16:creationId xmlns:a16="http://schemas.microsoft.com/office/drawing/2014/main" id="{42347F23-FCDE-23EB-E005-473D21EA2EF9}"/>
              </a:ext>
            </a:extLst>
          </p:cNvPr>
          <p:cNvSpPr txBox="1"/>
          <p:nvPr/>
        </p:nvSpPr>
        <p:spPr>
          <a:xfrm>
            <a:off x="3047144" y="6207886"/>
            <a:ext cx="6097712" cy="338554"/>
          </a:xfrm>
          <a:prstGeom prst="rect">
            <a:avLst/>
          </a:prstGeom>
          <a:noFill/>
        </p:spPr>
        <p:txBody>
          <a:bodyPr wrap="square">
            <a:spAutoFit/>
          </a:bodyPr>
          <a:lstStyle/>
          <a:p>
            <a:pPr algn="ctr"/>
            <a:r>
              <a:rPr lang="en-US" sz="1600" dirty="0">
                <a:hlinkClick r:id="rId2"/>
              </a:rPr>
              <a:t>https://en.wikipedia.org/wiki/Larry_Tesler</a:t>
            </a:r>
            <a:r>
              <a:rPr lang="en-US" sz="1600" dirty="0"/>
              <a:t> and D. Robinson (next </a:t>
            </a:r>
            <a:r>
              <a:rPr lang="en-US" sz="1600" dirty="0" err="1"/>
              <a:t>pg</a:t>
            </a:r>
            <a:r>
              <a:rPr lang="en-US" sz="1600" dirty="0"/>
              <a:t>)</a:t>
            </a:r>
          </a:p>
        </p:txBody>
      </p:sp>
    </p:spTree>
    <p:extLst>
      <p:ext uri="{BB962C8B-B14F-4D97-AF65-F5344CB8AC3E}">
        <p14:creationId xmlns:p14="http://schemas.microsoft.com/office/powerpoint/2010/main" val="14341943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5E67-117A-1A2B-8557-CAC38D7579D5}"/>
              </a:ext>
            </a:extLst>
          </p:cNvPr>
          <p:cNvSpPr>
            <a:spLocks noGrp="1"/>
          </p:cNvSpPr>
          <p:nvPr>
            <p:ph type="title"/>
          </p:nvPr>
        </p:nvSpPr>
        <p:spPr/>
        <p:txBody>
          <a:bodyPr/>
          <a:lstStyle/>
          <a:p>
            <a:r>
              <a:rPr lang="en-US" dirty="0"/>
              <a:t>Areas of expertise…</a:t>
            </a:r>
          </a:p>
        </p:txBody>
      </p:sp>
      <p:sp>
        <p:nvSpPr>
          <p:cNvPr id="3" name="Content Placeholder 2">
            <a:extLst>
              <a:ext uri="{FF2B5EF4-FFF2-40B4-BE49-F238E27FC236}">
                <a16:creationId xmlns:a16="http://schemas.microsoft.com/office/drawing/2014/main" id="{802145AE-BB05-F8C9-BD6B-CADDB5B73B70}"/>
              </a:ext>
            </a:extLst>
          </p:cNvPr>
          <p:cNvSpPr>
            <a:spLocks noGrp="1"/>
          </p:cNvSpPr>
          <p:nvPr>
            <p:ph idx="1"/>
          </p:nvPr>
        </p:nvSpPr>
        <p:spPr/>
        <p:txBody>
          <a:bodyPr/>
          <a:lstStyle/>
          <a:p>
            <a:r>
              <a:rPr lang="en-US" dirty="0"/>
              <a:t>What is yours?</a:t>
            </a:r>
          </a:p>
          <a:p>
            <a:r>
              <a:rPr lang="en-US" dirty="0"/>
              <a:t>How to you hope to use these skills in your education, research, career?</a:t>
            </a:r>
          </a:p>
        </p:txBody>
      </p:sp>
      <p:sp>
        <p:nvSpPr>
          <p:cNvPr id="5" name="Footer Placeholder 4">
            <a:extLst>
              <a:ext uri="{FF2B5EF4-FFF2-40B4-BE49-F238E27FC236}">
                <a16:creationId xmlns:a16="http://schemas.microsoft.com/office/drawing/2014/main" id="{8C11906A-F362-4D1F-9A1C-2F784AF766C0}"/>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FE25C6D0-A762-6292-8533-48675360263D}"/>
              </a:ext>
            </a:extLst>
          </p:cNvPr>
          <p:cNvSpPr>
            <a:spLocks noGrp="1"/>
          </p:cNvSpPr>
          <p:nvPr>
            <p:ph type="sldNum" sz="quarter" idx="12"/>
          </p:nvPr>
        </p:nvSpPr>
        <p:spPr/>
        <p:txBody>
          <a:bodyPr/>
          <a:lstStyle/>
          <a:p>
            <a:fld id="{07219D31-0E31-E340-8AA7-445981C79750}" type="slidenum">
              <a:rPr lang="en-US" smtClean="0"/>
              <a:t>27</a:t>
            </a:fld>
            <a:endParaRPr lang="en-US"/>
          </a:p>
        </p:txBody>
      </p:sp>
      <p:sp>
        <p:nvSpPr>
          <p:cNvPr id="4" name="Date Placeholder 3">
            <a:extLst>
              <a:ext uri="{FF2B5EF4-FFF2-40B4-BE49-F238E27FC236}">
                <a16:creationId xmlns:a16="http://schemas.microsoft.com/office/drawing/2014/main" id="{3845A83F-8089-E2A4-9F7D-88A8E2EE130D}"/>
              </a:ext>
            </a:extLst>
          </p:cNvPr>
          <p:cNvSpPr>
            <a:spLocks noGrp="1"/>
          </p:cNvSpPr>
          <p:nvPr>
            <p:ph type="dt" sz="half" idx="10"/>
          </p:nvPr>
        </p:nvSpPr>
        <p:spPr/>
        <p:txBody>
          <a:bodyPr/>
          <a:lstStyle/>
          <a:p>
            <a:r>
              <a:rPr lang="en-US"/>
              <a:t>INSY 7130</a:t>
            </a:r>
          </a:p>
        </p:txBody>
      </p:sp>
    </p:spTree>
    <p:extLst>
      <p:ext uri="{BB962C8B-B14F-4D97-AF65-F5344CB8AC3E}">
        <p14:creationId xmlns:p14="http://schemas.microsoft.com/office/powerpoint/2010/main" val="19475255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DCA0D-0531-D0C7-9CDB-69DFE1F82F33}"/>
              </a:ext>
            </a:extLst>
          </p:cNvPr>
          <p:cNvSpPr>
            <a:spLocks noGrp="1"/>
          </p:cNvSpPr>
          <p:nvPr>
            <p:ph type="title"/>
          </p:nvPr>
        </p:nvSpPr>
        <p:spPr/>
        <p:txBody>
          <a:bodyPr/>
          <a:lstStyle/>
          <a:p>
            <a:r>
              <a:rPr lang="en-US" dirty="0"/>
              <a:t>To Do</a:t>
            </a:r>
          </a:p>
        </p:txBody>
      </p:sp>
      <p:sp>
        <p:nvSpPr>
          <p:cNvPr id="3" name="Content Placeholder 2">
            <a:extLst>
              <a:ext uri="{FF2B5EF4-FFF2-40B4-BE49-F238E27FC236}">
                <a16:creationId xmlns:a16="http://schemas.microsoft.com/office/drawing/2014/main" id="{756CA644-7A0A-52CB-9CC0-C9C7AEBF398A}"/>
              </a:ext>
            </a:extLst>
          </p:cNvPr>
          <p:cNvSpPr>
            <a:spLocks noGrp="1"/>
          </p:cNvSpPr>
          <p:nvPr>
            <p:ph idx="1"/>
          </p:nvPr>
        </p:nvSpPr>
        <p:spPr/>
        <p:txBody>
          <a:bodyPr>
            <a:normAutofit/>
          </a:bodyPr>
          <a:lstStyle/>
          <a:p>
            <a:r>
              <a:rPr lang="en-US" dirty="0"/>
              <a:t>Take the survey</a:t>
            </a:r>
          </a:p>
          <a:p>
            <a:r>
              <a:rPr lang="en-US" dirty="0"/>
              <a:t>Read the syllabus, esp. “Getting Help Effectively”</a:t>
            </a:r>
          </a:p>
          <a:p>
            <a:endParaRPr lang="en-US" dirty="0"/>
          </a:p>
        </p:txBody>
      </p:sp>
      <p:sp>
        <p:nvSpPr>
          <p:cNvPr id="5" name="Footer Placeholder 4">
            <a:extLst>
              <a:ext uri="{FF2B5EF4-FFF2-40B4-BE49-F238E27FC236}">
                <a16:creationId xmlns:a16="http://schemas.microsoft.com/office/drawing/2014/main" id="{D02C0147-737B-003E-B1D8-5D237B7F715B}"/>
              </a:ext>
            </a:extLst>
          </p:cNvPr>
          <p:cNvSpPr>
            <a:spLocks noGrp="1"/>
          </p:cNvSpPr>
          <p:nvPr>
            <p:ph type="ftr" sz="quarter" idx="11"/>
          </p:nvPr>
        </p:nvSpPr>
        <p:spPr/>
        <p:txBody>
          <a:bodyPr/>
          <a:lstStyle/>
          <a:p>
            <a:r>
              <a:rPr lang="en-US"/>
              <a:t>Industrial &amp; Systems Engineering, Auburn University - INSY 7120</a:t>
            </a:r>
          </a:p>
        </p:txBody>
      </p:sp>
      <p:sp>
        <p:nvSpPr>
          <p:cNvPr id="6" name="Slide Number Placeholder 5">
            <a:extLst>
              <a:ext uri="{FF2B5EF4-FFF2-40B4-BE49-F238E27FC236}">
                <a16:creationId xmlns:a16="http://schemas.microsoft.com/office/drawing/2014/main" id="{8D77E32D-A206-EF01-51BD-7D38824E9CBF}"/>
              </a:ext>
            </a:extLst>
          </p:cNvPr>
          <p:cNvSpPr>
            <a:spLocks noGrp="1"/>
          </p:cNvSpPr>
          <p:nvPr>
            <p:ph type="sldNum" sz="quarter" idx="12"/>
          </p:nvPr>
        </p:nvSpPr>
        <p:spPr/>
        <p:txBody>
          <a:bodyPr/>
          <a:lstStyle/>
          <a:p>
            <a:fld id="{07219D31-0E31-E340-8AA7-445981C79750}" type="slidenum">
              <a:rPr lang="en-US" smtClean="0"/>
              <a:t>28</a:t>
            </a:fld>
            <a:endParaRPr lang="en-US"/>
          </a:p>
        </p:txBody>
      </p:sp>
      <p:sp>
        <p:nvSpPr>
          <p:cNvPr id="4" name="Date Placeholder 3">
            <a:extLst>
              <a:ext uri="{FF2B5EF4-FFF2-40B4-BE49-F238E27FC236}">
                <a16:creationId xmlns:a16="http://schemas.microsoft.com/office/drawing/2014/main" id="{45887D4A-EECB-500A-1998-9A0A193696C2}"/>
              </a:ext>
            </a:extLst>
          </p:cNvPr>
          <p:cNvSpPr>
            <a:spLocks noGrp="1"/>
          </p:cNvSpPr>
          <p:nvPr>
            <p:ph type="dt" sz="half" idx="10"/>
          </p:nvPr>
        </p:nvSpPr>
        <p:spPr/>
        <p:txBody>
          <a:bodyPr/>
          <a:lstStyle/>
          <a:p>
            <a:r>
              <a:rPr lang="en-US"/>
              <a:t>INSY 7130</a:t>
            </a:r>
          </a:p>
        </p:txBody>
      </p:sp>
    </p:spTree>
    <p:extLst>
      <p:ext uri="{BB962C8B-B14F-4D97-AF65-F5344CB8AC3E}">
        <p14:creationId xmlns:p14="http://schemas.microsoft.com/office/powerpoint/2010/main" val="37192035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292</TotalTime>
  <Words>1713</Words>
  <Application>Microsoft Macintosh PowerPoint</Application>
  <PresentationFormat>Widescreen</PresentationFormat>
  <Paragraphs>243</Paragraphs>
  <Slides>28</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Aptos</vt:lpstr>
      <vt:lpstr>Aptos Display</vt:lpstr>
      <vt:lpstr>Arial</vt:lpstr>
      <vt:lpstr>Office Theme</vt:lpstr>
      <vt:lpstr>Data Mining Techniques and Applications for Operations INSY 7130</vt:lpstr>
      <vt:lpstr>What is “Data Mining”?</vt:lpstr>
      <vt:lpstr>Data Mining</vt:lpstr>
      <vt:lpstr>Today's Agenda</vt:lpstr>
      <vt:lpstr>Course Details</vt:lpstr>
      <vt:lpstr>About Me</vt:lpstr>
      <vt:lpstr>You are Here… A course for finding, checking, and using structure in data</vt:lpstr>
      <vt:lpstr>Graduate Certificate</vt:lpstr>
      <vt:lpstr>Program Changes Proposed / Pending</vt:lpstr>
      <vt:lpstr>Where this Might Take You…</vt:lpstr>
      <vt:lpstr>Course Description</vt:lpstr>
      <vt:lpstr>Course Objectives</vt:lpstr>
      <vt:lpstr>Tentative Plan – 5 Units… (1/2)</vt:lpstr>
      <vt:lpstr>Tentative Plan – 5 Units… (2/2)</vt:lpstr>
      <vt:lpstr>PowerPoint Presentation</vt:lpstr>
      <vt:lpstr>Assessment (1/2)</vt:lpstr>
      <vt:lpstr>Assessment (2/2)</vt:lpstr>
      <vt:lpstr>Textbooks (1/2)</vt:lpstr>
      <vt:lpstr>Textbooks (2/2)</vt:lpstr>
      <vt:lpstr>Google Colab colab.google</vt:lpstr>
      <vt:lpstr>Instructional Framework</vt:lpstr>
      <vt:lpstr>AI Tools</vt:lpstr>
      <vt:lpstr>Judgment</vt:lpstr>
      <vt:lpstr>What is “Data Science”?</vt:lpstr>
      <vt:lpstr>Data Science is…</vt:lpstr>
      <vt:lpstr>DS vs ML vs AI</vt:lpstr>
      <vt:lpstr>Areas of expertise…</vt:lpstr>
      <vt:lpstr>To Do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 O'Leary</dc:creator>
  <cp:lastModifiedBy>Dan O'Leary</cp:lastModifiedBy>
  <cp:revision>4</cp:revision>
  <dcterms:created xsi:type="dcterms:W3CDTF">2026-08-18T12:25:15Z</dcterms:created>
  <dcterms:modified xsi:type="dcterms:W3CDTF">2026-08-18T17:17:27Z</dcterms:modified>
</cp:coreProperties>
</file>