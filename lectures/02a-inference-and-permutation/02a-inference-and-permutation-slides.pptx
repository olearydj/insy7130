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30"/>
  </p:normalViewPr>
  <p:slideViewPr>
    <p:cSldViewPr snapToGrid="0">
      <p:cViewPr varScale="1">
        <p:scale>
          <a:sx n="98" d="100"/>
          <a:sy n="98" d="100"/>
        </p:scale>
        <p:origin x="232" y="2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5E5A0-55AC-E847-ACDE-4E9872246A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F0DFF-671D-0243-ABD9-859C5AC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3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“Representation” does not mean arbitrary</a:t>
            </a:r>
          </a:p>
          <a:p>
            <a:r>
              <a:t>- Useful abstractions remain partial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No uniquely “true” statistic</a:t>
            </a:r>
          </a:p>
          <a:p>
            <a:r>
              <a:t>- Same data can support several defensible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Homework 1A: equipment-limit threshold</a:t>
            </a:r>
          </a:p>
          <a:p>
            <a:r>
              <a:t>- Crossing the threshold changes the operational decision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Distance defines which cases count as close</a:t>
            </a:r>
          </a:p>
          <a:p>
            <a:r>
              <a:t>- Method outputs remain representations of recorded data</a:t>
            </a:r>
          </a:p>
          <a:p>
            <a:r>
              <a:t>- None is the underlying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Null model is constructed, not automatic</a:t>
            </a:r>
          </a:p>
          <a:p>
            <a:r>
              <a:t>- Not merely a hypothesis-test label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Model identifies comparable observations</a:t>
            </a:r>
          </a:p>
          <a:p>
            <a:r>
              <a:t>- Model defines legitimate hypothetical outcomes</a:t>
            </a:r>
          </a:p>
          <a:p>
            <a:r>
              <a:t>- Null distribution tied to one statistic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Null model does not remove all structure</a:t>
            </a:r>
          </a:p>
          <a:p>
            <a:r>
              <a:t>- More resamples cannot repair the wrong model</a:t>
            </a:r>
          </a:p>
          <a:p>
            <a:r>
              <a:t>- Check both preserved and removed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Similar to contradiction, not deductive proof</a:t>
            </a:r>
          </a:p>
          <a:p>
            <a:r>
              <a:t>- Rare outcomes remain possible under the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p-value: difficulty under the stated model</a:t>
            </a:r>
          </a:p>
          <a:p>
            <a:r>
              <a:t>- Conclusion depends on declared procedure</a:t>
            </a:r>
          </a:p>
          <a:p>
            <a:r>
              <a:t>- More resamples cannot repair invalid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Model choice: analyst, not software</a:t>
            </a:r>
          </a:p>
          <a:p>
            <a:r>
              <a:t>- Lecture 01b: p = 0.0004 from 5,000 resamples</a:t>
            </a:r>
          </a:p>
          <a:p>
            <a:r>
              <a:t>- Interpretation: very unusual at available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Repeated observations constrain reassignment</a:t>
            </a:r>
          </a:p>
          <a:p>
            <a:r>
              <a:t>- Spatial dependence constrains reassignment</a:t>
            </a:r>
          </a:p>
          <a:p>
            <a:r>
              <a:t>- Preserve dependence required by the 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Similarity: no cross-feature structure</a:t>
            </a:r>
          </a:p>
          <a:p>
            <a:r>
              <a:t>- PCA / embeddings: no low-dimensional structure</a:t>
            </a:r>
          </a:p>
          <a:p>
            <a:r>
              <a:t>- Forecasting: no-improvement / benchmark 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Reference distributions answer different questions</a:t>
            </a:r>
          </a:p>
          <a:p>
            <a:r>
              <a:t>- Null model is broader than permutation</a:t>
            </a:r>
          </a:p>
          <a:p>
            <a:r>
              <a:t>- Other generators: enumeration, theory, simulation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F47E-70DC-BE81-FF2F-594971B7C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0A534-5FA3-8AEC-EF8B-722D8E08D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7BA0-8635-8156-1D7E-71415062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F1F9A-569C-9913-973F-1A20A83C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36EC4-AA6F-D184-8618-361538F7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9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8E78-AD20-61AE-07C9-581A5721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D4561-E452-9CCC-F17D-413081E1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28ECC-D18D-C0CD-A31F-8AAF8007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60BF7-D714-1EEA-455C-948D3F50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1281E-835A-408F-869A-ABCB59C9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7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F47D-B5A2-A2A9-9C1F-D34CBEA9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607C2-418A-7C3E-889B-C74533D86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24D0-6290-39E6-4FC3-10A71E08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0A5A2-F395-04FF-16AA-7FD6A4A3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9AD1-4F86-DCF2-E680-413230E8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8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6737-827C-273B-F261-9C2154C2B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42AEA-C1BF-8ACF-4D78-694944D0D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862B1-79B0-21BF-B1F1-AE0A76F3C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829CD-553E-A2DE-D010-8A43AD8C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CA874-C8F2-8F8E-57CD-2153E06A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7DF01-803D-2671-7E60-BD2A8B39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31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31F7-1AAE-6F6F-9322-93F4B195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A9EF3-F1FD-CB23-0AEA-47156AB0A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35B6B-BB83-B04C-A47B-ECE0EF4EE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A793-8380-51B9-CFF7-744318B37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2A4C60-2522-0D5C-C23F-0187CAED5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9C621-5B24-DF2E-89D1-3C18E5C6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D717F-009B-A737-7A82-6932E457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473D84-9CDA-C121-7F30-5676861D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3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CA20-39C3-F40C-4572-281D2CB5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D97B0C-B857-63F7-E85F-859208D5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D32CF-94BA-12FC-B498-E2196DF0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C9F26-3D2D-45C9-5AFE-A62EE9EF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1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51DB1-564F-5E0A-44D7-83BEF6852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9F1B4-9F80-D1A1-175F-9BAE82A6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6B0DD-802C-78AC-8412-48CCFD7B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15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E260-462B-03FA-173F-32F86D9C1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B0F23-E64B-853A-3024-2AE2F4D0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BF63C-CE95-B386-9430-493B8C821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C3A3B-9273-F1D3-EB8C-F53E089B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14B1-8C95-5D57-16BB-1F086235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50967-1BE7-4A0B-53AC-6843F0C3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293B-CEC3-737B-9538-E6D2B618B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4759B-9E9E-568D-0604-93F579E25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14115-1120-27FE-FBFE-84143F04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D17F7-EC85-BE3E-3666-B3EB7F44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7716E-EE1B-36EC-CF7E-7FF1277D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C8AED-1ECD-8AF3-54D2-212D945A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2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5750-6D4C-C52C-9C7D-A311C331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AC1EB-ADF8-EBA7-A6BC-FB273C00A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58EA3-5B02-2581-BD37-7F407210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229F1-852D-B9F5-4C3B-917CF6810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CA7C0-6DAB-769F-6582-E47C123F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0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40C5F1-7D4A-8CED-297C-C92ED91B2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55E8F-7208-6FE9-2D3E-0EF5F364A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500E5-461D-6A31-BF2E-14F82313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85B9D-B212-30E2-0DDA-D1CBCDA6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F1D69-E3F9-B455-8285-89A3FC84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56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C0725-EC61-EA44-844F-586829DC9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70FE7-F892-F382-680D-09F576DC7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D1A73-6FE2-F462-6F77-158AEA4F6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081EA-FD3D-DFEE-6D95-67E5E4A89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14320" y="6356350"/>
            <a:ext cx="6563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Industrial &amp; Systems Engineering, Auburn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66E28-9D50-5F5D-A686-37F93270E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58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INSY 7130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02a Inference and Permutation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0BC77-A66B-1C50-1F9D-922FCBC59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54C39-0B10-EA2C-CA26-E9D93B529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6F706-D167-76C3-5239-2B7DBAE0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Permutation and Statistical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Lecture 01b:</a:t>
            </a:r>
          </a:p>
          <a:p>
            <a:pPr lvl="1"/>
            <a:r>
              <a:rPr sz="2800"/>
              <a:t>stated a no-association claim</a:t>
            </a:r>
          </a:p>
          <a:p>
            <a:pPr lvl="1"/>
            <a:r>
              <a:rPr sz="2800"/>
              <a:t>reassigned labels for a permutation test</a:t>
            </a:r>
          </a:p>
          <a:p>
            <a:pPr lvl="1"/>
            <a:r>
              <a:rPr sz="2800"/>
              <a:t>formed a permutation distribution</a:t>
            </a:r>
          </a:p>
          <a:p>
            <a:pPr lvl="1"/>
            <a:r>
              <a:rPr sz="2800"/>
              <a:t>interpreted a simulated p-value</a:t>
            </a:r>
          </a:p>
          <a:p>
            <a:r>
              <a:rPr sz="2800"/>
              <a:t>Lecture 02a:</a:t>
            </a:r>
          </a:p>
          <a:p>
            <a:pPr lvl="1"/>
            <a:r>
              <a:rPr sz="2800"/>
              <a:t>examines the analytical judgments behind that procedure</a:t>
            </a:r>
          </a:p>
          <a:p>
            <a:pPr lvl="1"/>
            <a:r>
              <a:rPr sz="2800"/>
              <a:t>connects analytical outputs to evidence about discovered patterns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59F0E-B4BE-002B-706F-A70D1E71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D6C4F-C83D-44F2-D113-56E151FFB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D1312-72CC-AE09-B941-531E41F43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Explain why data, variables, statistics, and method outputs are representations rather than reality or truth.</a:t>
            </a:r>
          </a:p>
          <a:p>
            <a:r>
              <a:rPr sz="2800"/>
              <a:t>State a scenario-specific null model and distinguish it from the related hypothesis, generating process, distribution, and comparison rule.</a:t>
            </a:r>
          </a:p>
          <a:p>
            <a:r>
              <a:rPr sz="2800"/>
              <a:t>Identify which structure a randomization preserves and removes, then assess whether the proposed reassignment fits the data design.</a:t>
            </a:r>
          </a:p>
          <a:p>
            <a:r>
              <a:rPr sz="2800"/>
              <a:t>Interpret evidence conditionally without claiming more than the comparison supports.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FC3ED-94F8-9BEE-82A5-46BF583C8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7D0EE-5DEF-C1A6-B29A-85023CD0A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2E716-77D1-E569-3EA6-75D31E1A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Representations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Analytical choices determine what becomes visible.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F4E66-5929-F808-B6E2-C3647FD6C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9C533-DBFF-BCAD-A2F4-67D91D6A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5553A-B615-76FB-2F27-BA7B65537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Representations in 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86329"/>
            <a:ext cx="10515600" cy="3290634"/>
          </a:xfrm>
        </p:spPr>
        <p:txBody>
          <a:bodyPr wrap="square" anchor="t">
            <a:noAutofit/>
          </a:bodyPr>
          <a:lstStyle/>
          <a:p>
            <a:r>
              <a:rPr sz="2800"/>
              <a:t>A representation constructs a usable account of selected aspects of a process, object, or question.</a:t>
            </a:r>
          </a:p>
          <a:p>
            <a:r>
              <a:rPr sz="2800"/>
              <a:t>Analytical representations are </a:t>
            </a:r>
            <a:r>
              <a:rPr sz="2800" i="1"/>
              <a:t>abstractions</a:t>
            </a:r>
            <a:r>
              <a:rPr sz="2800"/>
              <a:t> of processes, objects, or questions.</a:t>
            </a:r>
          </a:p>
          <a:p>
            <a:r>
              <a:rPr sz="2800"/>
              <a:t>Each layer preserves information needed for a purpose and leaves other information out.</a:t>
            </a:r>
          </a:p>
          <a:p>
            <a:r>
              <a:rPr sz="2800"/>
              <a:t>Later claims inherit choices, assumptions from preceding layers.</a:t>
            </a:r>
          </a:p>
        </p:txBody>
      </p:sp>
      <p:sp>
        <p:nvSpPr>
          <p:cNvPr id="4" name="Code block"/>
          <p:cNvSpPr txBox="1"/>
          <p:nvPr/>
        </p:nvSpPr>
        <p:spPr>
          <a:xfrm>
            <a:off x="838200" y="1825625"/>
            <a:ext cx="10515600" cy="914400"/>
          </a:xfrm>
          <a:prstGeom prst="rect">
            <a:avLst/>
          </a:prstGeom>
          <a:solidFill>
            <a:srgbClr val="212529"/>
          </a:solidFill>
          <a:ln w="12700">
            <a:solidFill>
              <a:srgbClr val="495057"/>
            </a:solidFill>
          </a:ln>
        </p:spPr>
        <p:txBody>
          <a:bodyPr wrap="none" lIns="219456" tIns="109728" rIns="219456" bIns="109728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F8F9FA"/>
                </a:solidFill>
                <a:latin typeface="Consolas"/>
              </a:rPr>
              <a:t>process → recorded data → variables → statistic or method input
        → method output → analytical claim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F066E-94AF-187F-DEF1-CFA354E71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60454-EA5C-9A83-FD74-48F65CA7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0414D-C846-904C-1DCD-F3D774E3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Statistics Chosen to Answer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“How does grocery spending differ by channel?” is too broad to imply one inevitable calculation.</a:t>
            </a:r>
          </a:p>
          <a:p>
            <a:r>
              <a:rPr sz="2800"/>
              <a:t>Retail median minus Horeca median represents a precise question about typical recorded spending.</a:t>
            </a:r>
          </a:p>
          <a:p>
            <a:r>
              <a:rPr sz="2800"/>
              <a:t>A defensible statistic has a declared direction and units, can be computed from the data, and loses information in ways appropriate to the substantive question.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8D7A2-D7A1-6BED-C2E9-A6DDA5205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38ACB-A2E6-8805-FCB6-0A9F1B20C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EDE72-EE07-29B3-F9FF-D3F7601F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01b Alternative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91163"/>
            <a:ext cx="10515600" cy="685800"/>
          </a:xfrm>
        </p:spPr>
        <p:txBody>
          <a:bodyPr wrap="square" anchor="t">
            <a:noAutofit/>
          </a:bodyPr>
          <a:lstStyle/>
          <a:p>
            <a:r>
              <a:rPr sz="2800"/>
              <a:t>*</a:t>
            </a:r>
            <a:r>
              <a:rPr sz="2800" i="1"/>
              <a:t>Notebook:</a:t>
            </a:r>
            <a:r>
              <a:rPr sz="2800"/>
              <a:t>* Compare statistics for one question</a:t>
            </a:r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427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2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6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5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Representation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Question made precise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Information emphasized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Information compressed or omitted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0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Difference in means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How does average spending differ?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Every value contributes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Shape is compressed; large values can dominate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Difference in medians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How does typical spending differ?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Central ordering and robust center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Tail magnitudes receive little weight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0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Difference in exceedance rates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How often does each group cross a threshold?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A decision-relevant boundary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Magnitudes collapse to two states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Difference in upper quantiles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How does high-end spending differ?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Tail location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Most of each distribution is omitted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0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Distribution-wide discrepancy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Do the distributions differ more broadly?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Multiple aspects of shape and location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The result may be harder to connect to a decision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4994F-0953-349E-EFE6-9FB4B9CD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A1DBD-6B54-8965-DB36-80535133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551C7-9319-0ECC-E373-6509E253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Statistics Support Analytical 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The median difference is defensible when the outcome is strongly right-skewed and the question concerns a typical group contrast.</a:t>
            </a:r>
          </a:p>
          <a:p>
            <a:r>
              <a:rPr sz="2800"/>
              <a:t>An exceedance rate is defensible when crossing an operational boundary is the quantity that changes a decision.</a:t>
            </a:r>
          </a:p>
          <a:p>
            <a:r>
              <a:rPr sz="2800"/>
              <a:t>Comparing reasonable representations shows whether the claim depends on one analytical choice.</a:t>
            </a:r>
          </a:p>
          <a:p>
            <a:r>
              <a:rPr sz="2800"/>
              <a:t>State which statistic supports the claim and what information it emphasizes or omits.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74F0A-5E47-4163-D9DC-CD791974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39FD9-EEA7-37A8-A094-47BB8790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58E8C-4447-8927-AAFE-1D011B28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Representations Across Course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799944"/>
              </p:ext>
            </p:extLst>
          </p:nvPr>
        </p:nvGraphicFramePr>
        <p:xfrm>
          <a:off x="838200" y="1603554"/>
          <a:ext cx="10515600" cy="454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6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8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7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Course work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Consequential representation choices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5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Similarity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Features, scaling, transformations, and distance determine which cases become neighbors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5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Embeddings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The objective determines which relationships are preserved and which may be distorted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5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Clustering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The representation and objective determine which separations can become groups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5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Association analysis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Transaction construction and selected measures determine which co-occurrences become rules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65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Anomaly detection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The reference population and features determine what “unusual” means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65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Time series and forecasting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Time scale, target, horizon, and loss determine which structure is visible and useful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1C3F5-F885-E5A8-AEB9-6A56200D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8A391-B8DD-5556-D538-21781428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BC6FC-8385-31F0-112B-D7CFF7EE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Null Models and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requires a comparison that could challenge the pattern.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3E596-4665-3591-6805-D358D739D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719A5-88C9-A12B-E6FD-05D37D7C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62CB-DEE6-D7D6-86F5-2C4D03D8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Produce 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Different methods produce different representations:</a:t>
            </a:r>
          </a:p>
          <a:p>
            <a:pPr lvl="1"/>
            <a:r>
              <a:rPr sz="2800"/>
              <a:t>K-means: partitions</a:t>
            </a:r>
          </a:p>
          <a:p>
            <a:pPr lvl="1"/>
            <a:r>
              <a:rPr sz="2800"/>
              <a:t>PCA: components</a:t>
            </a:r>
          </a:p>
          <a:p>
            <a:pPr lvl="1"/>
            <a:r>
              <a:rPr sz="2800"/>
              <a:t>association mining: rules</a:t>
            </a:r>
          </a:p>
          <a:p>
            <a:pPr lvl="1"/>
            <a:r>
              <a:rPr sz="2800"/>
              <a:t>anomaly detection: scores</a:t>
            </a:r>
          </a:p>
          <a:p>
            <a:r>
              <a:rPr sz="2800"/>
              <a:t>Output alone cannot establish stable, meaningful, or useful structure.</a:t>
            </a:r>
          </a:p>
          <a:p>
            <a:r>
              <a:rPr sz="2800"/>
              <a:t>Evidence requires a null model (formal term):</a:t>
            </a:r>
          </a:p>
          <a:p>
            <a:pPr lvl="1"/>
            <a:r>
              <a:rPr sz="2800"/>
              <a:t>01b: </a:t>
            </a:r>
            <a:r>
              <a:rPr sz="2800" i="1"/>
              <a:t>no-association model</a:t>
            </a:r>
            <a:r>
              <a:rPr sz="2800"/>
              <a:t> → </a:t>
            </a:r>
            <a:r>
              <a:rPr sz="2400">
                <a:solidFill>
                  <a:srgbClr val="BF5701"/>
                </a:solidFill>
                <a:latin typeface="Consolas"/>
              </a:rPr>
              <a:t>Grocery</a:t>
            </a:r>
            <a:r>
              <a:rPr sz="2800"/>
              <a:t> unrelated to </a:t>
            </a:r>
            <a:r>
              <a:rPr sz="2400">
                <a:solidFill>
                  <a:srgbClr val="BF5701"/>
                </a:solidFill>
                <a:latin typeface="Consolas"/>
              </a:rPr>
              <a:t>Channel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D40BD-CBA0-DB84-9971-A3F47DEB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63CA9-29A0-009F-CA29-2F7C525B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3B454-4E7A-AEBC-8F1D-C3408A53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a Null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309772"/>
              </p:ext>
            </p:extLst>
          </p:nvPr>
        </p:nvGraphicFramePr>
        <p:xfrm>
          <a:off x="838200" y="1838688"/>
          <a:ext cx="10515600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Object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Lecture 01b example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9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Null hypothesis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Statement being challenged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Grocery values have no association with channel labels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9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Null model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Data model without the target structure, plus its conditions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Values are exchangeable with respect to fixed labels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9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Null-generating process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Procedure that produces outcomes under the model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Reassign labels while preserving values and group sizes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9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Null distribution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Distribution of the declared statistic under that process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Median differences from valid reassignments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39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Extremeness rule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Declares which results are at least as incompatible as observed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Count sufficiently extreme results in either direction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FBA5D-34B7-13BA-FDC5-202B14EAC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0C3EE-30B0-53D6-381B-E14D1D120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8E572-9BFA-BEEB-40BB-84904C6E7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Under the Null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800"/>
              <a:t>Preserved:</a:t>
            </a:r>
          </a:p>
          <a:p>
            <a:pPr lvl="1"/>
            <a:r>
              <a:rPr sz="2800"/>
              <a:t>440 recorded grocery values</a:t>
            </a:r>
          </a:p>
          <a:p>
            <a:pPr lvl="1"/>
            <a:r>
              <a:rPr sz="2800"/>
              <a:t>142/298 group sizes</a:t>
            </a:r>
          </a:p>
          <a:p>
            <a:pPr lvl="1"/>
            <a:r>
              <a:rPr sz="2800"/>
              <a:t>declared median-difference statistic</a:t>
            </a:r>
          </a:p>
          <a:p>
            <a:r>
              <a:rPr sz="2800"/>
              <a:t>Removed:</a:t>
            </a:r>
          </a:p>
          <a:p>
            <a:pPr lvl="1"/>
            <a:r>
              <a:rPr sz="2800"/>
              <a:t>recorded alignment between grocery values and channel labels</a:t>
            </a:r>
          </a:p>
          <a:p>
            <a:r>
              <a:rPr sz="2800"/>
              <a:t>Resulting comparison:</a:t>
            </a:r>
          </a:p>
          <a:p>
            <a:pPr lvl="1"/>
            <a:r>
              <a:rPr sz="2800"/>
              <a:t>same values in same-sized groups without the recorded association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C2351-75C6-8335-466B-CC88BDAEF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74420-D166-952D-5330-B92CA1B8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B9766-5C84-5665-08D3-F220008C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Through Competing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“Channel has some relationship with grocery spending” permits many magnitudes, distributional forms, mechanisms, and confounding explanations.</a:t>
            </a:r>
          </a:p>
          <a:p>
            <a:r>
              <a:rPr sz="2800"/>
              <a:t>A no-association model can be operationalized:</a:t>
            </a:r>
          </a:p>
          <a:p>
            <a:pPr lvl="1"/>
            <a:r>
              <a:rPr sz="2800"/>
              <a:t>grocery values unrelated to channel labels</a:t>
            </a:r>
          </a:p>
          <a:p>
            <a:pPr lvl="1"/>
            <a:r>
              <a:rPr sz="2800"/>
              <a:t>defines valid comparisons without the label–value association</a:t>
            </a:r>
          </a:p>
          <a:p>
            <a:r>
              <a:rPr sz="2800"/>
              <a:t>The proposed pattern gains support when a credible account without that pattern rarely produces the observed representation.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C0CD7-86E3-0577-F968-64B8A807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2ECE1-EB4E-9603-1084-13E59670D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0A8D-1D4E-9FE1-0913-5C7194A5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Evidence Is Contrastive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sz="2800"/>
              <a:t>1. Represent proposed pattern with a declared statistic or object.</a:t>
            </a:r>
          </a:p>
          <a:p>
            <a:pPr>
              <a:buNone/>
            </a:pPr>
            <a:r>
              <a:rPr sz="2800"/>
              <a:t>2. Construct credible model excluding the target structure.</a:t>
            </a:r>
          </a:p>
          <a:p>
            <a:pPr>
              <a:buNone/>
            </a:pPr>
            <a:r>
              <a:rPr sz="2800"/>
              <a:t>3. Generate outcomes expected under that model.</a:t>
            </a:r>
          </a:p>
          <a:p>
            <a:pPr>
              <a:buNone/>
            </a:pPr>
            <a:r>
              <a:rPr sz="2800"/>
              <a:t>4. Compare observed result with those outcomes.</a:t>
            </a:r>
          </a:p>
          <a:p>
            <a:pPr>
              <a:buNone/>
            </a:pPr>
            <a:r>
              <a:rPr sz="2800"/>
              <a:t>5. Judge how difficult the result is for the model.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0288D-8484-4BE2-A79F-96860F4D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8406D-FB55-EBFB-53A2-BCCB5F80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52937-092A-6002-F0E7-C74B8797C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Rare Results Need Bounded 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349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1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4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The comparison supports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...but does not establish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Evidence against the named no-association model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A particular positive mechanism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Taking the observed association seriously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Causality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A conclusion conditional on the representation, model, data, and procedure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Generality, stability, or practical importance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The absence of other credible explanations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40F2F-5AEA-F42C-C8DE-5B0494DC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C3343-DD41-EE79-F273-DAC0E49F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51E32-6605-8495-5B37-4B00D1EA4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Permutation Model Inspection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procedure makes the model and its consequences inspectable.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42A2C-BF77-F026-060D-BD869F67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27DF7-B41B-17D6-3BB9-190C3C2E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2F600-C2A5-56D4-D047-974C9B933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Representation and Null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86661"/>
            <a:ext cx="10515600" cy="868680"/>
          </a:xfrm>
        </p:spPr>
        <p:txBody>
          <a:bodyPr wrap="square" anchor="t">
            <a:noAutofit/>
          </a:bodyPr>
          <a:lstStyle/>
          <a:p>
            <a:r>
              <a:rPr sz="2400" i="1" dirty="0"/>
              <a:t>Notebook:</a:t>
            </a:r>
            <a:r>
              <a:rPr sz="2400" dirty="0"/>
              <a:t> Inspect one reassignment; build the permutation distribution</a:t>
            </a:r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515867"/>
              </p:ext>
            </p:extLst>
          </p:nvPr>
        </p:nvGraphicFramePr>
        <p:xfrm>
          <a:off x="838200" y="1825625"/>
          <a:ext cx="10515600" cy="3373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6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8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5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Analytical object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Declared form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4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Question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How does annual grocery spend differ </a:t>
                      </a:r>
                      <a:r>
                        <a:rPr lang="en-US" sz="1800" dirty="0">
                          <a:solidFill>
                            <a:srgbClr val="212529"/>
                          </a:solidFill>
                        </a:rPr>
                        <a:t>b/w</a:t>
                      </a: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 recorded Retail</a:t>
                      </a:r>
                      <a:r>
                        <a:rPr lang="en-US" sz="1800" dirty="0">
                          <a:solidFill>
                            <a:srgbClr val="212529"/>
                          </a:solidFill>
                        </a:rPr>
                        <a:t>,</a:t>
                      </a: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212529"/>
                          </a:solidFill>
                        </a:rPr>
                        <a:t>Horeca</a:t>
                      </a: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 clients?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4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Representation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Retail median grocery spending minus Horeca median grocery spending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7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Observed result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9,706 source monetary units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4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Null model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Grocery values have no association with the channel labels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4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Null-generating process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Preserve values and 142/298 group sizes while reassigning labels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4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Null distribution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Median differences calculated after repeated valid reassignments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Comparison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Locate the observed statistic among those null differences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902AD-C15D-4F19-C7CB-BEC2BA2CE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82E7F-031B-DD27-0B39-AF8F368B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D001D-9F4D-BDBB-CBD2-834AB7D4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Exchangeability and Valid Reassignment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Exchangeability asks whether the proposed reassignment treats observations as interchangeable in the way the null model permits.</a:t>
            </a:r>
          </a:p>
          <a:p>
            <a:r>
              <a:rPr sz="2800"/>
              <a:t>Under the no-association model, the recorded label–value alignment carries no information about grocery spending.</a:t>
            </a:r>
          </a:p>
          <a:p>
            <a:r>
              <a:rPr sz="2800"/>
              <a:t>The grocery values may therefore be reassigned across the fixed group labels.</a:t>
            </a:r>
          </a:p>
          <a:p>
            <a:r>
              <a:rPr sz="2800"/>
              <a:t>Exchangeability is permission supplied by the model and data design, not by the availability of a shuffle function.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A2D79-A6CA-27FA-1093-753FB0B1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93572-C5FA-759C-B97A-706BA560B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5D415-DDAE-4F84-4929-36F8DD9E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 Constrains Reassignment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63331"/>
            <a:ext cx="10515600" cy="685800"/>
          </a:xfrm>
        </p:spPr>
        <p:txBody>
          <a:bodyPr wrap="square" anchor="t">
            <a:noAutofit/>
          </a:bodyPr>
          <a:lstStyle/>
          <a:p>
            <a:r>
              <a:rPr sz="2400" i="1" dirty="0"/>
              <a:t>Notebook:</a:t>
            </a:r>
            <a:r>
              <a:rPr sz="2400" dirty="0"/>
              <a:t> Assess exchangeability</a:t>
            </a:r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362269"/>
              </p:ext>
            </p:extLst>
          </p:nvPr>
        </p:nvGraphicFramePr>
        <p:xfrm>
          <a:off x="838200" y="1825625"/>
          <a:ext cx="10515600" cy="3113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5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Observational structure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A reassignment may need to...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Independent groups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Move comparable units across group labels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Paired conditions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dirty="0">
                          <a:solidFill>
                            <a:srgbClr val="212529"/>
                          </a:solidFill>
                        </a:rPr>
                        <a:t>Swap conditions within pairs while preserving each pair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Blocked or nested observations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Reassign only within the permitted blocks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Time-ordered observations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dirty="0">
                          <a:solidFill>
                            <a:srgbClr val="212529"/>
                          </a:solidFill>
                        </a:rPr>
                        <a:t>Preserve required dependence</a:t>
                      </a:r>
                      <a:r>
                        <a:rPr lang="en-US" sz="2000" dirty="0">
                          <a:solidFill>
                            <a:srgbClr val="212529"/>
                          </a:solidFill>
                        </a:rPr>
                        <a:t>, not </a:t>
                      </a:r>
                      <a:r>
                        <a:rPr sz="2000" dirty="0">
                          <a:solidFill>
                            <a:srgbClr val="212529"/>
                          </a:solidFill>
                        </a:rPr>
                        <a:t>shuffle all times freely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2F136-28B1-B60D-70A2-3B5C5EC8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1A629-1DC8-62D3-5CC9-A211E3014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B0CF5-2DDF-583E-43B0-9BF65DDA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Null Models Recur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Permutation is one generator, not the definition of a null model.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DDF6B-9FF9-5A04-F6FA-508E7F777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5DF2D-048A-C711-7CE6-978DEA1C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92809-CA72-2569-2817-A9FB350E0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Null Models Depend on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3872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2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1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Later context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Target structure or claim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Scenario-specific null model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Clustering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Discrete or stable group structure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No-cluster-structure model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Association rules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Co-occurrence beyond individual item frequencies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Independent-co-occurrence model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97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Anomaly detection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A case is unusual relative to relevant routine behavior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Routine-behavior model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Time-series analysis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Temporal dependence beyond simpler preserved structure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No-additional-temporal-dependence model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8447-B888-E191-CE88-E73D11AF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47CA2-3157-DB7C-5D52-71C1E81D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2BC20-EF6F-0D9D-CCCE-EE6237DF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Analytical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78284"/>
              </p:ext>
            </p:extLst>
          </p:nvPr>
        </p:nvGraphicFramePr>
        <p:xfrm>
          <a:off x="838200" y="1825625"/>
          <a:ext cx="10515600" cy="4362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7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8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3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Validation question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What it asks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Representation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Does the analytical object preserve the aspects of the question that matter?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Magnitude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What was observed, in which direction, and in what units?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2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Null-model evidence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How often does specified model produce </a:t>
                      </a:r>
                      <a:r>
                        <a:rPr lang="en-US" sz="1800" dirty="0">
                          <a:solidFill>
                            <a:srgbClr val="212529"/>
                          </a:solidFill>
                        </a:rPr>
                        <a:t>results </a:t>
                      </a: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at least this incompatible?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5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Stability or robustness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Does the result persist under reasonable changes in samples, parameters, representations, or periods?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Scope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Which population, process, setting, period can the data support discussing?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Causal interpretation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Does the design identify an intervention or only an association?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2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Operational importance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Would a result of this magnitude change a decision</a:t>
                      </a:r>
                      <a:r>
                        <a:rPr lang="en-US" sz="1800" dirty="0">
                          <a:solidFill>
                            <a:srgbClr val="212529"/>
                          </a:solidFill>
                        </a:rPr>
                        <a:t>? What </a:t>
                      </a: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are </a:t>
                      </a:r>
                      <a:r>
                        <a:rPr lang="en-US" sz="1800" dirty="0">
                          <a:solidFill>
                            <a:srgbClr val="212529"/>
                          </a:solidFill>
                        </a:rPr>
                        <a:t>error </a:t>
                      </a: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costs?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Competing explanations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dirty="0">
                          <a:solidFill>
                            <a:srgbClr val="212529"/>
                          </a:solidFill>
                        </a:rPr>
                        <a:t>Which other models or mechanisms could also produce the observation?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46D88-406C-683C-2FE1-982B32E25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242DA-E7CD-5B8C-B3B8-2A3183F4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5A0A1-2CD0-653B-5848-8B25378C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Bounded Interpretation of Lecture 01b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800"/>
              <a:t>The observed Retail–Horeca median difference is 9,706 source monetary units.</a:t>
            </a:r>
          </a:p>
          <a:p>
            <a:r>
              <a:rPr sz="2800"/>
              <a:t>That result is difficult to reconcile with the no-association model for these recorded clients at the simulation resolution used.</a:t>
            </a:r>
          </a:p>
          <a:p>
            <a:r>
              <a:rPr sz="2800"/>
              <a:t>It supports taking the recorded association seriously under the declared representation and procedure.</a:t>
            </a:r>
          </a:p>
          <a:p>
            <a:r>
              <a:rPr sz="2800"/>
              <a:t>It does not establish that channel causes spending or license undocumented population inference.</a:t>
            </a:r>
          </a:p>
          <a:p>
            <a:r>
              <a:rPr sz="2800"/>
              <a:t>It does not determine whether the difference changes a business decision.</a:t>
            </a:r>
          </a:p>
          <a:p>
            <a:r>
              <a:rPr sz="2800"/>
              <a:t>*</a:t>
            </a:r>
            <a:r>
              <a:rPr sz="2800" i="1"/>
              <a:t>Notebook:</a:t>
            </a:r>
            <a:r>
              <a:rPr sz="2800"/>
              <a:t>* State the evidence conditionally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2FA32-3D0E-8332-9DFE-DE89DD6A3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EC16E-614F-4471-FAB7-C36297DA5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7B1D7-5241-A570-E37E-214D1C7E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for Analytical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What representation stands for the proposed pattern, and what information does it preserve or discard?</a:t>
            </a:r>
          </a:p>
          <a:p>
            <a:r>
              <a:rPr sz="2800"/>
              <a:t>What credible model removes the target pattern while preserving the structure the comparison requires?</a:t>
            </a:r>
          </a:p>
          <a:p>
            <a:r>
              <a:rPr sz="2800"/>
              <a:t>What does the evidence support under those conditions, and which important questions remain unresolved?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2DD0C-2EC3-EDFE-E358-B0F2CAEE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B6888-158B-B38E-666A-81C2A5E4F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8148E-D856-276C-ED59-803E59B70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Permutation and Bootstrap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800"/>
              <a:t>Permutation:</a:t>
            </a:r>
          </a:p>
          <a:p>
            <a:pPr lvl="1"/>
            <a:r>
              <a:rPr sz="2800"/>
              <a:t>How unusual would the observed statistic be if the target relationship were absent?</a:t>
            </a:r>
          </a:p>
          <a:p>
            <a:pPr lvl="1"/>
            <a:r>
              <a:rPr sz="2800"/>
              <a:t>Evaluates compatibility with the stated null model</a:t>
            </a:r>
          </a:p>
          <a:p>
            <a:r>
              <a:rPr sz="2800"/>
              <a:t>Bootstrap:</a:t>
            </a:r>
          </a:p>
          <a:p>
            <a:pPr lvl="1"/>
            <a:r>
              <a:rPr sz="2800"/>
              <a:t>How might the observed statistic vary under a sampling-resampling assumption?</a:t>
            </a:r>
          </a:p>
          <a:p>
            <a:pPr lvl="1"/>
            <a:r>
              <a:rPr sz="2800"/>
              <a:t>Lecture 02b: mechanics, simulation settings, reproducible pseudorandom generation</a:t>
            </a:r>
          </a:p>
          <a:p>
            <a:r>
              <a:rPr sz="2800"/>
              <a:t>*</a:t>
            </a:r>
            <a:r>
              <a:rPr sz="2800" i="1"/>
              <a:t>Notebook:</a:t>
            </a:r>
            <a:r>
              <a:rPr sz="2800"/>
              <a:t>* Next evidence question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B3F3B-4616-9A03-E473-0441CB33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C93E4-DCE7-0303-051E-A1B64C4C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31F74-9F55-DCFD-A89A-59534F35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2063</Words>
  <Application>Microsoft Macintosh PowerPoint</Application>
  <PresentationFormat>Widescreen</PresentationFormat>
  <Paragraphs>340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Consolas</vt:lpstr>
      <vt:lpstr>Office Theme</vt:lpstr>
      <vt:lpstr>INSY 7130</vt:lpstr>
      <vt:lpstr>Permutation and Statistical Reasoning</vt:lpstr>
      <vt:lpstr>Learning Objectives</vt:lpstr>
      <vt:lpstr>Analytical Representations</vt:lpstr>
      <vt:lpstr>Representations in Statistical Analysis</vt:lpstr>
      <vt:lpstr>Statistics Chosen to Answer Questions</vt:lpstr>
      <vt:lpstr>01b Alternative Statistics</vt:lpstr>
      <vt:lpstr>Statistics Support Analytical Claims</vt:lpstr>
      <vt:lpstr>Representations Across Course Methods</vt:lpstr>
      <vt:lpstr>Null Models and Evidence</vt:lpstr>
      <vt:lpstr>Methods Produce Representations</vt:lpstr>
      <vt:lpstr>Components of a Null Comparison</vt:lpstr>
      <vt:lpstr>Structure Under the Null Model</vt:lpstr>
      <vt:lpstr>Evidence Through Competing Models</vt:lpstr>
      <vt:lpstr>Statistical Evidence Is Contrastive</vt:lpstr>
      <vt:lpstr>Rare Results Need Bounded Claims</vt:lpstr>
      <vt:lpstr>Permutation Model Inspection</vt:lpstr>
      <vt:lpstr>Case Representation and Null Process</vt:lpstr>
      <vt:lpstr>Exchangeability and Valid Reassignment</vt:lpstr>
      <vt:lpstr>Data Structure Constrains Reassignment</vt:lpstr>
      <vt:lpstr>Null Models Recur</vt:lpstr>
      <vt:lpstr>Null Models Depend on Context</vt:lpstr>
      <vt:lpstr>Components of Analytical Validation</vt:lpstr>
      <vt:lpstr>Bounded Interpretation of Lecture 01b</vt:lpstr>
      <vt:lpstr>Questions for Analytical Validation</vt:lpstr>
      <vt:lpstr>Permutation and Bootstrap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O'Leary</dc:creator>
  <cp:lastModifiedBy>Dan O'Leary</cp:lastModifiedBy>
  <cp:revision>5</cp:revision>
  <dcterms:created xsi:type="dcterms:W3CDTF">2025-11-04T14:41:23Z</dcterms:created>
  <dcterms:modified xsi:type="dcterms:W3CDTF">2026-08-25T15:11:46Z</dcterms:modified>
</cp:coreProperties>
</file>