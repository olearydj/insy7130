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F5E5A0-55AC-E847-ACDE-4E9872246A32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7F0DFF-671D-0243-ABD9-859C5AC33B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53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</a:t>
            </a:r>
          </a:p>
          <a:p>
            <a:r>
              <a:t>- https://www.oreilly.com/library/view/practical-statistics-for/9781492072935/</a:t>
            </a:r>
          </a:p>
          <a:p>
            <a:r>
              <a:t>- https://jakevdp.github.io/PythonDataScienceHandbook/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</a:t>
            </a:r>
          </a:p>
          <a:p>
            <a:r>
              <a:t>- https://pandas.pydata.org/docs/</a:t>
            </a:r>
          </a:p>
          <a:p>
            <a:r>
              <a:t>- https://numpy.org/doc/stable/</a:t>
            </a:r>
          </a:p>
          <a:p>
            <a:r>
              <a:t>- https://matplotlib.org/stable/</a:t>
            </a:r>
          </a:p>
          <a:p>
            <a:r>
              <a:t>- https://docs.scipy.org/doc/scipy/</a:t>
            </a:r>
          </a:p>
          <a:p>
            <a:r>
              <a:t>- https://scikit-learn.org/stable/</a:t>
            </a:r>
          </a:p>
          <a:p>
            <a:r>
              <a:t>- https://rasbt.github.io/mlxtend/</a:t>
            </a:r>
          </a:p>
          <a:p>
            <a:r>
              <a:t>- https://www.statsmodels.org/stable/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5F47E-70DC-BE81-FF2F-594971B7C1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F0A534-5FA3-8AEC-EF8B-722D8E08DD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377BA0-8635-8156-1D7E-714150620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7A4B5E-1C26-124E-B6D0-6EA9A0EA2A27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F1F9A-569C-9913-973F-1A20A83CA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36EC4-AA6F-D184-8618-361538F70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594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98E78-AD20-61AE-07C9-581A57217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D4561-E452-9CCC-F17D-413081E10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28ECC-D18D-C0CD-A31F-8AAF8007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F914C2-28D1-374B-A00B-F2948A4A63A2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60BF7-D714-1EEA-455C-948D3F502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61281E-835A-408F-869A-ABCB59C97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73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5F47D-B5A2-A2A9-9C1F-D34CBEA99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E607C2-418A-7C3E-889B-C74533D86A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5224D0-6290-39E6-4FC3-10A71E08E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A1379-6E3B-0C41-AA96-DB39A925970C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0A5A2-F395-04FF-16AA-7FD6A4A3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09AD1-4F86-DCF2-E680-413230E81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84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76737-827C-273B-F261-9C2154C2B2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42AEA-C1BF-8ACF-4D78-694944D0D5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C862B1-79B0-21BF-B1F1-AE0A76F3C5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B829CD-553E-A2DE-D010-8A43AD8C4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68D1A-A11B-7849-ABF8-C0267CE746DC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7CA874-C8F2-8F8E-57CD-2153E06A5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47DF01-803D-2671-7E60-BD2A8B396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4319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831F7-1AAE-6F6F-9322-93F4B1951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2A9EF3-F1FD-CB23-0AEA-47156AB0A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C35B6B-BB83-B04C-A47B-ECE0EF4EE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A793-8380-51B9-CFF7-744318B379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2A4C60-2522-0D5C-C23F-0187CAED5B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09C621-5B24-DF2E-89D1-3C18E5C6F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CB532-C614-4A4E-AB18-C10AE7923787}" type="datetime1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D717F-009B-A737-7A82-6932E4572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473D84-9CDA-C121-7F30-5676861D7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635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CA20-39C3-F40C-4572-281D2CB5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D97B0C-B857-63F7-E85F-859208D54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66D4E8-0E2F-7C44-B8F4-1671C91FF951}" type="datetime1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5D32CF-94BA-12FC-B498-E2196DF07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C9F26-3D2D-45C9-5AFE-A62EE9EF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112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951DB1-564F-5E0A-44D7-83BEF6852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B5F20C-12C2-3C45-A373-97ED17C3673A}" type="datetime1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9F1B4-9F80-D1A1-175F-9BAE82A68F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6B0DD-802C-78AC-8412-48CCFD7B3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5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6E260-462B-03FA-173F-32F86D9C1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0F23-E64B-853A-3024-2AE2F4D01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FBF63C-CE95-B386-9430-493B8C821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DC3A3B-9273-F1D3-EB8C-F53E089B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680B0-A087-224F-A411-2E2C3DF11103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914B1-8C95-5D57-16BB-1F0862351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E50967-1BE7-4A0B-53AC-6843F0C32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73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B293B-CEC3-737B-9538-E6D2B618B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754759B-9E9E-568D-0604-93F579E25D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414115-1120-27FE-FBFE-84143F0441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8D17F7-EC85-BE3E-3666-B3EB7F446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324FE-5E0C-E042-B8D7-68C9B78C8A7E}" type="datetime1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67716E-EE1B-36EC-CF7E-7FF1277DF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6C8AED-1ECD-8AF3-54D2-212D945AB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121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5750-6D4C-C52C-9C7D-A311C331B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2AC1EB-ADF8-EBA7-A6BC-FB273C00A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58EA3-5B02-2581-BD37-7F4072103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77FC37-E003-A243-B2B7-19BF43DDBDE2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229F1-852D-B9F5-4C3B-917CF6810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ACA7C0-6DAB-769F-6582-E47C123F1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706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40C5F1-7D4A-8CED-297C-C92ED91B2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A55E8F-7208-6FE9-2D3E-0EF5F364A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500E5-461D-6A31-BF2E-14F823138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646512-B9DA-2D41-B0E8-CD84CAD58A04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85B9D-B212-30E2-0DDA-D1CBCDA60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Dan O'Leary - Industrial &amp; Systems Engineering, Auburn University - INSY 6500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0F1D69-E3F9-B455-8285-89A3FC84F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8564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4C0725-EC61-EA44-844F-586829DC9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70FE7-F892-F382-680D-09F576DC74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D1A73-6FE2-F462-6F77-158AEA4F6E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16B177-E0F5-3C40-8917-372D014E4B76}" type="datetime1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081EA-FD3D-DFEE-6D95-67E5E4A89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814320" y="6356350"/>
            <a:ext cx="65633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Dan O'Leary - Industrial &amp; Systems Engineering, Auburn University - INSY 6500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66E28-9D50-5F5D-A686-37F93270E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5A0CD8-E904-E941-9989-44DD9BC4F0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758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INSY 7130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01b Reproducible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1 - Evidence and Analytical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01b: Make and record a descriptive comparison; refresh a familiar mean test; preview resampling.</a:t>
            </a:r>
          </a:p>
          <a:p>
            <a:pPr/>
            <a:r>
              <a:rPr sz="2800"/>
              <a:t>02a: Ask whether a pattern would be unusual under a stated no-relationship model.</a:t>
            </a:r>
          </a:p>
          <a:p>
            <a:pPr/>
            <a:r>
              <a:rPr sz="2800"/>
              <a:t>02b: Use bootstrap resampling to describe uncertainty in an estimate.</a:t>
            </a:r>
          </a:p>
          <a:p>
            <a:pPr/>
            <a:r>
              <a:rPr sz="2800"/>
              <a:t>Across the unit, keep reproducibility, robustness, validity, and causal claims distinct.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01b - Reproducible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886329"/>
            <a:ext cx="10515600" cy="3290634"/>
          </a:xfrm>
        </p:spPr>
        <p:txBody>
          <a:bodyPr wrap="square" anchor="t">
            <a:noAutofit/>
          </a:bodyPr>
          <a:lstStyle/>
          <a:p>
            <a:pPr/>
            <a:r>
              <a:rPr sz="2800"/>
              <a:t>A pattern or forecast is a starting point, not a conclusion.</a:t>
            </a:r>
          </a:p>
          <a:p>
            <a:pPr/>
            <a:r>
              <a:rPr sz="2800"/>
              <a:t>Need a comparison or reference condition before we decide what the result means.</a:t>
            </a:r>
          </a:p>
          <a:p>
            <a:pPr/>
            <a:r>
              <a:rPr sz="2800"/>
              <a:t>Need evidence that the result is stable enough for its intended use.</a:t>
            </a:r>
          </a:p>
          <a:p>
            <a:pPr/>
            <a:r>
              <a:rPr sz="2800"/>
              <a:t>State a bounded claim, then identify the next check or decision.</a:t>
            </a:r>
          </a:p>
        </p:txBody>
      </p:sp>
      <p:sp>
        <p:nvSpPr>
          <p:cNvPr id="4" name="Code block"/>
          <p:cNvSpPr txBox="1"/>
          <p:nvPr/>
        </p:nvSpPr>
        <p:spPr>
          <a:xfrm>
            <a:off x="838200" y="1825625"/>
            <a:ext cx="10515600" cy="914400"/>
          </a:xfrm>
          <a:prstGeom prst="rect">
            <a:avLst/>
          </a:prstGeom>
          <a:solidFill>
            <a:srgbClr val="212529"/>
          </a:solidFill>
          <a:ln w="12700">
            <a:solidFill>
              <a:srgbClr val="495057"/>
            </a:solidFill>
          </a:ln>
        </p:spPr>
        <p:txBody>
          <a:bodyPr wrap="none" anchor="t" lIns="219456" rIns="219456" tIns="109728" bIns="109728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>
                <a:solidFill>
                  <a:srgbClr val="F8F9FA"/>
                </a:solidFill>
                <a:latin typeface="Consolas"/>
              </a:rPr>
              <a:t>pattern → comparison → evidence → bounded claim → next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 for 01b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 i="1"/>
              <a:t>Practical Statistics for Data Scientists</a:t>
            </a:r>
            <a:r>
              <a:rPr sz="2800"/>
              <a:t> by Peter Bruce, Andrew Bruce, and Peter Gedeck is the closest reference for Unit 1's statistical reasoning, inference, and resampling.</a:t>
            </a:r>
          </a:p>
          <a:p>
            <a:pPr/>
            <a:r>
              <a:rPr sz="2800"/>
              <a:t>Jake VanderPlas's </a:t>
            </a:r>
            <a:r>
              <a:rPr sz="2800" i="1"/>
              <a:t>Python Data Science Handbook</a:t>
            </a:r>
            <a:r>
              <a:rPr sz="2800"/>
              <a:t> is the companion reference for arrays, DataFrames, plotting, and the scientific-Python ecosystem.</a:t>
            </a:r>
          </a:p>
          <a:p>
            <a:pPr/>
            <a:r>
              <a:rPr sz="2800"/>
              <a:t>Use both selectively as references to return to, not as second courses to complete.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Create an Inspectable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Question and scope: What decision, population, or process is under study?</a:t>
            </a:r>
          </a:p>
          <a:p>
            <a:pPr/>
            <a:r>
              <a:rPr sz="2800"/>
              <a:t>Data and provenance: What does a record represent, and where did the data come from?</a:t>
            </a:r>
          </a:p>
          <a:p>
            <a:pPr/>
            <a:r>
              <a:rPr sz="2800"/>
              <a:t>Representation and statistic: Which variables and summary stand for the pattern of interest?</a:t>
            </a:r>
          </a:p>
          <a:p>
            <a:pPr/>
            <a:r>
              <a:rPr sz="2800"/>
              <a:t>Comparison and evidence: Compared with what, and what result changed the conclusion?</a:t>
            </a:r>
          </a:p>
          <a:p>
            <a:pPr/>
            <a:r>
              <a:rPr sz="2800"/>
              <a:t>Limit and next check: What does the result not establish, and what should happen next?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Today's Toolkit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pandas works with tables, selections, and group summaries.</a:t>
            </a:r>
          </a:p>
          <a:p>
            <a:pPr/>
            <a:r>
              <a:rPr sz="2800"/>
              <a:t>NumPy supplies arrays, numerical computation, and reproducible random-number generation.</a:t>
            </a:r>
          </a:p>
          <a:p>
            <a:pPr/>
            <a:r>
              <a:rPr sz="2800"/>
              <a:t>Matplotlib makes visual evidence that can be inspected and discussed.</a:t>
            </a:r>
          </a:p>
          <a:p>
            <a:pPr/>
            <a:r>
              <a:rPr sz="2800"/>
              <a:t>SciPy provides scientific-computing methods; </a:t>
            </a:r>
            <a:r>
              <a:rPr sz="2400">
                <a:solidFill>
                  <a:srgbClr val="BF5701"/>
                </a:solidFill>
                <a:latin typeface="Consolas"/>
              </a:rPr>
              <a:t>scipy.stats</a:t>
            </a:r>
            <a:r>
              <a:rPr sz="2800"/>
              <a:t> includes statistical tests and resampling tools.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Today's Tools Return Throughout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800"/>
              <a:t>Unit 1 begins with a simple comparison and two kinds of resampling evidence.</a:t>
            </a:r>
          </a:p>
          <a:p>
            <a:pPr/>
            <a:r>
              <a:rPr sz="2800"/>
              <a:t>Later units use the same discipline for distances, embeddings, clusters, rules, anomalies, and forecasts.</a:t>
            </a:r>
          </a:p>
          <a:p>
            <a:pPr/>
            <a:r>
              <a:rPr sz="2800"/>
              <a:t>The method changes; the questions persist:</a:t>
            </a:r>
          </a:p>
          <a:p>
            <a:pPr lvl="1"/>
            <a:r>
              <a:rPr sz="2800"/>
              <a:t>Compared with what?</a:t>
            </a:r>
          </a:p>
          <a:p>
            <a:pPr lvl="1"/>
            <a:r>
              <a:rPr sz="2800"/>
              <a:t>Stable under what change?</a:t>
            </a:r>
          </a:p>
          <a:p>
            <a:pPr lvl="1"/>
            <a:r>
              <a:rPr sz="2800"/>
              <a:t>Useful for which decision?</a:t>
            </a:r>
          </a:p>
          <a:p>
            <a:pPr/>
            <a:r>
              <a:rPr sz="2800"/>
              <a:t>Start with the record. Let the evidence determine the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Aptos Display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O'Leary</dc:creator>
  <cp:lastModifiedBy>Dan O'Leary</cp:lastModifiedBy>
  <cp:revision>3</cp:revision>
  <dcterms:created xsi:type="dcterms:W3CDTF">2025-11-04T14:41:23Z</dcterms:created>
  <dcterms:modified xsi:type="dcterms:W3CDTF">2025-11-13T17:09:48Z</dcterms:modified>
</cp:coreProperties>
</file>