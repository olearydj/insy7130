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5E5A0-55AC-E847-ACDE-4E9872246A32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F0DFF-671D-0243-ABD9-859C5AC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3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</a:t>
            </a:r>
          </a:p>
          <a:p>
            <a:r>
              <a:t>- https://jakevdp.github.io/PythonDataScienceHandbook/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- https://pandas.pydata.org/docs/</a:t>
            </a:r>
          </a:p>
          <a:p>
            <a:r>
              <a:t>- https://numpy.org/doc/stable/</a:t>
            </a:r>
          </a:p>
          <a:p>
            <a:r>
              <a:t>- https://matplotlib.org/stable/</a:t>
            </a:r>
          </a:p>
          <a:p>
            <a:r>
              <a:t>- https://docs.scipy.org/doc/scipy/</a:t>
            </a:r>
          </a:p>
          <a:p>
            <a:r>
              <a:t>- https://scikit-learn.org/stable/</a:t>
            </a:r>
          </a:p>
          <a:p>
            <a:r>
              <a:t>- https://rasbt.github.io/mlxtend/</a:t>
            </a:r>
          </a:p>
          <a:p>
            <a:r>
              <a:t>- https://www.statsmodels.org/stable/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F47E-70DC-BE81-FF2F-594971B7C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0A534-5FA3-8AEC-EF8B-722D8E08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7BA0-8635-8156-1D7E-71415062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1F9A-569C-9913-973F-1A20A83C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6EC4-AA6F-D184-8618-361538F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9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8E78-AD20-61AE-07C9-581A5721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4561-E452-9CCC-F17D-413081E1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28ECC-D18D-C0CD-A31F-8AAF8007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0BF7-D714-1EEA-455C-948D3F5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281E-835A-408F-869A-ABCB59C9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F47D-B5A2-A2A9-9C1F-D34CBEA9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07C2-418A-7C3E-889B-C74533D86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24D0-6290-39E6-4FC3-10A71E08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A5A2-F395-04FF-16AA-7FD6A4A3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9AD1-4F86-DCF2-E680-413230E8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6737-827C-273B-F261-9C2154C2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2AEA-C1BF-8ACF-4D78-694944D0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62B1-79B0-21BF-B1F1-AE0A76F3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29CD-553E-A2DE-D010-8A43AD8C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CA874-C8F2-8F8E-57CD-2153E06A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7DF01-803D-2671-7E60-BD2A8B39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31F7-1AAE-6F6F-9322-93F4B195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A9EF3-F1FD-CB23-0AEA-47156AB0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35B6B-BB83-B04C-A47B-ECE0EF4E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A793-8380-51B9-CFF7-744318B37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A4C60-2522-0D5C-C23F-0187CAED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9C621-5B24-DF2E-89D1-3C18E5C6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D717F-009B-A737-7A82-6932E457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73D84-9CDA-C121-7F30-5676861D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CA20-39C3-F40C-4572-281D2CB5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97B0C-B857-63F7-E85F-859208D5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D32CF-94BA-12FC-B498-E2196DF0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C9F26-3D2D-45C9-5AFE-A62EE9EF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1DB1-564F-5E0A-44D7-83BEF685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9F1B4-9F80-D1A1-175F-9BAE82A6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6B0DD-802C-78AC-8412-48CCFD7B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E260-462B-03FA-173F-32F86D9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0F23-E64B-853A-3024-2AE2F4D0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BF63C-CE95-B386-9430-493B8C821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3A3B-9273-F1D3-EB8C-F53E089B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14B1-8C95-5D57-16BB-1F086235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50967-1BE7-4A0B-53AC-6843F0C3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293B-CEC3-737B-9538-E6D2B618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4759B-9E9E-568D-0604-93F579E25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14115-1120-27FE-FBFE-84143F04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D17F7-EC85-BE3E-3666-B3EB7F44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16E-EE1B-36EC-CF7E-7FF1277D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C8AED-1ECD-8AF3-54D2-212D945A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750-6D4C-C52C-9C7D-A311C331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AC1EB-ADF8-EBA7-A6BC-FB273C00A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8EA3-5B02-2581-BD37-7F40721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29F1-852D-B9F5-4C3B-917CF681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A7C0-6DAB-769F-6582-E47C123F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0C5F1-7D4A-8CED-297C-C92ED91B2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55E8F-7208-6FE9-2D3E-0EF5F364A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00E5-461D-6A31-BF2E-14F82313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5B9D-B212-30E2-0DDA-D1CBCDA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1D69-E3F9-B455-8285-89A3FC84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5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0725-EC61-EA44-844F-586829DC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0FE7-F892-F382-680D-09F576DC7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1A73-6FE2-F462-6F77-158AEA4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081EA-FD3D-DFEE-6D95-67E5E4A89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14320" y="6356350"/>
            <a:ext cx="6563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Industrial &amp; Systems Engineering, Auburn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66E28-9D50-5F5D-A686-37F93270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5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INSY 7130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01b Reproducible Discovery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87700-9AF6-6CBB-F90D-6C9E2FED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E3EE9-696D-CBF6-2868-09DA780A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EF0F9-3C96-C535-E401-D5E13E58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Evidence and Analytical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01b: Make and record a descriptive comparison; refresh a familiar mean test; preview resampling.</a:t>
            </a:r>
          </a:p>
          <a:p>
            <a:r>
              <a:rPr sz="2800"/>
              <a:t>02a: Ask whether a pattern would be unusual under a stated no-relationship model.</a:t>
            </a:r>
          </a:p>
          <a:p>
            <a:r>
              <a:rPr sz="2800"/>
              <a:t>02b: Use bootstrap resampling to describe uncertainty in an estimate.</a:t>
            </a:r>
          </a:p>
          <a:p>
            <a:r>
              <a:rPr sz="2800"/>
              <a:t>Across the unit, keep reproducibility, robustness, validity, and causal claims distinct.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7AB1C-93CF-2BD1-C9A2-84822851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67702-4E0E-2BBC-C7CA-F09D1C2D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7BD1B-A305-1CF5-6EF8-4FFE7D0D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01b - Reproducible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6329"/>
            <a:ext cx="10515600" cy="3290634"/>
          </a:xfrm>
        </p:spPr>
        <p:txBody>
          <a:bodyPr wrap="square" anchor="t">
            <a:noAutofit/>
          </a:bodyPr>
          <a:lstStyle/>
          <a:p>
            <a:r>
              <a:rPr sz="2800"/>
              <a:t>A pattern or forecast is a starting point, not a conclusion.</a:t>
            </a:r>
          </a:p>
          <a:p>
            <a:r>
              <a:rPr sz="2800"/>
              <a:t>Need a comparison or reference condition before we decide what the result means.</a:t>
            </a:r>
          </a:p>
          <a:p>
            <a:r>
              <a:rPr sz="2800"/>
              <a:t>Need evidence that the result is stable enough for its intended use.</a:t>
            </a:r>
          </a:p>
          <a:p>
            <a:r>
              <a:rPr sz="2800"/>
              <a:t>State a bounded claim, then identify the next check or decision.</a:t>
            </a:r>
          </a:p>
        </p:txBody>
      </p:sp>
      <p:sp>
        <p:nvSpPr>
          <p:cNvPr id="4" name="Code block"/>
          <p:cNvSpPr txBox="1"/>
          <p:nvPr/>
        </p:nvSpPr>
        <p:spPr>
          <a:xfrm>
            <a:off x="838200" y="1825625"/>
            <a:ext cx="10515600" cy="914400"/>
          </a:xfrm>
          <a:prstGeom prst="rect">
            <a:avLst/>
          </a:prstGeom>
          <a:solidFill>
            <a:srgbClr val="212529"/>
          </a:solidFill>
          <a:ln w="12700">
            <a:solidFill>
              <a:srgbClr val="495057"/>
            </a:solidFill>
          </a:ln>
        </p:spPr>
        <p:txBody>
          <a:bodyPr wrap="none" lIns="219456" tIns="109728" rIns="219456" bIns="109728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F8F9FA"/>
                </a:solidFill>
                <a:latin typeface="Consolas"/>
              </a:rPr>
              <a:t>pattern → comparison → evidence → bounded claim → next decision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232C6-956C-11FC-5362-E1B64517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EF4C8-BBF6-4680-C07C-F44C2CF6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F804B-2D42-4247-17DD-70FCA682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for 01b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Jake VanderPlas's </a:t>
            </a:r>
            <a:r>
              <a:rPr sz="2800" i="1"/>
              <a:t>Python Data Science Handbook</a:t>
            </a:r>
            <a:r>
              <a:rPr sz="2800"/>
              <a:t> is the most useful general reference for this course's Python toolkit.</a:t>
            </a:r>
          </a:p>
          <a:p>
            <a:r>
              <a:rPr sz="2800"/>
              <a:t>Use it to refresh arrays, DataFrames, plotting, and the broad scientific-Python ecosystem.</a:t>
            </a:r>
          </a:p>
          <a:p>
            <a:r>
              <a:rPr sz="2800"/>
              <a:t>Read it selectively: it is a reference to return to, not a second course to complete.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FE04E-5F9E-179B-D443-00CE6745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0BE2B-C9B1-897B-89D9-FBC60B3B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72B0-7CB1-DB41-8BE3-E4B42C07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an Inspectable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/>
              <a:t>Question and scope: What decision, population, or process is under study?</a:t>
            </a:r>
          </a:p>
          <a:p>
            <a:r>
              <a:rPr sz="2800"/>
              <a:t>Data and provenance: What does a record represent, and where did the data come from?</a:t>
            </a:r>
          </a:p>
          <a:p>
            <a:r>
              <a:rPr sz="2800"/>
              <a:t>Representation and statistic: Which variables and summary stand for the pattern of interest?</a:t>
            </a:r>
          </a:p>
          <a:p>
            <a:r>
              <a:rPr sz="2800"/>
              <a:t>Comparison and evidence: Compared with what, and what result changed the conclusion?</a:t>
            </a:r>
          </a:p>
          <a:p>
            <a:r>
              <a:rPr sz="2800"/>
              <a:t>Limit and next check: What does the result not establish, and what should happen next?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3DB3B-3744-558B-5236-58D13768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81CD5-076F-D4AD-3CB9-3C808EB5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C4ED4-CA29-BEE8-D1B1-68FEB7CB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pandas works with tables, selections, and group summaries.</a:t>
            </a:r>
          </a:p>
          <a:p>
            <a:r>
              <a:rPr sz="2800"/>
              <a:t>NumPy supplies arrays, numerical computation, and reproducible random-number generation.</a:t>
            </a:r>
          </a:p>
          <a:p>
            <a:r>
              <a:rPr sz="2800"/>
              <a:t>Matplotlib makes visual evidence that can be inspected and discussed.</a:t>
            </a:r>
          </a:p>
          <a:p>
            <a:r>
              <a:rPr sz="2800"/>
              <a:t>SciPy provides scientific-computing methods; </a:t>
            </a:r>
            <a:r>
              <a:rPr sz="2400">
                <a:solidFill>
                  <a:srgbClr val="BF5701"/>
                </a:solidFill>
                <a:latin typeface="Consolas"/>
              </a:rPr>
              <a:t>scipy.stats</a:t>
            </a:r>
            <a:r>
              <a:rPr sz="2800"/>
              <a:t> includes statistical tests and resampling tools.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F506-B515-67CE-4686-18E1A331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B648-7297-CDA4-8EAC-880AB51B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E6F6-4C12-3589-6712-8F9A7067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Tools Return Throughout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Unit 1 begins with a simple comparison and two kinds of resampling evidence.</a:t>
            </a:r>
          </a:p>
          <a:p>
            <a:r>
              <a:rPr sz="2800"/>
              <a:t>Later units use the same discipline for distances, embeddings, clusters, rules, anomalies, and forecasts.</a:t>
            </a:r>
          </a:p>
          <a:p>
            <a:r>
              <a:rPr sz="2800"/>
              <a:t>The method changes; the questions persist:</a:t>
            </a:r>
          </a:p>
          <a:p>
            <a:pPr lvl="1"/>
            <a:r>
              <a:rPr sz="2800"/>
              <a:t>Compared with what?</a:t>
            </a:r>
          </a:p>
          <a:p>
            <a:pPr lvl="1"/>
            <a:r>
              <a:rPr sz="2800"/>
              <a:t>Stable under what change?</a:t>
            </a:r>
          </a:p>
          <a:p>
            <a:pPr lvl="1"/>
            <a:r>
              <a:rPr sz="2800"/>
              <a:t>Useful for which decision?</a:t>
            </a:r>
          </a:p>
          <a:p>
            <a:r>
              <a:rPr sz="2800"/>
              <a:t>Start with the record. Let the evidence determine the claim.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7E317-098C-BCA7-84D3-01FD0354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7130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8D4ED-8D5C-430A-7A3E-052B6C3A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79319-3BCB-E09A-9E6E-42E2C5C5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567</Words>
  <Application>Microsoft Macintosh PowerPoint</Application>
  <PresentationFormat>Widescreen</PresentationFormat>
  <Paragraphs>67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Office Theme</vt:lpstr>
      <vt:lpstr>INSY 7130</vt:lpstr>
      <vt:lpstr>Unit 1 - Evidence and Analytical Validation</vt:lpstr>
      <vt:lpstr>01b - Reproducible Discovery</vt:lpstr>
      <vt:lpstr>Reference for 01b</vt:lpstr>
      <vt:lpstr>Create an Inspectable Record</vt:lpstr>
      <vt:lpstr>Today's Toolkit</vt:lpstr>
      <vt:lpstr>Today's Tools Return Throughout the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O'Leary</dc:creator>
  <cp:lastModifiedBy>Dan O'Leary</cp:lastModifiedBy>
  <cp:revision>4</cp:revision>
  <dcterms:created xsi:type="dcterms:W3CDTF">2025-11-04T14:41:23Z</dcterms:created>
  <dcterms:modified xsi:type="dcterms:W3CDTF">2026-08-20T15:09:35Z</dcterms:modified>
</cp:coreProperties>
</file>