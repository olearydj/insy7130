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5E5A0-55AC-E847-ACDE-4E9872246A3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F0DFF-671D-0243-ABD9-859C5AC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3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Driving question of 7130:</a:t>
            </a:r>
          </a:p>
          <a:p>
            <a:r>
              <a:t>Can we find structure in observations that help us make a decision, and can we trust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 of 7130 can be as concrete as regression / classification</a:t>
            </a:r>
          </a:p>
          <a:p>
            <a:r>
              <a:t>Validation requirements vary by claim</a:t>
            </a:r>
          </a:p>
          <a:p>
            <a:r>
              <a:t>But the validation process is less cut and dry</a:t>
            </a:r>
          </a:p>
          <a:p>
            <a:r>
              <a:t>Evidence is different - unsupervised, often no outcome against which to test predictions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Scikit-learn normally uses k-means++ to choose starting centers; it still involves randomness.</a:t>
            </a:r>
          </a:p>
          <a:p>
            <a:r>
              <a:t>Use a two-dimensional picture to show one assignment-and-move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depend on how we represent observations and measure closeness.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groups must capture meaningful distinction, suggest a different response, hold up to scrutiny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F47E-70DC-BE81-FF2F-594971B7C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0A534-5FA3-8AEC-EF8B-722D8E08D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7BA0-8635-8156-1D7E-71415062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4B5E-1C26-124E-B6D0-6EA9A0EA2A27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1F9A-569C-9913-973F-1A20A83C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6EC4-AA6F-D184-8618-361538F7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9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8E78-AD20-61AE-07C9-581A5721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4561-E452-9CCC-F17D-413081E1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28ECC-D18D-C0CD-A31F-8AAF8007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14C2-28D1-374B-A00B-F2948A4A63A2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0BF7-D714-1EEA-455C-948D3F50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281E-835A-408F-869A-ABCB59C9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7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F47D-B5A2-A2A9-9C1F-D34CBEA9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07C2-418A-7C3E-889B-C74533D86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24D0-6290-39E6-4FC3-10A71E08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1379-6E3B-0C41-AA96-DB39A925970C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0A5A2-F395-04FF-16AA-7FD6A4A3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9AD1-4F86-DCF2-E680-413230E8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6737-827C-273B-F261-9C2154C2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2AEA-C1BF-8ACF-4D78-694944D0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62B1-79B0-21BF-B1F1-AE0A76F3C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829CD-553E-A2DE-D010-8A43AD8C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8D1A-A11B-7849-ABF8-C0267CE746DC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CA874-C8F2-8F8E-57CD-2153E06A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7DF01-803D-2671-7E60-BD2A8B39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31F7-1AAE-6F6F-9322-93F4B195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A9EF3-F1FD-CB23-0AEA-47156AB0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35B6B-BB83-B04C-A47B-ECE0EF4EE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A793-8380-51B9-CFF7-744318B37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A4C60-2522-0D5C-C23F-0187CAED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9C621-5B24-DF2E-89D1-3C18E5C6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B532-C614-4A4E-AB18-C10AE7923787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D717F-009B-A737-7A82-6932E457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73D84-9CDA-C121-7F30-5676861D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3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CA20-39C3-F40C-4572-281D2CB5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97B0C-B857-63F7-E85F-859208D5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D4E8-0E2F-7C44-B8F4-1671C91FF951}" type="datetime1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D32CF-94BA-12FC-B498-E2196DF0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C9F26-3D2D-45C9-5AFE-A62EE9EF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1DB1-564F-5E0A-44D7-83BEF685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F20C-12C2-3C45-A373-97ED17C3673A}" type="datetime1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9F1B4-9F80-D1A1-175F-9BAE82A6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6B0DD-802C-78AC-8412-48CCFD7B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E260-462B-03FA-173F-32F86D9C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0F23-E64B-853A-3024-2AE2F4D0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BF63C-CE95-B386-9430-493B8C821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3A3B-9273-F1D3-EB8C-F53E089B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680B0-A087-224F-A411-2E2C3DF11103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14B1-8C95-5D57-16BB-1F086235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50967-1BE7-4A0B-53AC-6843F0C3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293B-CEC3-737B-9538-E6D2B618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4759B-9E9E-568D-0604-93F579E25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14115-1120-27FE-FBFE-84143F04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D17F7-EC85-BE3E-3666-B3EB7F44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24FE-5E0C-E042-B8D7-68C9B78C8A7E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16E-EE1B-36EC-CF7E-7FF1277D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C8AED-1ECD-8AF3-54D2-212D945A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2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5750-6D4C-C52C-9C7D-A311C331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AC1EB-ADF8-EBA7-A6BC-FB273C00A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58EA3-5B02-2581-BD37-7F407210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FC37-E003-A243-B2B7-19BF43DDBDE2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29F1-852D-B9F5-4C3B-917CF681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A7C0-6DAB-769F-6582-E47C123F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0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0C5F1-7D4A-8CED-297C-C92ED91B2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55E8F-7208-6FE9-2D3E-0EF5F364A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00E5-461D-6A31-BF2E-14F82313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6512-B9DA-2D41-B0E8-CD84CAD58A04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85B9D-B212-30E2-0DDA-D1CBCDA6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1D69-E3F9-B455-8285-89A3FC84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564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C0725-EC61-EA44-844F-586829DC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0FE7-F892-F382-680D-09F576DC7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1A73-6FE2-F462-6F77-158AEA4F6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6B177-E0F5-3C40-8917-372D014E4B76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081EA-FD3D-DFEE-6D95-67E5E4A89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14320" y="6356350"/>
            <a:ext cx="6563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66E28-9D50-5F5D-A686-37F93270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58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INSY 7130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Clustering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Zoom 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a collection of gadgets, tools for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7120 Intro to Supervised Learning</a:t>
            </a:r>
          </a:p>
          <a:p>
            <a:pPr lvl="1"/>
            <a:r>
              <a:rPr sz="2800"/>
              <a:t>predicting numbers or labels</a:t>
            </a:r>
          </a:p>
          <a:p>
            <a:pPr lvl="1"/>
            <a:r>
              <a:rPr sz="2800"/>
              <a:t>clear application / chain of thought</a:t>
            </a:r>
          </a:p>
          <a:p>
            <a:pPr lvl="1"/>
            <a:r>
              <a:rPr sz="2800"/>
              <a:t>if you want to X, use Y</a:t>
            </a:r>
          </a:p>
          <a:p>
            <a:pPr/>
            <a:r>
              <a:rPr sz="2800"/>
              <a:t>7130 Pattern Discovery and Time Series Analysis</a:t>
            </a:r>
          </a:p>
          <a:p>
            <a:pPr lvl="1"/>
            <a:r>
              <a:rPr sz="2800"/>
              <a:t>finding patterns and validating them</a:t>
            </a:r>
          </a:p>
          <a:p>
            <a:pPr lvl="1"/>
            <a:r>
              <a:rPr sz="2800"/>
              <a:t>more exploratory by nature</a:t>
            </a:r>
          </a:p>
          <a:p>
            <a:pPr lvl="1"/>
            <a:r>
              <a:rPr sz="2800"/>
              <a:t>risks becoming a box of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Answers &gt;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Tools are the means to an end</a:t>
            </a:r>
          </a:p>
          <a:p>
            <a:pPr/>
            <a:r>
              <a:rPr sz="2800"/>
              <a:t>Utility demands a connection to questions</a:t>
            </a:r>
          </a:p>
          <a:p>
            <a:pPr/>
            <a:r>
              <a:rPr sz="2800"/>
              <a:t>"Why?" is a far more important question than "How?"</a:t>
            </a:r>
          </a:p>
          <a:p>
            <a:pPr lvl="1"/>
            <a:r>
              <a:rPr sz="2800"/>
              <a:t>what problem are we trying to resolve?</a:t>
            </a:r>
          </a:p>
          <a:p>
            <a:pPr lvl="1"/>
            <a:r>
              <a:rPr sz="2800"/>
              <a:t>what would we do differently if we understood it?</a:t>
            </a:r>
          </a:p>
          <a:p>
            <a:pPr lvl="1"/>
            <a:r>
              <a:rPr sz="2800"/>
              <a:t>who needs an answer?</a:t>
            </a:r>
          </a:p>
          <a:p>
            <a:pPr lvl="1"/>
            <a:r>
              <a:rPr sz="2800"/>
              <a:t>what is currently uncertain, and why?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Thought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z="2800"/>
              <a:t>1. </a:t>
            </a:r>
            <a:r>
              <a:rPr sz="2800"/>
              <a:t>What uncertainty matters to someone, and why?</a:t>
            </a:r>
          </a:p>
          <a:p>
            <a:pPr>
              <a:buNone/>
            </a:pPr>
            <a:r>
              <a:rPr sz="2800"/>
              <a:t>2. </a:t>
            </a:r>
            <a:r>
              <a:rPr sz="2800"/>
              <a:t>What could we learn from the data that might contribute to resolving it?</a:t>
            </a:r>
          </a:p>
          <a:p>
            <a:pPr>
              <a:buNone/>
            </a:pPr>
            <a:r>
              <a:rPr sz="2800"/>
              <a:t>3. </a:t>
            </a:r>
            <a:r>
              <a:rPr sz="2800"/>
              <a:t>What pattern(s) apply: similar cases, groups, co-occurrences, exceptions, or change over time?</a:t>
            </a:r>
          </a:p>
          <a:p>
            <a:pPr>
              <a:buNone/>
            </a:pPr>
            <a:r>
              <a:rPr sz="2800"/>
              <a:t>4. </a:t>
            </a:r>
            <a:r>
              <a:rPr sz="2800"/>
              <a:t>What tool could reveal that pattern, and what choices shape its result?</a:t>
            </a:r>
          </a:p>
          <a:p>
            <a:pPr>
              <a:buNone/>
            </a:pPr>
            <a:r>
              <a:rPr sz="2800"/>
              <a:t>5. </a:t>
            </a:r>
            <a:r>
              <a:rPr sz="2800"/>
              <a:t>Does the finding survive credible challenges, and does it actually help with the original problem?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7130 Tool 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419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6180"/>
                <a:gridCol w="4899420"/>
              </a:tblGrid>
              <a:tr h="62179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When you need to…</a:t>
                      </a:r>
                    </a:p>
                  </a:txBody>
                  <a:tcPr marL="91440" marR="91440" marT="54864" marB="54864" anchor="ctr">
                    <a:solidFill>
                      <a:srgbClr val="BF5701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Start with…</a:t>
                      </a:r>
                    </a:p>
                  </a:txBody>
                  <a:tcPr marL="91440" marR="91440" marT="54864" marB="54864" anchor="ctr">
                    <a:solidFill>
                      <a:srgbClr val="BF5701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Find past cases that might help us handle a new one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Similarity and nearest neighbors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Identify groups of observations worth separate treatment</a:t>
                      </a:r>
                    </a:p>
                  </a:txBody>
                  <a:tcPr marL="91440" marR="91440" marT="54864" marB="54864" anchor="ctr">
                    <a:solidFill>
                      <a:srgbClr val="F8F9FA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Clustering</a:t>
                      </a:r>
                    </a:p>
                  </a:txBody>
                  <a:tcPr marL="91440" marR="91440" marT="54864" marB="54864" anchor="ctr">
                    <a:solidFill>
                      <a:srgbClr val="F8F9FA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Find combinations of events or conditions worth investigating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Association analysis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Prioritize cases that depart from normal practice</a:t>
                      </a:r>
                    </a:p>
                  </a:txBody>
                  <a:tcPr marL="91440" marR="91440" marT="54864" marB="54864" anchor="ctr">
                    <a:solidFill>
                      <a:srgbClr val="F8F9FA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Anomaly detection</a:t>
                      </a:r>
                    </a:p>
                  </a:txBody>
                  <a:tcPr marL="91440" marR="91440" marT="54864" marB="54864" anchor="ctr">
                    <a:solidFill>
                      <a:srgbClr val="F8F9FA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Plan for future demand or detect change in an ordered process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Time-series analysis and forecasting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Far...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Distance, scaling, PCA, embeddings</a:t>
            </a:r>
          </a:p>
          <a:p>
            <a:pPr lvl="1"/>
            <a:r>
              <a:rPr sz="2800"/>
              <a:t>create / refine how we represent the data</a:t>
            </a:r>
          </a:p>
          <a:p>
            <a:pPr lvl="1"/>
            <a:r>
              <a:rPr sz="2800"/>
              <a:t>shape the comparisons to follow</a:t>
            </a:r>
          </a:p>
          <a:p>
            <a:pPr/>
            <a:r>
              <a:rPr sz="2800"/>
              <a:t>Inference, resampling, sensitivity checks</a:t>
            </a:r>
          </a:p>
          <a:p>
            <a:pPr lvl="1"/>
            <a:r>
              <a:rPr sz="2800"/>
              <a:t>test the claim(s) we want to make from the result</a:t>
            </a:r>
          </a:p>
          <a:p>
            <a:pPr lvl="1"/>
            <a:r>
              <a:rPr sz="2800"/>
              <a:t>evidence toward, not proof 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2 - Clustering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groups exist in the data that are worth separate treatment?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Make 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A service team wants to plan support for its customers</a:t>
            </a:r>
          </a:p>
          <a:p>
            <a:pPr/>
            <a:r>
              <a:rPr sz="2800"/>
              <a:t>For each customer, we know:</a:t>
            </a:r>
          </a:p>
          <a:p>
            <a:pPr lvl="1"/>
            <a:r>
              <a:rPr sz="2800"/>
              <a:t>how many requests they made last term</a:t>
            </a:r>
          </a:p>
          <a:p>
            <a:pPr lvl="1"/>
            <a:r>
              <a:rPr sz="2800"/>
              <a:t>how long their requests took, on average</a:t>
            </a:r>
          </a:p>
          <a:p>
            <a:pPr/>
            <a:r>
              <a:rPr sz="2800"/>
              <a:t>Do different patterns of use suggest different support needs?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Neighbors !=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Neighbors: Given a customer, which past customers are most similar?</a:t>
            </a:r>
          </a:p>
          <a:p>
            <a:pPr lvl="1"/>
            <a:r>
              <a:rPr sz="2800"/>
              <a:t>Gives us cases similar to a referent</a:t>
            </a:r>
          </a:p>
          <a:p>
            <a:pPr/>
            <a:r>
              <a:rPr sz="2800"/>
              <a:t>Clustering: Across all customers, would recurring profiles help us plan support?</a:t>
            </a:r>
          </a:p>
          <a:p>
            <a:pPr lvl="1"/>
            <a:r>
              <a:rPr sz="2800"/>
              <a:t>Proposes a way to organize the whole set</a:t>
            </a:r>
          </a:p>
          <a:p>
            <a:pPr lvl="1"/>
            <a:r>
              <a:rPr sz="2800"/>
              <a:t>Doesn't need a referent; still driven by choices about the model</a:t>
            </a:r>
          </a:p>
          <a:p>
            <a:pPr lvl="1"/>
            <a:r>
              <a:rPr sz="2800"/>
              <a:t>Existence of clusters != evidence that they are "real"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Might We Use the 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Suppose we find customers who make:</a:t>
            </a:r>
          </a:p>
          <a:p>
            <a:pPr lvl="1"/>
            <a:r>
              <a:rPr sz="2800"/>
              <a:t>few, short requests</a:t>
            </a:r>
          </a:p>
          <a:p>
            <a:pPr lvl="1"/>
            <a:r>
              <a:rPr sz="2800"/>
              <a:t>frequent, short requests</a:t>
            </a:r>
          </a:p>
          <a:p>
            <a:pPr lvl="1"/>
            <a:r>
              <a:rPr sz="2800"/>
              <a:t>fewer, time-consuming requests</a:t>
            </a:r>
          </a:p>
          <a:p>
            <a:pPr/>
            <a:r>
              <a:rPr sz="2800"/>
              <a:t>These profiles might suggest different ways to allocate support</a:t>
            </a:r>
          </a:p>
          <a:p>
            <a:pPr/>
            <a:r>
              <a:rPr sz="2800"/>
              <a:t>Do the distinctions hold up and matter to the service team?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z="2800"/>
              <a:t>1. </a:t>
            </a:r>
            <a:r>
              <a:rPr sz="2800"/>
              <a:t>Choose the number of groups, K</a:t>
            </a:r>
          </a:p>
          <a:p>
            <a:pPr>
              <a:buNone/>
            </a:pPr>
            <a:r>
              <a:rPr sz="2800"/>
              <a:t>2. </a:t>
            </a:r>
            <a:r>
              <a:rPr sz="2800"/>
              <a:t>Start with K centers, often chosen through a randomized procedure</a:t>
            </a:r>
          </a:p>
          <a:p>
            <a:pPr>
              <a:buNone/>
            </a:pPr>
            <a:r>
              <a:rPr sz="2800"/>
              <a:t>3. </a:t>
            </a:r>
            <a:r>
              <a:rPr sz="2800"/>
              <a:t>Assign each observation to its nearest center</a:t>
            </a:r>
          </a:p>
          <a:p>
            <a:pPr lvl="1"/>
            <a:r>
              <a:rPr sz="2800"/>
              <a:t>"nearest" depends on features, scales</a:t>
            </a:r>
          </a:p>
          <a:p>
            <a:pPr>
              <a:buNone/>
            </a:pPr>
            <a:r>
              <a:rPr sz="2800"/>
              <a:t>4. </a:t>
            </a:r>
            <a:r>
              <a:rPr sz="2800"/>
              <a:t>Move each center to the mean of its assigned observations</a:t>
            </a:r>
          </a:p>
          <a:p>
            <a:pPr>
              <a:buNone/>
            </a:pPr>
            <a:r>
              <a:rPr sz="2800"/>
              <a:t>5. </a:t>
            </a:r>
            <a:r>
              <a:rPr sz="2800"/>
              <a:t>Repeat steps 3–4 until the assignments settle</a:t>
            </a:r>
          </a:p>
          <a:p>
            <a:pPr>
              <a:buNone/>
            </a:pPr>
            <a:r>
              <a:rPr sz="2800"/>
              <a:t>6. </a:t>
            </a:r>
            <a:r>
              <a:rPr sz="2800"/>
              <a:t>K and starting points both influence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Nearest Neighbors vs.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276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9357"/>
                <a:gridCol w="3773436"/>
                <a:gridCol w="3622807"/>
              </a:tblGrid>
              <a:tr h="62179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40" marR="91440" marT="54864" marB="54864" anchor="ctr">
                    <a:solidFill>
                      <a:srgbClr val="BF5701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Nearest neighbors</a:t>
                      </a:r>
                    </a:p>
                  </a:txBody>
                  <a:tcPr marL="91440" marR="91440" marT="54864" marB="54864" anchor="ctr">
                    <a:solidFill>
                      <a:srgbClr val="BF5701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K-means</a:t>
                      </a:r>
                    </a:p>
                  </a:txBody>
                  <a:tcPr marL="91440" marR="91440" marT="54864" marB="54864" anchor="ctr">
                    <a:solidFill>
                      <a:srgbClr val="BF5701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Starting question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Which past cases resemble this case?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How might we group these cases?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What k counts</a:t>
                      </a:r>
                    </a:p>
                  </a:txBody>
                  <a:tcPr marL="91440" marR="91440" marT="54864" marB="54864" anchor="ctr">
                    <a:solidFill>
                      <a:srgbClr val="F8F9FA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Neighbors considered for a case</a:t>
                      </a:r>
                    </a:p>
                  </a:txBody>
                  <a:tcPr marL="91440" marR="91440" marT="54864" marB="54864" anchor="ctr">
                    <a:solidFill>
                      <a:srgbClr val="F8F9FA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Groups to create in the dataset</a:t>
                      </a:r>
                    </a:p>
                  </a:txBody>
                  <a:tcPr marL="91440" marR="91440" marT="54864" marB="54864" anchor="ctr">
                    <a:solidFill>
                      <a:srgbClr val="F8F9FA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  <a:tr h="71526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Immediate result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Nearby observations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Group assignments and centers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  <a:lnL w="9525">
                      <a:solidFill>
                        <a:srgbClr val="CED4DA"/>
                      </a:solidFill>
                      <a:prstDash val="solid"/>
                    </a:lnL>
                    <a:lnR w="9525">
                      <a:solidFill>
                        <a:srgbClr val="CED4DA"/>
                      </a:solidFill>
                      <a:prstDash val="solid"/>
                    </a:lnR>
                    <a:lnT w="9525">
                      <a:solidFill>
                        <a:srgbClr val="CED4DA"/>
                      </a:solidFill>
                      <a:prstDash val="solid"/>
                    </a:lnT>
                    <a:lnB w="9525">
                      <a:solidFill>
                        <a:srgbClr val="CED4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 K-Means Cannot Answer for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How many groups should we ask it to find?</a:t>
            </a:r>
          </a:p>
          <a:p>
            <a:pPr/>
            <a:r>
              <a:rPr sz="2800"/>
              <a:t>K = 2 might distinguish low and high service use</a:t>
            </a:r>
          </a:p>
          <a:p>
            <a:pPr/>
            <a:r>
              <a:rPr sz="2800"/>
              <a:t>K = 3 might separate frequent, short requests from fewer, long requests</a:t>
            </a:r>
          </a:p>
          <a:p>
            <a:pPr/>
            <a:r>
              <a:rPr sz="2800"/>
              <a:t>K-means will return groups for either choice</a:t>
            </a:r>
          </a:p>
          <a:p>
            <a:pPr/>
            <a:r>
              <a:rPr sz="2800"/>
              <a:t>What would the third group have to show to earn separate attention?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the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Plot two characteristics of the customers</a:t>
            </a:r>
          </a:p>
          <a:p>
            <a:pPr/>
            <a:r>
              <a:rPr sz="2800"/>
              <a:t>Fit K-means with K = 2 and K = 3</a:t>
            </a:r>
          </a:p>
          <a:p>
            <a:pPr/>
            <a:r>
              <a:rPr sz="2800"/>
              <a:t>Compare the assignments and group profiles</a:t>
            </a:r>
          </a:p>
          <a:p>
            <a:pPr/>
            <a:r>
              <a:rPr sz="2800"/>
              <a:t>Which result, if either, gives the team a useful distinction?</a:t>
            </a:r>
          </a:p>
          <a:p>
            <a:pPr/>
            <a:r>
              <a:rPr sz="2800"/>
              <a:t>What would we need to check before acting on 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O'Leary</dc:creator>
  <cp:lastModifiedBy>Dan O'Leary</cp:lastModifiedBy>
  <cp:revision>3</cp:revision>
  <dcterms:created xsi:type="dcterms:W3CDTF">2025-11-04T14:41:23Z</dcterms:created>
  <dcterms:modified xsi:type="dcterms:W3CDTF">2025-11-13T17:09:48Z</dcterms:modified>
</cp:coreProperties>
</file>