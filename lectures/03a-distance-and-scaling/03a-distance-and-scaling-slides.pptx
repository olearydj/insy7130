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30"/>
  </p:normalViewPr>
  <p:slideViewPr>
    <p:cSldViewPr snapToGrid="0">
      <p:cViewPr varScale="1">
        <p:scale>
          <a:sx n="98" d="100"/>
          <a:sy n="98" d="100"/>
        </p:scale>
        <p:origin x="232" y="2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5E5A0-55AC-E847-ACDE-4E9872246A32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F0DFF-671D-0243-ABD9-859C5AC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3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https://www-users.cse.umn.edu/~kumar001/dmbook/index.php</a:t>
            </a:r>
          </a:p>
          <a:p>
            <a:r>
              <a:t>- https://dataminingbook.info/book_html/</a:t>
            </a:r>
          </a:p>
          <a:p>
            <a:r>
              <a:t>- https://www.oreilly.com/library/view/machine-learning-for/9781119835197/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Order does not matter if every vector uses the same order; inclusion and numerical treatment do matter.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Sections 2.3–2.4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Distance is between represented records, not between the feature names themselves.</a:t>
            </a:r>
          </a:p>
          <a:p>
            <a:r>
              <a:t>- A distance matrix inherits both the representation and the measure; it is not representation-free.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Sections 2.4.3 and 2.4.10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Many valid distance measures exist because different discrepancy patterns matter for different purposes.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 2.4.3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Use $q$ for the exponent so $m$ can remain the feature count.</a:t>
            </a:r>
          </a:p>
          <a:p>
            <a:r>
              <a:t>- Optional only if asked: the limiting maximum-gap rule is Chebyshev distance.</a:t>
            </a:r>
          </a:p>
          <a:p>
            <a:endParaRPr/>
          </a:p>
          <a:p>
            <a:r>
              <a:t>[Sources]</a:t>
            </a:r>
          </a:p>
          <a:p>
            <a:r>
              <a:t>- https://link.springer.com/book/10.1007/978-3-319-14142-8 - Chapter 3, Sections 3.1 and 3.2.1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https://www-users.cse.umn.edu/~kumar001/dmbook/index.php - 2nd ed., Section 2.4.3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“Manhattan” and “city block” name the same rule in the references and SciPy.</a:t>
            </a:r>
          </a:p>
          <a:p>
            <a:r>
              <a:t>- Avoid the shortcut “Manhattan is robust to outliers.” It still uses every full gap and remains scale-sensitive.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 2.4.3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Compare rankings, not the raw magnitudes of distances from different metrics.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 2.4.3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These are operational interpretations, not universal meanings attached to metric names.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 2.4.10</a:t>
            </a:r>
          </a:p>
          <a:p>
            <a:r>
              <a:t>- https://link.springer.com/book/10.1007/978-3-319-14142-8 - Chapter 3, Section 3.2.1.1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standalone hypothetical example is separate from the notebook dataset.</a:t>
            </a:r>
          </a:p>
          <a:p>
            <a:r>
              <a:t>- The example deliberately exposes the problem of combining unmatched raw units.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lesson is not “raw units are always wrong.” Ask whether their implied influence is intended.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creates the need for scaling without implying that raw units are always wrong.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An affine transformation preserves straight lines; a positive multiplier also preserves ordering.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A negative multiplier also reverses coordinate direction; distance retains only its magnitude.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Use the same fitted means and standard deviations for any later record that must remain comparable.</a:t>
            </a:r>
          </a:p>
          <a:p>
            <a:endParaRPr/>
          </a:p>
          <a:p>
            <a:r>
              <a:t>[Sources]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Standardization answers “How large is this gap relative to the feature's observed variation?” It does not answer “How much should this feature matter?”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Sections 2.4.9–2.4.10</a:t>
            </a:r>
          </a:p>
          <a:p>
            <a:r>
              <a:t>- https://scikit-learn.org/stable/modules/preprocessing.html#standardization-or-mean-removal-and-variance-scaling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For $L_2$, the inside-the-sum weight is ${1}/{s_j^2}$; for $L_1$, it is ${1}/{s_j}$.</a:t>
            </a:r>
          </a:p>
          <a:p>
            <a:r>
              <a:t>- If every feature used one common scale, all distances would change by the same factor and rankings would remain unchanged.</a:t>
            </a:r>
          </a:p>
          <a:p>
            <a:endParaRPr/>
          </a:p>
          <a:p>
            <a:r>
              <a:t>[Sources]</a:t>
            </a:r>
          </a:p>
          <a:p>
            <a:r>
              <a:t>- https://link.springer.com/book/10.1007/978-3-319-14142-8 - Chapter 3, Section 3.2.1.1</a:t>
            </a:r>
          </a:p>
          <a:p>
            <a:r>
              <a:t>- https://dataminingbook.info/book_html/ - 2nd ed., Section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A log transform may express relative or multiplicative discrepancy; skew alone does not make it correct.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 2.3.7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Not every encoding or interaction is redundant. Inspect whether multiple coordinates allow one underlying idea to dominate the comparison.</a:t>
            </a:r>
          </a:p>
          <a:p>
            <a:endParaRPr/>
          </a:p>
          <a:p>
            <a:r>
              <a:t>[Sources]</a:t>
            </a:r>
          </a:p>
          <a:p>
            <a:r>
              <a:t>- https://www-users.cse.umn.edu/~kumar001/dmbook/index.php - 2nd ed., Sections 2.4.9–2.4.10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Historical 22-utility dataset; use it to test numerical sensitivity, not current business suitability.</a:t>
            </a:r>
          </a:p>
          <a:p>
            <a:endParaRPr/>
          </a:p>
          <a:p>
            <a:r>
              <a:t>[Sources]</a:t>
            </a:r>
          </a:p>
          <a:p>
            <a:r>
              <a:t>- https://www.oreilly.com/library/view/machine-learning-for/9781119835197/ - 2nd ed., Chapter 16, Section 16.2</a:t>
            </a:r>
          </a:p>
          <a:p>
            <a:r>
              <a:t>- https://github.com/gedeck/dmba/tree/9b29f4dac91fc079113db12b2b9012628d2d0fc8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Direct students to the notebook section **Compare the peer results**.</a:t>
            </a:r>
          </a:p>
          <a:p>
            <a:r>
              <a:t>- Do not preview the peer identities. The notebook owns the executable evidence.</a:t>
            </a:r>
          </a:p>
          <a:p>
            <a:r>
              <a:t>- Keep the final two-sentence sensitivity record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displayed distances are Hawaiian 1.548 and New England 1.552 after rounding.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https://github.com/gedeck/dmba/tree/9b29f4dac91fc079113db12b2b9012628d2d0fc8 - source data; calculations use the declared five-feature procedures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Invite one or two assigned-anchor reports before interpreting the all-record counts.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https://github.com/gedeck/dmba/tree/9b29f4dac91fc079113db12b2b9012628d2d0fc8 - source data; calculations use the declared five-feature procedures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Repair “Hawaiian is the true peer”: it is nearest under one declared geometry and nearly tied with New England.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F47E-70DC-BE81-FF2F-594971B7C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0A534-5FA3-8AEC-EF8B-722D8E08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7BA0-8635-8156-1D7E-71415062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1F9A-569C-9913-973F-1A20A83C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6EC4-AA6F-D184-8618-361538F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9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8E78-AD20-61AE-07C9-581A5721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4561-E452-9CCC-F17D-413081E1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28ECC-D18D-C0CD-A31F-8AAF8007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0BF7-D714-1EEA-455C-948D3F5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281E-835A-408F-869A-ABCB59C9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F47D-B5A2-A2A9-9C1F-D34CBEA9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07C2-418A-7C3E-889B-C74533D86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24D0-6290-39E6-4FC3-10A71E08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A5A2-F395-04FF-16AA-7FD6A4A3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9AD1-4F86-DCF2-E680-413230E8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6737-827C-273B-F261-9C2154C2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2AEA-C1BF-8ACF-4D78-694944D0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62B1-79B0-21BF-B1F1-AE0A76F3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29CD-553E-A2DE-D010-8A43AD8C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CA874-C8F2-8F8E-57CD-2153E06A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7DF01-803D-2671-7E60-BD2A8B39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31F7-1AAE-6F6F-9322-93F4B195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A9EF3-F1FD-CB23-0AEA-47156AB0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35B6B-BB83-B04C-A47B-ECE0EF4E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A793-8380-51B9-CFF7-744318B37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A4C60-2522-0D5C-C23F-0187CAED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9C621-5B24-DF2E-89D1-3C18E5C6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D717F-009B-A737-7A82-6932E457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73D84-9CDA-C121-7F30-5676861D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CA20-39C3-F40C-4572-281D2CB5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97B0C-B857-63F7-E85F-859208D5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D32CF-94BA-12FC-B498-E2196DF0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C9F26-3D2D-45C9-5AFE-A62EE9EF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1DB1-564F-5E0A-44D7-83BEF685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9F1B4-9F80-D1A1-175F-9BAE82A6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6B0DD-802C-78AC-8412-48CCFD7B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E260-462B-03FA-173F-32F86D9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0F23-E64B-853A-3024-2AE2F4D0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BF63C-CE95-B386-9430-493B8C821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3A3B-9273-F1D3-EB8C-F53E089B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14B1-8C95-5D57-16BB-1F086235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50967-1BE7-4A0B-53AC-6843F0C3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293B-CEC3-737B-9538-E6D2B618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4759B-9E9E-568D-0604-93F579E25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14115-1120-27FE-FBFE-84143F04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D17F7-EC85-BE3E-3666-B3EB7F44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16E-EE1B-36EC-CF7E-7FF1277D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C8AED-1ECD-8AF3-54D2-212D945A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750-6D4C-C52C-9C7D-A311C331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AC1EB-ADF8-EBA7-A6BC-FB273C00A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8EA3-5B02-2581-BD37-7F40721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29F1-852D-B9F5-4C3B-917CF681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A7C0-6DAB-769F-6582-E47C123F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0C5F1-7D4A-8CED-297C-C92ED91B2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55E8F-7208-6FE9-2D3E-0EF5F364A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00E5-461D-6A31-BF2E-14F82313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5B9D-B212-30E2-0DDA-D1CBCDA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1D69-E3F9-B455-8285-89A3FC84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5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0725-EC61-EA44-844F-586829DC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0FE7-F892-F382-680D-09F576DC7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1A73-6FE2-F462-6F77-158AEA4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081EA-FD3D-DFEE-6D95-67E5E4A89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14320" y="6356350"/>
            <a:ext cx="6563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Industrial &amp; Systems Engineering, Auburn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66E28-9D50-5F5D-A686-37F93270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5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miningbook.info/book_htm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INSY 7130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03a Distance and Scaling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121EE-8E9A-2B05-F81C-A5C17A58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349E5-5657-45A2-E2CF-2D80F0BB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349C6-15F4-3B2F-FCDF-A858828F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Intro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similarity, and what determines which observations are close?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A1AF9-61E2-D09F-4E94-9538E827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B2170-2FA3-AE28-DF5D-5AEDC54E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76752-DDEA-FFAB-43EB-71036F20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 Makes Records Close?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Unit 1 showed that an analytical result depends on how we represent and compare the data.</a:t>
            </a:r>
          </a:p>
          <a:p>
            <a:r>
              <a:rPr sz="2800"/>
              <a:t>Unit 2 applies that lesson to whole records by treating their numeric attributes as a geometric representation.</a:t>
            </a:r>
          </a:p>
          <a:p>
            <a:r>
              <a:rPr sz="2800"/>
              <a:t>Today we ask:</a:t>
            </a:r>
          </a:p>
          <a:p>
            <a:pPr lvl="1"/>
            <a:r>
              <a:rPr sz="2800"/>
              <a:t>which choices made two records appear close</a:t>
            </a:r>
          </a:p>
          <a:p>
            <a:pPr lvl="1"/>
            <a:r>
              <a:rPr sz="2800"/>
              <a:t>whether that result survives a reasonable alternative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BC2F3-C1DB-263D-802B-1564D8C8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2747-34DE-985D-2AEC-31ED33ECA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79188-1D32-4087-CF5C-FB9DB770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Represent a numerical record as a feature vector</a:t>
            </a:r>
          </a:p>
          <a:p>
            <a:r>
              <a:rPr sz="2800"/>
              <a:t>Inspect how coordinate gaps contribute under different distance measures</a:t>
            </a:r>
          </a:p>
          <a:p>
            <a:r>
              <a:rPr sz="2800"/>
              <a:t>Explain how units and scaling change a geometric representation</a:t>
            </a:r>
          </a:p>
          <a:p>
            <a:r>
              <a:rPr sz="2800"/>
              <a:t>Separate standard scaling from transformation and importance</a:t>
            </a:r>
          </a:p>
          <a:p>
            <a:r>
              <a:rPr sz="2800"/>
              <a:t>State a bounded claim from a representation-sensitivity check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187C3-25CA-2806-ADF1-EDE3CB94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0E34D-F541-FB4F-461E-B221F9BE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22AF-456A-14CD-6913-C5AA4BAE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Relevant Course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Tan et al., </a:t>
            </a:r>
            <a:r>
              <a:rPr sz="2800" i="1"/>
              <a:t>Introduction to Data Mining</a:t>
            </a:r>
            <a:r>
              <a:rPr sz="2800"/>
              <a:t>, 2nd ed.</a:t>
            </a:r>
          </a:p>
          <a:p>
            <a:pPr lvl="1"/>
            <a:r>
              <a:rPr sz="2800"/>
              <a:t>Chapter 2: Sections 2.1.1, 2.3.7, 2.4.3, 2.4.9–2.4.10</a:t>
            </a:r>
          </a:p>
          <a:p>
            <a:r>
              <a:rPr sz="2800"/>
              <a:t>Zaki and Meira, </a:t>
            </a:r>
            <a:r>
              <a:rPr sz="2800" u="sng">
                <a:solidFill>
                  <a:srgbClr val="0000FF"/>
                </a:solidFill>
                <a:hlinkClick r:id="rId3"/>
              </a:rPr>
              <a:t>Data Mining and Machine Learning</a:t>
            </a:r>
            <a:r>
              <a:rPr sz="2800"/>
              <a:t>, 2nd ed.</a:t>
            </a:r>
          </a:p>
          <a:p>
            <a:pPr lvl="1"/>
            <a:r>
              <a:rPr sz="2800"/>
              <a:t>Sections 2.3–2.4</a:t>
            </a:r>
          </a:p>
          <a:p>
            <a:r>
              <a:rPr sz="2800"/>
              <a:t>Shmueli et al., </a:t>
            </a:r>
            <a:r>
              <a:rPr sz="2800" i="1"/>
              <a:t>Machine Learning for Business Analytics</a:t>
            </a:r>
            <a:r>
              <a:rPr sz="2800"/>
              <a:t>, 2nd ed.</a:t>
            </a:r>
          </a:p>
          <a:p>
            <a:pPr lvl="1"/>
            <a:r>
              <a:rPr sz="2800"/>
              <a:t>Chapter 16, Section 16.2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F4260-9379-CDAF-E032-92B5AB10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7ABA8-7C8D-B26C-1FD1-6F59D2A3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CDBE5-49EB-3363-9013-58784580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Representation as Geometry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become points only after we choose the coordinates.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CAC1D-5890-4F10-6DEB-D676F4FF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81521-798E-FF4F-48BD-D463CE30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000BE-4F97-EBDC-FC12-33A775B8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A Row Becomes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6329"/>
            <a:ext cx="10515600" cy="2962656"/>
          </a:xfrm>
        </p:spPr>
        <p:txBody>
          <a:bodyPr wrap="square" anchor="t">
            <a:noAutofit/>
          </a:bodyPr>
          <a:lstStyle/>
          <a:p>
            <a:r>
              <a:rPr sz="2600"/>
              <a:t>A recorded row becomes a point only after we select its numerical features.</a:t>
            </a:r>
          </a:p>
          <a:p>
            <a:r>
              <a:rPr sz="2600"/>
              <a:t>The selected features define the axes; their units determine coordinate magnitudes.</a:t>
            </a:r>
          </a:p>
          <a:p>
            <a:r>
              <a:rPr sz="2600"/>
              <a:t>Transformations, scales, and weights then determine how gaps appear along those axes.</a:t>
            </a:r>
          </a:p>
        </p:txBody>
      </p:sp>
      <p:sp>
        <p:nvSpPr>
          <p:cNvPr id="4" name="Code block"/>
          <p:cNvSpPr txBox="1"/>
          <p:nvPr/>
        </p:nvSpPr>
        <p:spPr>
          <a:xfrm>
            <a:off x="838200" y="1825625"/>
            <a:ext cx="10515600" cy="914400"/>
          </a:xfrm>
          <a:prstGeom prst="rect">
            <a:avLst/>
          </a:prstGeom>
          <a:solidFill>
            <a:srgbClr val="212529"/>
          </a:solidFill>
          <a:ln w="12700">
            <a:solidFill>
              <a:srgbClr val="495057"/>
            </a:solidFill>
          </a:ln>
        </p:spPr>
        <p:txBody>
          <a:bodyPr wrap="none" lIns="219456" tIns="109728" rIns="219456" bIns="109728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F8F9FA"/>
                </a:solidFill>
                <a:latin typeface="Consolas"/>
              </a:rPr>
              <a:t>record → feature vector → point in feature space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781A0-CF92-A33C-0C01-D6A2C77B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5B600-0D3D-1E55-629B-CD87A009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83939-FD6C-0D1D-964D-E6D6B785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07812"/>
                <a:ext cx="10515600" cy="3025458"/>
              </a:xfrm>
            </p:spPr>
            <p:txBody>
              <a:bodyPr wrap="square" anchor="t">
                <a:noAutofit/>
              </a:bodyPr>
              <a:lstStyle/>
              <a:p>
                <a:r>
                  <a:rPr sz="2600" dirty="0"/>
                  <a:t>A distance is a nonnegative summary of how different two records are in a selected feature space.</a:t>
                </a:r>
              </a:p>
              <a:p>
                <a:r>
                  <a:rPr sz="2600" dirty="0"/>
                  <a:t>Smaller values suggest greater similarity under the declared representation and distance measure.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600" dirty="0"/>
                  <a:t> are two distinct observations;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600" dirty="0"/>
                  <a:t> maps them to feature vectors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600" dirty="0"/>
                  <a:t> combines their coordinate gaps.</a:t>
                </a:r>
              </a:p>
              <a:p>
                <a:r>
                  <a:rPr sz="2600" dirty="0"/>
                  <a:t>Distance can identify candidates for a purpose; it does not establish true peers.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07812"/>
                <a:ext cx="10515600" cy="3025458"/>
              </a:xfrm>
              <a:blipFill>
                <a:blip r:embed="rId3"/>
                <a:stretch>
                  <a:fillRect l="-1086" t="-2917" r="-1448"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d\left(r(x_i),r(x_k)\right)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d\left(r(x_i),r(x_k)\right)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d\left(r(x_i),r(x_k)\right)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2.2 Distance Summarizes Dissimilarity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7F3B3-327E-9044-392D-7D14BD0C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4618D-9390-778B-267C-321E1AD70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2C620-D079-3F19-A3F3-28E5B4CC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23489"/>
                <a:ext cx="10515600" cy="1975104"/>
              </a:xfrm>
            </p:spPr>
            <p:txBody>
              <a:bodyPr wrap="square" anchor="t">
                <a:noAutofit/>
              </a:bodyPr>
              <a:lstStyle/>
              <a:p>
                <a:r>
                  <a:rPr sz="2600"/>
                  <a:t>The absolute differences show how the candidates disagree with anchor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600"/>
                  <a:t>.</a:t>
                </a:r>
              </a:p>
              <a:p>
                <a:r>
                  <a:rPr sz="2600"/>
                  <a:t>Various distance measures combine these gaps differently.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23489"/>
                <a:ext cx="10515600" cy="1975104"/>
              </a:xfrm>
              <a:blipFill>
                <a:blip r:embed="rId3"/>
                <a:stretch>
                  <a:fillRect l="-965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\begin{aligned}&#10;&amp;A=(0,0),\quad B=(3,0),\quad C=(2,2)\\&#10;&amp;\lvert A-B\rvert=(3,0),\qquad \lvert A-C\rvert=(2,2)&#10;\end{aligned}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=(0,0), 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=(3,0), 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=(2,2)</m:t>
                          </m:r>
                        </m:e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&amp;|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|=(3,0),  |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|=(2,2)</m:t>
                          </m:r>
                        </m:e>
                      </m:eqAr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\begin{aligned}&#10;&amp;A=(0,0),\quad B=(3,0),\quad C=(2,2)\\&#10;&amp;\lvert A-B\rvert=(3,0),\qquad \lvert A-C\rvert=(2,2)&#10;\end{aligned}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\begin{aligned}
&amp;A=(0,0),\quad B=(3,0),\quad C=(2,2)\\
&amp;\lvert A-B\rvert=(3,0),\qquad \lvert A-C\rvert=(2,2)
\end{aligned}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2.3 Start with Coordinate Gaps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ED6C0-F754-E674-44A2-3F96892A6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34318-3D97-5671-9C9D-5E267E05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4B97D-5C3D-9D08-3BA0-ADA1B176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34384"/>
                <a:ext cx="10515600" cy="1975104"/>
              </a:xfrm>
            </p:spPr>
            <p:txBody>
              <a:bodyPr wrap="square" anchor="t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𝑞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600"/>
                  <a:t>: Manhattan, aka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600"/>
              </a:p>
              <a:p>
                <a:pPr lvl="1"/>
                <a:r>
                  <a:rPr sz="2600"/>
                  <a:t>absolute gaps accumulate</a:t>
                </a:r>
              </a:p>
              <a:p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𝑞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600"/>
                  <a:t>: Euclidean, aka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sz="2600"/>
              </a:p>
              <a:p>
                <a:pPr lvl="1"/>
                <a:r>
                  <a:rPr sz="2600"/>
                  <a:t>larger gaps gain influence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34384"/>
                <a:ext cx="10515600" cy="1975104"/>
              </a:xfrm>
              <a:blipFill>
                <a:blip r:embed="rId3"/>
                <a:stretch>
                  <a:fillRect l="-1086" t="-3822" b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d_q(x,y)=\left(\sum_{j=1}^{m}\lvert x_j-y_j\rvert^q\right)^{1/q}"/>
              <p:cNvSpPr txBox="1"/>
              <p:nvPr/>
            </p:nvSpPr>
            <p:spPr>
              <a:xfrm>
                <a:off x="838200" y="1825625"/>
                <a:ext cx="10515600" cy="1197863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d_q(x,y)=\left(\sum_{j=1}^{m}\lvert x_j-y_j\rvert^q\right)^{1/q}"/>
              <p:cNvSpPr txBox="1"/>
              <p:nvPr/>
            </p:nvSpPr>
            <p:spPr>
              <a:xfrm>
                <a:off x="838200" y="1825625"/>
                <a:ext cx="10515600" cy="1197863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d_q(x,y)=\left(\sum_{j=1}^{m}\lvert x_j-y_j\rvert^q\right)^{1/q}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2.4 The Minkowski Distance Family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D21C0-8AC5-7825-9FC5-FC460A5A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5134-6DF4-5EEE-C27F-89FA2D61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FAFF9-DDC1-A810-0E47-5863785A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88081"/>
            <a:ext cx="10515600" cy="2988882"/>
          </a:xfrm>
        </p:spPr>
        <p:txBody>
          <a:bodyPr wrap="square" anchor="t">
            <a:noAutofit/>
          </a:bodyPr>
          <a:lstStyle/>
          <a:p>
            <a:r>
              <a:rPr sz="2600"/>
              <a:t>Euclidean distance squares each coordinate gap.</a:t>
            </a:r>
          </a:p>
          <a:p>
            <a:r>
              <a:rPr sz="2600"/>
              <a:t>Doubling one gap makes its squared contribution four times larger.</a:t>
            </a:r>
          </a:p>
          <a:p>
            <a:r>
              <a:rPr sz="2600"/>
              <a:t>A concentrated large mismatch therefore gains relative influence.</a:t>
            </a:r>
          </a:p>
          <a:p>
            <a:r>
              <a:rPr sz="2600"/>
              <a:t>This is the familiar straight-line distance between two points.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d_2(x,y)=\left(\sum_{j=1}^{m}(x_j-y_j)^2\right)^{1/2}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d_2(x,y)=\left(\sum_{j=1}^{m}(x_j-y_j)^2\right)^{1/2}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d_2(x,y)=\left(\sum_{j=1}^{m}(x_j-y_j)^2\right)^{1/2}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t>2.5 Euclidean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) Emphasizes Large Gaps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F9EBF-1DC4-91C0-1FA2-C8D4EA0A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6A856-1C8E-C07A-9344-1DD63056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7DBAF-9F8D-B102-521A-B6F889FA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51505"/>
            <a:ext cx="10515600" cy="3025458"/>
          </a:xfrm>
        </p:spPr>
        <p:txBody>
          <a:bodyPr wrap="square" anchor="t">
            <a:noAutofit/>
          </a:bodyPr>
          <a:lstStyle/>
          <a:p>
            <a:r>
              <a:rPr sz="2600"/>
              <a:t>Every absolute coordinate gap contributes directly to the total.</a:t>
            </a:r>
          </a:p>
          <a:p>
            <a:r>
              <a:rPr sz="2600"/>
              <a:t>Doubling one gap doubles that coordinate's contribution.</a:t>
            </a:r>
          </a:p>
          <a:p>
            <a:r>
              <a:rPr sz="2600"/>
              <a:t>Manhattan distance therefore expresses accumulated mismatch.</a:t>
            </a:r>
          </a:p>
          <a:p>
            <a:r>
              <a:rPr sz="2600"/>
              <a:t>This is the distance traveled along a grid, like walking city blocks.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d_1(x,y)=\sum_{j=1}^{m}\lvert x_j-y_j\rvert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d_1(x,y)=\sum_{j=1}^{m}\lvert x_j-y_j\rvert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d_1(x,y)=\sum_{j=1}^{m}\lvert x_j-y_j\rvert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t>2.6 Manhattan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) Adds Every Gap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C21D1-BB07-C024-579C-7A6FABB4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B783E-01F3-37A0-4BAA-D642E55B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97F9B-262B-E913-ED6C-41BEF958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sz="2800"/>
                  <a:t>Anchor: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=(0,0)</m:t>
                        </m:r>
                      </m:oMath>
                    </a14:m>
                  </mc:Choice>
                  <mc:Fallback xmlns="">
                    <a:r>
                      <a:rPr sz="2800"/>
                      <a:t>$A = (0, 0)$</a:t>
                    </a:r>
                  </mc:Fallback>
                </mc:AlternateContent>
                <a:endParaRPr sz="2800"/>
              </a:p>
              <a:p>
                <a:r>
                  <a:rPr sz="2800"/>
                  <a:t>Candidates: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=(3,0)</m:t>
                        </m:r>
                      </m:oMath>
                    </a14:m>
                  </mc:Choice>
                  <mc:Fallback xmlns="">
                    <a:r>
                      <a:rPr sz="2800"/>
                      <a:t>$B = (3, 0)$</a:t>
                    </a:r>
                  </mc:Fallback>
                </mc:AlternateContent>
                <a:r>
                  <a:rPr sz="2800"/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=(2,2)</m:t>
                        </m:r>
                      </m:oMath>
                    </a14:m>
                  </mc:Choice>
                  <mc:Fallback xmlns="">
                    <a:r>
                      <a:rPr sz="2800"/>
                      <a:t>$C = (2, 2)$</a:t>
                    </a:r>
                  </mc:Fallback>
                </mc:AlternateContent>
                <a:endParaRPr sz="2800"/>
              </a:p>
              <a:p>
                <a:r>
                  <a:rPr sz="2800"/>
                  <a:t>Under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800"/>
                      <a:t>$L_1$</a:t>
                    </a:r>
                  </mc:Fallback>
                </mc:AlternateContent>
                <a:r>
                  <a:rPr sz="2800"/>
                  <a:t>, which candidate is closer?</a:t>
                </a:r>
              </a:p>
              <a:p>
                <a:r>
                  <a:rPr sz="2800"/>
                  <a:t>Under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800"/>
                      <a:t>$L_2$</a:t>
                    </a:r>
                  </mc:Fallback>
                </mc:AlternateContent>
                <a:r>
                  <a:rPr sz="2800"/>
                  <a:t>, which candidate is closer?</a:t>
                </a:r>
              </a:p>
              <a:p>
                <a:r>
                  <a:rPr sz="2800"/>
                  <a:t>Explain the ranking before the reveal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2.7 Predict the Closer Candidate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6CE87-FBD2-2380-26D7-3A6DA4CA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7FD1F-CF5A-E88C-4893-E705B59C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4E3F6-38FB-F81C-1EDA-00159013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4425"/>
                <a:ext cx="10515600" cy="1975104"/>
              </a:xfrm>
            </p:spPr>
            <p:txBody>
              <a:bodyPr wrap="square" anchor="t">
                <a:noAutofit/>
              </a:bodyPr>
              <a:lstStyle/>
              <a:p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$L_1$</a:t>
                    </a:r>
                  </mc:Fallback>
                </mc:AlternateContent>
                <a:r>
                  <a:rPr sz="2600"/>
                  <a:t> favors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sz="2600"/>
                      <a:t>$B$</a:t>
                    </a:r>
                  </mc:Fallback>
                </mc:AlternateContent>
                <a:r>
                  <a:rPr sz="2600"/>
                  <a:t>'s one concentrated gap.</a:t>
                </a:r>
              </a:p>
              <a:p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$L_2$</a:t>
                    </a:r>
                  </mc:Fallback>
                </mc:AlternateContent>
                <a:r>
                  <a:rPr sz="2600"/>
                  <a:t> favors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a14:m>
                  </mc:Choice>
                  <mc:Fallback xmlns="">
                    <a:r>
                      <a:rPr sz="2600"/>
                      <a:t>$C$</a:t>
                    </a:r>
                  </mc:Fallback>
                </mc:AlternateContent>
                <a:r>
                  <a:rPr sz="2600"/>
                  <a:t>'s two moderate gaps.</a:t>
                </a:r>
              </a:p>
              <a:p>
                <a:r>
                  <a:rPr sz="2600"/>
                  <a:t>The points did not change; the aggregation rule changed their ranking.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4425"/>
                <a:ext cx="10515600" cy="1975104"/>
              </a:xfrm>
              <a:blipFill>
                <a:blip r:embed="rId3"/>
                <a:stretch>
                  <a:fillRect l="-1086" t="-3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7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6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onsolas"/>
                        </a:rPr>
                        <a:t>d(A, B)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onsolas"/>
                        </a:rPr>
                        <a:t>d(A, C)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Closer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Manhattan </a:t>
                      </a:r>
                      <a:r>
                        <a:rPr sz="1800">
                          <a:solidFill>
                            <a:srgbClr val="BF5701"/>
                          </a:solidFill>
                          <a:latin typeface="Consolas"/>
                        </a:rPr>
                        <a:t>L₁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Euclidean </a:t>
                      </a:r>
                      <a:r>
                        <a:rPr sz="1800">
                          <a:solidFill>
                            <a:srgbClr val="BF5701"/>
                          </a:solidFill>
                          <a:latin typeface="Consolas"/>
                        </a:rPr>
                        <a:t>L₂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√8 ≈ 2.83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2.8 The Ranking Reverses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00DE-3D77-881E-1947-8664FBE9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02738-8A4B-18D3-2C23-89F448BA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CD349-A3A7-4E21-E9C7-40BCC0B6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2.9 Operational Purpose Selects the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26585"/>
            <a:ext cx="10515600" cy="987552"/>
          </a:xfrm>
        </p:spPr>
        <p:txBody>
          <a:bodyPr wrap="square" anchor="t">
            <a:noAutofit/>
          </a:bodyPr>
          <a:lstStyle/>
          <a:p>
            <a:r>
              <a:rPr sz="2600"/>
              <a:t>Choose the rule from the comparison purpose, not from the answer it produces.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454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7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</a:rPr>
                        <a:t>Operational concern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</a:rPr>
                        <a:t>Defensible expression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Total discrepancy accumulates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Manhattan distance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One large mismatch deserves more influence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Euclidean distance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Some features carry different stakes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Explicit feature weights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5947-BCB2-64E3-E923-F4DD8E9B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1DC64-B8D6-1282-9A70-FC8085A4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10572-266C-2A6D-B6F3-594CEA95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Units Act Like Weights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objects can stay fixed while their numerical geometry changes.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1F2A-CEC4-7905-E117-0FC5B186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F4DAA-35CA-7E3A-8ECD-0DFC497E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9D621-61A1-EFCD-F140-11E12456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47915"/>
                <a:ext cx="10515600" cy="2629048"/>
              </a:xfrm>
            </p:spPr>
            <p:txBody>
              <a:bodyPr wrap="square" anchor="t">
                <a:noAutofit/>
              </a:bodyPr>
              <a:lstStyle/>
              <a:p>
                <a:r>
                  <a:rPr sz="2600"/>
                  <a:t>A manufacturer wants to find a machine similar to machine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sz="2600"/>
                      <a:t>$A$</a:t>
                    </a:r>
                  </mc:Fallback>
                </mc:AlternateContent>
                <a:r>
                  <a:rPr sz="2600"/>
                  <a:t> using physical width and annual downtime.</a:t>
                </a:r>
              </a:p>
              <a:p>
                <a:r>
                  <a:rPr sz="2600"/>
                  <a:t>Using meters and hours, which candidate is closer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sz="2600"/>
                      <a:t>$A$</a:t>
                    </a:r>
                  </mc:Fallback>
                </mc:AlternateContent>
                <a:r>
                  <a:rPr sz="2600"/>
                  <a:t> under Euclidean distance?</a:t>
                </a:r>
              </a:p>
              <a:p>
                <a:r>
                  <a:rPr sz="2600"/>
                  <a:t>If width is recorded in centimeters instead, should the nearest machine change?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47915"/>
                <a:ext cx="10515600" cy="2629048"/>
              </a:xfrm>
              <a:blipFill>
                <a:blip r:embed="rId3"/>
                <a:stretch>
                  <a:fillRect l="-965" t="-2404" r="-1448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166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7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Candidate machine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Difference from A in width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Difference from A in annual downtime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 meter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10 hours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6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C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2 meters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0 hours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3.1 Candidate Machine Gaps from 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55BB9-F129-9B94-03B0-0538BA25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92571-0E34-349B-8E0C-6DA15645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60B18-A61D-E379-4972-B4ABC0C5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4425"/>
                <a:ext cx="10515600" cy="2468880"/>
              </a:xfrm>
            </p:spPr>
            <p:txBody>
              <a:bodyPr wrap="square" anchor="t">
                <a:noAutofit/>
              </a:bodyPr>
              <a:lstStyle/>
              <a:p>
                <a:r>
                  <a:rPr sz="2600"/>
                  <a:t>Each value uses Euclidean (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$L_2$</a:t>
                    </a:r>
                  </mc:Fallback>
                </mc:AlternateContent>
                <a:r>
                  <a:rPr sz="2600"/>
                  <a:t>) distance.</a:t>
                </a:r>
              </a:p>
              <a:p>
                <a:r>
                  <a:rPr sz="2600"/>
                  <a:t>The objects did not change, but the width coordinate became 100 times larger numerically.</a:t>
                </a:r>
              </a:p>
              <a:p>
                <a:r>
                  <a:rPr sz="2600"/>
                  <a:t>An arbitrary unit convention changed the nearest candidate.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4425"/>
                <a:ext cx="10515600" cy="2468880"/>
              </a:xfrm>
              <a:blipFill>
                <a:blip r:embed="rId3"/>
                <a:stretch>
                  <a:fillRect l="-965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8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8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8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onsolas"/>
                        </a:rPr>
                        <a:t>d(A, B)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onsolas"/>
                        </a:rPr>
                        <a:t>d(A, C)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Closer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meters + hours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10.05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2.00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centimeters + hours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100.50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200.00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B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3.2 Ranking Is Sensitive to Units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61AA2-660B-05A2-2EA5-824B5601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488D4-B223-6782-B6A6-C08C2EFB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DE6A3-136B-CBC5-41A9-7F1E19A5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Unit Dependence Creates 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A meter-to-centimeter conversion changes notation, not the underlying objects.</a:t>
            </a:r>
          </a:p>
          <a:p>
            <a:r>
              <a:rPr sz="2800"/>
              <a:t>If the ranking changes anyway, the raw distance depends on an arbitrary unit choice.</a:t>
            </a:r>
          </a:p>
          <a:p>
            <a:r>
              <a:rPr sz="2800"/>
              <a:t>We therefore need to declare what a meaningful unit of discrepancy is for every feature.</a:t>
            </a:r>
          </a:p>
          <a:p>
            <a:r>
              <a:rPr sz="2800"/>
              <a:t>Scaling supplies one answer; explicit domain weights may supply another.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CC4C-EF2E-B7B1-7076-B5AC0902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F24A7-F177-0780-B58C-051145B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FDC35-33AB-3D76-CA55-F4847773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23489"/>
                <a:ext cx="10515600" cy="3153474"/>
              </a:xfrm>
            </p:spPr>
            <p:txBody>
              <a:bodyPr wrap="square" anchor="t">
                <a:noAutofit/>
              </a:bodyPr>
              <a:lstStyle/>
              <a:p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sz="2600"/>
                      <a:t>$x$</a:t>
                    </a:r>
                  </mc:Fallback>
                </mc:AlternateContent>
                <a:r>
                  <a:rPr sz="2600"/>
                  <a:t> is one observation;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="">
                    <a:r>
                      <a:rPr sz="2600"/>
                      <a:t>$j$</a:t>
                    </a:r>
                  </mc:Fallback>
                </mc:AlternateContent>
                <a:r>
                  <a:rPr sz="2600"/>
                  <a:t> identifies a feature;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$x_j$</a:t>
                    </a:r>
                  </mc:Fallback>
                </mc:AlternateContent>
                <a:r>
                  <a:rPr sz="2600"/>
                  <a:t> is its value for that feature.</a:t>
                </a:r>
              </a:p>
              <a:p>
                <a:r>
                  <a:rPr sz="2600"/>
                  <a:t>Each feature has a multiplier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$a_j$</a:t>
                    </a:r>
                  </mc:Fallback>
                </mc:AlternateContent>
                <a:r>
                  <a:rPr sz="2600"/>
                  <a:t> for scale and an offset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$b_j$</a:t>
                    </a:r>
                  </mc:Fallback>
                </mc:AlternateContent>
                <a:r>
                  <a:rPr sz="2600"/>
                  <a:t> for shift.</a:t>
                </a:r>
              </a:p>
              <a:p>
                <a:r>
                  <a:rPr sz="2600"/>
                  <a:t>Centering shifts; unit conversion rescales and may also shift.</a:t>
                </a:r>
              </a:p>
              <a:p>
                <a:r>
                  <a:rPr sz="2600"/>
                  <a:t>Standardization centers and divides by a standard deviation.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23489"/>
                <a:ext cx="10515600" cy="3153474"/>
              </a:xfrm>
              <a:blipFill>
                <a:blip r:embed="rId3"/>
                <a:stretch>
                  <a:fillRect l="-1086" t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z_j=a_jx_j+b_j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z_j=a_jx_j+b_j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z_j=a_jx_j+b_j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t>3.4 Affine Transforms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</mc:Choice>
                  <mc:Fallback xmlns="">
                    <a:r>
                      <a:t>$\rightarrow$</a:t>
                    </a:r>
                  </mc:Fallback>
                </mc:AlternateContent>
                <a:r>
                  <a:t> Scale + Shift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4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620BD-C345-3CD1-37F6-44A8AE00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682DE-B02F-17D8-E1DA-18659095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513AD-3E95-4747-1424-FB980401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24657"/>
                <a:ext cx="10515600" cy="2952306"/>
              </a:xfrm>
            </p:spPr>
            <p:txBody>
              <a:bodyPr wrap="square" anchor="t">
                <a:noAutofit/>
              </a:bodyPr>
              <a:lstStyle/>
              <a:p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sz="2600"/>
                      <a:t>$x$</a:t>
                    </a:r>
                  </mc:Fallback>
                </mc:AlternateContent>
                <a:r>
                  <a:rPr sz="2600"/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</mc:Choice>
                  <mc:Fallback xmlns="">
                    <a:r>
                      <a:rPr sz="2600"/>
                      <a:t>$y$</a:t>
                    </a:r>
                  </mc:Fallback>
                </mc:AlternateContent>
                <a:r>
                  <a:rPr sz="2600"/>
                  <a:t> are observations;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$x_j$</a:t>
                    </a:r>
                  </mc:Fallback>
                </mc:AlternateContent>
                <a:r>
                  <a:rPr sz="2600"/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$y_j$</a:t>
                    </a:r>
                  </mc:Fallback>
                </mc:AlternateContent>
                <a:r>
                  <a:rPr sz="2600"/>
                  <a:t> are their values for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="">
                    <a:r>
                      <a:rPr sz="2600"/>
                      <a:t>$j$</a:t>
                    </a:r>
                  </mc:Fallback>
                </mc:AlternateContent>
                <a:r>
                  <a:rPr sz="2600"/>
                  <a:t>.</a:t>
                </a:r>
              </a:p>
              <a:p>
                <a:r>
                  <a:rPr sz="2600"/>
                  <a:t>Both receive the same feature-specific multiplier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$a_j$</a:t>
                    </a:r>
                  </mc:Fallback>
                </mc:AlternateContent>
                <a:r>
                  <a:rPr sz="2600"/>
                  <a:t> and offset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$b_j$</a:t>
                    </a:r>
                  </mc:Fallback>
                </mc:AlternateContent>
                <a:r>
                  <a:rPr sz="2600"/>
                  <a:t>.</a:t>
                </a:r>
              </a:p>
              <a:p>
                <a:r>
                  <a:rPr sz="2600"/>
                  <a:t>The common offset cancels from the pairwise gap.</a:t>
                </a:r>
              </a:p>
              <a:p>
                <a:r>
                  <a:rPr sz="2600"/>
                  <a:t>The scale remains: multiplying or dividing a coordinate changes its contribution to distance.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24657"/>
                <a:ext cx="10515600" cy="2952306"/>
              </a:xfrm>
              <a:blipFill>
                <a:blip r:embed="rId3"/>
                <a:stretch>
                  <a:fillRect l="-1086" t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\left\lvert z_j(x)-z_j(y)\right\rvert=\left\lvert a_j\right\rvert\left\lvert x_j-y_j\right\rvert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4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Display equation" descr="\left\lvert z_j(x)-z_j(y)\right\rvert=\left\lvert a_j\right\rvert\left\lvert x_j-y_j\right\rvert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400">
                    <a:solidFill>
                      <a:srgbClr val="212529"/>
                    </a:solidFill>
                    <a:latin typeface="Consolas"/>
                  </a:rPr>
                  <a:t>\left\lvert z_j(x)-z_j(y)\right\rvert=\left\lvert a_j\right\rvert\left\lvert x_j-y_j\right\rvert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3.5 Common Shifts Cancel, Scaling Remains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CDA92-F2B7-076D-AC8C-349F3423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2B74E-049C-D958-49E3-3E17E956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AB333-6FB0-FBCB-27C6-9B3892B7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3.6 Standardization Defines New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51505"/>
            <a:ext cx="10515600" cy="3025458"/>
          </a:xfrm>
        </p:spPr>
        <p:txBody>
          <a:bodyPr wrap="square" anchor="t">
            <a:noAutofit/>
          </a:bodyPr>
          <a:lstStyle/>
          <a:p>
            <a:r>
              <a:rPr sz="2600"/>
              <a:t>Each feature has its own mean and sample standard deviation, estimated from the reference data.</a:t>
            </a:r>
          </a:p>
          <a:p>
            <a:r>
              <a:rPr sz="2600"/>
              <a:t>The same fitted values are applied to every observation.</a:t>
            </a:r>
          </a:p>
          <a:p>
            <a:r>
              <a:rPr sz="2600"/>
              <a:t>Subtracting the feature mean centers the values but does not change pairwise gaps.</a:t>
            </a:r>
          </a:p>
          <a:p>
            <a:r>
              <a:rPr sz="2600"/>
              <a:t>Dividing by the sample standard deviation defines one new unit and changes pairwise gaps.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z_j=\frac{x_j-\bar{x}_j}{s_j}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‾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z_j=\frac{x_j-\bar{x}_j}{s_j}"/>
              <p:cNvSpPr txBox="1"/>
              <p:nvPr/>
            </p:nvSpPr>
            <p:spPr>
              <a:xfrm>
                <a:off x="838200" y="1825625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z_j=\frac{x_j-\bar{x}_j}{s_j}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CDB05-DCBE-6CF0-5F96-9DBBC8E9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7A618-21FB-9B64-DB07-36ACEB27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A2653-D61A-1F09-BE82-B786E22F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3.7 Standardization Makes Gaps Comparable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Every feature is expressed in units of its own sample standard deviation.</a:t>
            </a:r>
          </a:p>
          <a:p>
            <a:r>
              <a:rPr sz="2800"/>
              <a:t>A gap of 1 therefore represents a one-standard-deviation difference for any feature.</a:t>
            </a:r>
          </a:p>
          <a:p>
            <a:r>
              <a:rPr sz="2800"/>
              <a:t>Gaps can still be larger or smaller, but they are now directly comparable numerically.</a:t>
            </a:r>
          </a:p>
          <a:p>
            <a:r>
              <a:rPr sz="2800"/>
              <a:t>Comparability does not make feature distributions identical or determine domain importance.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43CC7-1308-6E23-3783-41E78D0C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5912-D799-052E-7698-150D2DD3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A67A-75B4-E742-F56B-6201BB37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2711"/>
                <a:ext cx="10515600" cy="2754252"/>
              </a:xfrm>
            </p:spPr>
            <p:txBody>
              <a:bodyPr wrap="square" anchor="t">
                <a:noAutofit/>
              </a:bodyPr>
              <a:lstStyle/>
              <a:p>
                <a:r>
                  <a:rPr sz="2600"/>
                  <a:t>The exponent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a14:m>
                  </mc:Choice>
                  <mc:Fallback xmlns="">
                    <a:r>
                      <a:rPr sz="2600"/>
                      <a:t>$q$</a:t>
                    </a:r>
                  </mc:Fallback>
                </mc:AlternateContent>
                <a:r>
                  <a:rPr sz="2600"/>
                  <a:t> comes from the selected Minkowski distance.</a:t>
                </a:r>
              </a:p>
              <a:p>
                <a:r>
                  <a:rPr sz="2600"/>
                  <a:t>Each feature scale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sz="2600"/>
                      <a:t>$s_j$</a:t>
                    </a:r>
                  </mc:Fallback>
                </mc:AlternateContent>
                <a:r>
                  <a:rPr sz="2600"/>
                  <a:t> creates the inside-sum weight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1/</m:t>
                        </m:r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oMath>
                    </a14:m>
                  </mc:Choice>
                  <mc:Fallback xmlns="">
                    <a:r>
                      <a:rPr sz="2600"/>
                      <a:t>${1}/{s_j^q}$</a:t>
                    </a:r>
                  </mc:Fallback>
                </mc:AlternateContent>
                <a:r>
                  <a:rPr sz="2600"/>
                  <a:t>.</a:t>
                </a:r>
              </a:p>
              <a:p>
                <a:r>
                  <a:rPr sz="2600"/>
                  <a:t>Because scales can differ across features, their relative contributions to distance can change.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2711"/>
                <a:ext cx="10515600" cy="2754252"/>
              </a:xfrm>
              <a:blipFill>
                <a:blip r:embed="rId3"/>
                <a:stretch>
                  <a:fillRect l="-965" t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\left\lvert\frac{x_j-y_j}{s_j}\right\rvert^q=\frac{1}{s_j^q}\lvert x_j-y_j\rvert^q"/>
              <p:cNvSpPr txBox="1"/>
              <p:nvPr/>
            </p:nvSpPr>
            <p:spPr>
              <a:xfrm>
                <a:off x="838200" y="1825625"/>
                <a:ext cx="10515600" cy="1249614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4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b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Display equation" descr="\left\lvert\frac{x_j-y_j}{s_j}\right\rvert^q=\frac{1}{s_j^q}\lvert x_j-y_j\rvert^q"/>
              <p:cNvSpPr txBox="1"/>
              <p:nvPr/>
            </p:nvSpPr>
            <p:spPr>
              <a:xfrm>
                <a:off x="838200" y="1825625"/>
                <a:ext cx="10515600" cy="1249614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400">
                    <a:solidFill>
                      <a:srgbClr val="212529"/>
                    </a:solidFill>
                    <a:latin typeface="Consolas"/>
                  </a:rPr>
                  <a:t>\left\lvert\frac{x_j-y_j}{s_j}\right\rvert^q=\frac{1}{s_j^q}\lvert x_j-y_j\rvert^q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3.8 Scaling May Weight Features Differently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38776-E9FA-1B2A-89EF-4B39A519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4030-56A0-8C37-FB9D-744DD3C6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76FEE-153F-481A-62C2-2F989955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Choices Reshape Geometry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Transformations and feature construction can alter which differences dominate.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B2197-97BB-555F-72D3-E220701A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641F1-8B0E-25D8-5C76-6BC35E42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4F386-536C-B5A0-B751-7AD8CEEE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Nonlinear Transforms Reshape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48666"/>
            <a:ext cx="10515600" cy="2828297"/>
          </a:xfrm>
        </p:spPr>
        <p:txBody>
          <a:bodyPr wrap="square" anchor="t">
            <a:noAutofit/>
          </a:bodyPr>
          <a:lstStyle/>
          <a:p>
            <a:r>
              <a:rPr sz="2600">
                <a:solidFill>
                  <a:srgbClr val="BF5701"/>
                </a:solidFill>
                <a:latin typeface="Consolas"/>
              </a:rPr>
              <a:t>log1p</a:t>
            </a:r>
            <a:r>
              <a:rPr sz="2600"/>
              <a:t> is non-affine: it compresses gaps differently depending on where they occur.</a:t>
            </a:r>
          </a:p>
          <a:p>
            <a:r>
              <a:rPr sz="2600"/>
              <a:t>Both pairs differ by 10 on the original scale.</a:t>
            </a:r>
          </a:p>
          <a:p>
            <a:r>
              <a:rPr sz="2600"/>
              <a:t>After </a:t>
            </a:r>
            <a:r>
              <a:rPr sz="2600">
                <a:solidFill>
                  <a:srgbClr val="BF5701"/>
                </a:solidFill>
                <a:latin typeface="Consolas"/>
              </a:rPr>
              <a:t>log1p</a:t>
            </a:r>
            <a:r>
              <a:rPr sz="2600"/>
              <a:t>, the high-value pair has a much smaller gap.</a:t>
            </a:r>
          </a:p>
          <a:p>
            <a:r>
              <a:rPr sz="2600"/>
              <a:t>Affine scaling would multiply both gaps by the same factor; this nonlinear transformation does not.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1376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1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9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7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Pair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Original gap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onsolas"/>
                        </a:rPr>
                        <a:t>log1p</a:t>
                      </a:r>
                      <a:r>
                        <a:rPr sz="2000" b="1">
                          <a:solidFill>
                            <a:srgbClr val="FFFFFF"/>
                          </a:solidFill>
                        </a:rPr>
                        <a:t> gap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10 and 20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0.647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1,010 and 1,020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0.0098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7D4F6-5EB6-5DF3-0FDC-0DE498C6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1632F-DD02-92B6-8300-E04D9EC2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BE2C4-6F87-DED0-F1C3-7A5DE2A2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Features Can Overweight an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Encodings, interactions, engineered features, and closely related measures can contain overlapping information.</a:t>
            </a:r>
          </a:p>
          <a:p>
            <a:r>
              <a:rPr sz="2800"/>
              <a:t>Distance treats each resulting column as a separate coordinate.</a:t>
            </a:r>
          </a:p>
          <a:p>
            <a:r>
              <a:rPr sz="2800"/>
              <a:t>An underlying idea represented by several coordinates can therefore contribute more than once.</a:t>
            </a:r>
          </a:p>
          <a:p>
            <a:r>
              <a:rPr sz="2800"/>
              <a:t>Direct feature duplication, whether intentional or accidental, is generally discouraged and should be explicit if used.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CAF1-6186-B953-B337-A472362E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3DB10-DE47-413B-A6DC-467B8134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8AC49-732C-E53E-E8A1-495D61FC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Historical Utility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Twenty-two U.S. utility records connect mixed-scale features to a representation-sensitive nearest-peer question.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87B73-8C3B-E75B-0185-4302EFC5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23BEB-CB7D-1606-8FD4-14BA8983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AD803-A8AD-54A2-003D-6A7EF6C1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The Historical Public Utilities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94580"/>
            <a:ext cx="10515600" cy="1582383"/>
          </a:xfrm>
        </p:spPr>
        <p:txBody>
          <a:bodyPr wrap="square" anchor="t">
            <a:noAutofit/>
          </a:bodyPr>
          <a:lstStyle/>
          <a:p>
            <a:r>
              <a:rPr sz="2600"/>
              <a:t>Shmueli et al. provide the case; the pinned </a:t>
            </a:r>
            <a:r>
              <a:rPr sz="2600">
                <a:solidFill>
                  <a:srgbClr val="BF5701"/>
                </a:solidFill>
                <a:latin typeface="Consolas"/>
              </a:rPr>
              <a:t>dmba</a:t>
            </a:r>
            <a:r>
              <a:rPr sz="2600"/>
              <a:t> repository provides the values.</a:t>
            </a:r>
          </a:p>
          <a:p>
            <a:r>
              <a:rPr sz="2600"/>
              <a:t>These five features define this comparison; omitted fields may matter for other purposes.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622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1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Student-facing meaning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Recorded unit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BF5701"/>
                          </a:solidFill>
                          <a:latin typeface="Consolas"/>
                        </a:rPr>
                        <a:t>Cost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Capacity cost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Source cost per kW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BF5701"/>
                          </a:solidFill>
                          <a:latin typeface="Consolas"/>
                        </a:rPr>
                        <a:t>Load_factor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Annual utilization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Percentage-like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BF5701"/>
                          </a:solidFill>
                          <a:latin typeface="Consolas"/>
                        </a:rPr>
                        <a:t>Demand_growth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1974–75 peak-demand growth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Percentage-like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BF5701"/>
                          </a:solidFill>
                          <a:latin typeface="Consolas"/>
                        </a:rPr>
                        <a:t>Sales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Annual electricity sales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Thousands of kWh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BF5701"/>
                          </a:solidFill>
                          <a:latin typeface="Consolas"/>
                        </a:rPr>
                        <a:t>Fuel_Cost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Fuel cost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Source cents per kWh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7BDF0-7E16-700D-70A1-D09CE657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BAE59-D7A7-AA7C-8471-DC763434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29FDB-5B12-7D48-2BC3-37DA796D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A Controlled Peer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Question: Which recorded utility is Pacific's closest operating peer?</a:t>
            </a:r>
          </a:p>
          <a:p>
            <a:r>
              <a:rPr sz="2800"/>
              <a:t>Baseline: five selected features with raw Euclidean distance.</a:t>
            </a:r>
          </a:p>
          <a:p>
            <a:r>
              <a:rPr sz="2800"/>
              <a:t>Change only scale: compare raw and standardized Euclidean distance.</a:t>
            </a:r>
          </a:p>
          <a:p>
            <a:r>
              <a:rPr sz="2800"/>
              <a:t>Then hold scale fixed: compare standardized Euclidean and Manhattan distance.</a:t>
            </a:r>
          </a:p>
          <a:p>
            <a:r>
              <a:rPr sz="2800"/>
              <a:t>Compare peer identity and feature contributions.</a:t>
            </a:r>
          </a:p>
          <a:p>
            <a:r>
              <a:rPr sz="2800"/>
              <a:t>State what changed and what the comparison cannot establish.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BC4B0-BD99-97C5-AA08-A2D3C320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4F3BB-6731-2E62-E48A-ECD66BD3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0DA27-F9D3-07DF-C7A5-B1FE3D90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Scaling Changes Pacific's Peer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24249"/>
            <a:ext cx="10515600" cy="987552"/>
          </a:xfrm>
        </p:spPr>
        <p:txBody>
          <a:bodyPr wrap="square" anchor="t">
            <a:noAutofit/>
          </a:bodyPr>
          <a:lstStyle/>
          <a:p>
            <a:r>
              <a:rPr sz="2600"/>
              <a:t>Changing the scale changed the peer and exposed uncertainty in the ranking.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05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9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Procedure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Nearest recorded peer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Evidence to retain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Raw Euclidean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Madison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BF5701"/>
                          </a:solidFill>
                          <a:latin typeface="Consolas"/>
                        </a:rPr>
                        <a:t>Sales</a:t>
                      </a:r>
                      <a:r>
                        <a:rPr sz="2000">
                          <a:solidFill>
                            <a:srgbClr val="212529"/>
                          </a:solidFill>
                        </a:rPr>
                        <a:t> dominates the squared contribution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Standardized Euclidean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Hawaiian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New England is nearly tied: 1.548 versus 1.552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46DBA-1CC6-E1C1-1B75-CE802D63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275F9-9DBC-91AA-1840-760A14CB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C2F67-AF31-C7DF-AFD4-3E84995C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Sensitivity Extends Beyond Pacific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Raw versus standardized Euclidean distance changes the peer for 19 of 22 anchors.</a:t>
            </a:r>
          </a:p>
          <a:p>
            <a:r>
              <a:rPr sz="2800"/>
              <a:t>With standardization fixed, Manhattan versus Euclidean changes the peer for 5 of 22 anchors.</a:t>
            </a:r>
          </a:p>
          <a:p>
            <a:r>
              <a:rPr sz="2800"/>
              <a:t>Assigned-anchor contribution profiles show how a changed scale changes feature influence.</a:t>
            </a:r>
          </a:p>
          <a:p>
            <a:r>
              <a:rPr sz="2800"/>
              <a:t>These are diagnostics for this historical case, not universal rates.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25F7B-8838-BB9D-B8E9-6FC9BB56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5793F-AA71-0BEC-D3B5-859AF364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55B0C-6B1B-2312-EFA7-E4575CA5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5.5 State the Evidence Carefully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10201"/>
            <a:ext cx="10515600" cy="987552"/>
          </a:xfrm>
        </p:spPr>
        <p:txBody>
          <a:bodyPr wrap="square" anchor="t">
            <a:noAutofit/>
          </a:bodyPr>
          <a:lstStyle/>
          <a:p>
            <a:r>
              <a:rPr sz="2600"/>
              <a:t>Sensitivity limits the claim; it does not select the answer for us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93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8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</a:rPr>
                        <a:t>The comparison supports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</a:rPr>
                        <a:t>...but does not establish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Peer identity is sensitive to scale and metric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One objectively correct peer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Sensitivity across these 22 recorded utilities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A population rate for utility analyses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Need to declare and defend the geometry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200">
                          <a:solidFill>
                            <a:srgbClr val="212529"/>
                          </a:solidFill>
                        </a:rPr>
                        <a:t>A rule to always standardize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ED759-AB09-508E-D655-32201217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99564-88B5-80F9-C3FC-8AB875C1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78937-58CB-AFDF-5A19-82B84124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5.6 Geometry Travels Downstream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6329"/>
            <a:ext cx="10515600" cy="2962656"/>
          </a:xfrm>
        </p:spPr>
        <p:txBody>
          <a:bodyPr wrap="square" anchor="t">
            <a:noAutofit/>
          </a:bodyPr>
          <a:lstStyle/>
          <a:p>
            <a:r>
              <a:rPr sz="2600"/>
              <a:t>PCA, clustering, and anomaly detection inherit representation choices</a:t>
            </a:r>
          </a:p>
          <a:p>
            <a:r>
              <a:rPr sz="2600"/>
              <a:t>Next: how should distance become similarity and neighbor logic?</a:t>
            </a:r>
          </a:p>
          <a:p>
            <a:r>
              <a:rPr sz="2600"/>
              <a:t>Keep the question attached: nearest according to what?</a:t>
            </a:r>
          </a:p>
        </p:txBody>
      </p:sp>
      <p:sp>
        <p:nvSpPr>
          <p:cNvPr id="4" name="Code block"/>
          <p:cNvSpPr txBox="1"/>
          <p:nvPr/>
        </p:nvSpPr>
        <p:spPr>
          <a:xfrm>
            <a:off x="838200" y="1825625"/>
            <a:ext cx="10515600" cy="914400"/>
          </a:xfrm>
          <a:prstGeom prst="rect">
            <a:avLst/>
          </a:prstGeom>
          <a:solidFill>
            <a:srgbClr val="212529"/>
          </a:solidFill>
          <a:ln w="12700">
            <a:solidFill>
              <a:srgbClr val="495057"/>
            </a:solidFill>
          </a:ln>
        </p:spPr>
        <p:txBody>
          <a:bodyPr wrap="none" lIns="219456" tIns="109728" rIns="219456" bIns="109728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F8F9FA"/>
                </a:solidFill>
                <a:latin typeface="Consolas"/>
              </a:rPr>
              <a:t>representation → distance matrix → neighbors → later methods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9D52B-553F-A80F-8DCF-A69A9BDB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79756-62B3-012C-AB73-AED476BE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2269B-6139-3FB3-3494-CF900D45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3170</Words>
  <Application>Microsoft Macintosh PowerPoint</Application>
  <PresentationFormat>Widescreen</PresentationFormat>
  <Paragraphs>437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Consolas</vt:lpstr>
      <vt:lpstr>Office Theme</vt:lpstr>
      <vt:lpstr>INSY 7130</vt:lpstr>
      <vt:lpstr>1 Intro</vt:lpstr>
      <vt:lpstr>1.1 What Makes Records Close?</vt:lpstr>
      <vt:lpstr>1.2 Learning Objectives</vt:lpstr>
      <vt:lpstr>1.3 Relevant Course Readings</vt:lpstr>
      <vt:lpstr>2 Representation as Geometry</vt:lpstr>
      <vt:lpstr>2.1 A Row Becomes Coordinates</vt:lpstr>
      <vt:lpstr>2.2 Distance Summarizes Dissimilarity</vt:lpstr>
      <vt:lpstr>2.3 Start with Coordinate Gaps</vt:lpstr>
      <vt:lpstr>2.4 The Minkowski Distance Family</vt:lpstr>
      <vt:lpstr>2.5 Euclidean (L_2) Emphasizes Large Gaps</vt:lpstr>
      <vt:lpstr>2.6 Manhattan (L_1) Adds Every Gap</vt:lpstr>
      <vt:lpstr>2.7 Predict the Closer Candidate</vt:lpstr>
      <vt:lpstr>2.8 The Ranking Reverses</vt:lpstr>
      <vt:lpstr>2.9 Operational Purpose Selects the Rule</vt:lpstr>
      <vt:lpstr>3 Units Act Like Weights</vt:lpstr>
      <vt:lpstr>3.1 Candidate Machine Gaps from A</vt:lpstr>
      <vt:lpstr>3.2 Ranking Is Sensitive to Units</vt:lpstr>
      <vt:lpstr>3.3 Unit Dependence Creates a Problem</vt:lpstr>
      <vt:lpstr>3.4 Affine Transforms → Scale + Shift</vt:lpstr>
      <vt:lpstr>3.5 Common Shifts Cancel, Scaling Remains</vt:lpstr>
      <vt:lpstr>3.6 Standardization Defines New Units</vt:lpstr>
      <vt:lpstr>3.7 Standardization Makes Gaps Comparable</vt:lpstr>
      <vt:lpstr>3.8 Scaling May Weight Features Differently</vt:lpstr>
      <vt:lpstr>4 Choices Reshape Geometry</vt:lpstr>
      <vt:lpstr>4.1 Nonlinear Transforms Reshape Gaps</vt:lpstr>
      <vt:lpstr>4.2 Features Can Overweight an Idea</vt:lpstr>
      <vt:lpstr>5 Historical Utility Case</vt:lpstr>
      <vt:lpstr>5.1 The Historical Public Utilities Dataset</vt:lpstr>
      <vt:lpstr>5.2 A Controlled Peer Comparison</vt:lpstr>
      <vt:lpstr>5.3 Scaling Changes Pacific's Peer</vt:lpstr>
      <vt:lpstr>5.4 Sensitivity Extends Beyond Pacific</vt:lpstr>
      <vt:lpstr>5.5 State the Evidence Carefully</vt:lpstr>
      <vt:lpstr>5.6 Geometry Travels Downstream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O'Leary</dc:creator>
  <cp:lastModifiedBy>Dan O'Leary</cp:lastModifiedBy>
  <cp:revision>4</cp:revision>
  <dcterms:created xsi:type="dcterms:W3CDTF">2025-11-04T14:41:23Z</dcterms:created>
  <dcterms:modified xsi:type="dcterms:W3CDTF">2026-09-01T18:09:26Z</dcterms:modified>
</cp:coreProperties>
</file>