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5E5A0-55AC-E847-ACDE-4E9872246A32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7F0DFF-671D-0243-ABD9-859C5AC33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32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- https://scikit-learn.org/stable/modules/outlier_detection.html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- https://sigmodrecord.org/2000/06/07/lof-identifying-density-based-local-outliers/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</a:t>
            </a:r>
          </a:p>
          <a:p>
            <a:r>
              <a:t>- https://cs.nju.edu.cn/zhouzh/zhouzh.files/publication/icdm08b.pdf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A scored observation can follow a tree's splits even if it was not sampled to build that tree.</a:t>
            </a:r>
          </a:p>
          <a:p>
            <a:r>
              <a:t>- If asked about Random Forest: shared ensemble structure; isolation uses random cuts without a known fault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Practical trees can stop with several records in a leaf; scoring estimates the remaining path length.</a:t>
            </a:r>
          </a:p>
          <a:p>
            <a:r>
              <a:t>- Full normalization is in instructor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5F47E-70DC-BE81-FF2F-594971B7C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0A534-5FA3-8AEC-EF8B-722D8E08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7BA0-8635-8156-1D7E-71415062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4B5E-1C26-124E-B6D0-6EA9A0EA2A27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F1F9A-569C-9913-973F-1A20A83C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6EC4-AA6F-D184-8618-361538F70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9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8E78-AD20-61AE-07C9-581A57217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5D4561-E452-9CCC-F17D-413081E10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28ECC-D18D-C0CD-A31F-8AAF8007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14C2-28D1-374B-A00B-F2948A4A63A2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60BF7-D714-1EEA-455C-948D3F50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1281E-835A-408F-869A-ABCB59C9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F47D-B5A2-A2A9-9C1F-D34CBEA99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607C2-418A-7C3E-889B-C74533D86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24D0-6290-39E6-4FC3-10A71E08E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A1379-6E3B-0C41-AA96-DB39A925970C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A5A2-F395-04FF-16AA-7FD6A4A3F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09AD1-4F86-DCF2-E680-413230E8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84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6737-827C-273B-F261-9C2154C2B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42AEA-C1BF-8ACF-4D78-694944D0D5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862B1-79B0-21BF-B1F1-AE0A76F3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829CD-553E-A2DE-D010-8A43AD8C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8D1A-A11B-7849-ABF8-C0267CE746DC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CA874-C8F2-8F8E-57CD-2153E06A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7DF01-803D-2671-7E60-BD2A8B396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1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31F7-1AAE-6F6F-9322-93F4B195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A9EF3-F1FD-CB23-0AEA-47156AB0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35B6B-BB83-B04C-A47B-ECE0EF4EE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A793-8380-51B9-CFF7-744318B37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2A4C60-2522-0D5C-C23F-0187CAED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9C621-5B24-DF2E-89D1-3C18E5C6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CB532-C614-4A4E-AB18-C10AE7923787}" type="datetime1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D717F-009B-A737-7A82-6932E4572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473D84-9CDA-C121-7F30-5676861D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35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CA20-39C3-F40C-4572-281D2CB5B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D97B0C-B857-63F7-E85F-859208D54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D4E8-0E2F-7C44-B8F4-1671C91FF951}" type="datetime1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5D32CF-94BA-12FC-B498-E2196DF0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C9F26-3D2D-45C9-5AFE-A62EE9EF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1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951DB1-564F-5E0A-44D7-83BEF685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F20C-12C2-3C45-A373-97ED17C3673A}" type="datetime1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9F1B4-9F80-D1A1-175F-9BAE82A6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6B0DD-802C-78AC-8412-48CCFD7B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015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E260-462B-03FA-173F-32F86D9C1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0F23-E64B-853A-3024-2AE2F4D01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BF63C-CE95-B386-9430-493B8C821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C3A3B-9273-F1D3-EB8C-F53E089B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680B0-A087-224F-A411-2E2C3DF11103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14B1-8C95-5D57-16BB-1F0862351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50967-1BE7-4A0B-53AC-6843F0C3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3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293B-CEC3-737B-9538-E6D2B618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4759B-9E9E-568D-0604-93F579E25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14115-1120-27FE-FBFE-84143F04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D17F7-EC85-BE3E-3666-B3EB7F44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324FE-5E0C-E042-B8D7-68C9B78C8A7E}" type="datetime1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16E-EE1B-36EC-CF7E-7FF1277D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C8AED-1ECD-8AF3-54D2-212D945A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750-6D4C-C52C-9C7D-A311C331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AC1EB-ADF8-EBA7-A6BC-FB273C00AB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58EA3-5B02-2581-BD37-7F407210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FC37-E003-A243-B2B7-19BF43DDBDE2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229F1-852D-B9F5-4C3B-917CF6810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CA7C0-6DAB-769F-6582-E47C123F1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06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40C5F1-7D4A-8CED-297C-C92ED91B2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A55E8F-7208-6FE9-2D3E-0EF5F364A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00E5-461D-6A31-BF2E-14F823138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6512-B9DA-2D41-B0E8-CD84CAD58A04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85B9D-B212-30E2-0DDA-D1CBCDA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F1D69-E3F9-B455-8285-89A3FC84F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5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4C0725-EC61-EA44-844F-586829DC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70FE7-F892-F382-680D-09F576DC7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D1A73-6FE2-F462-6F77-158AEA4F6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16B177-E0F5-3C40-8917-372D014E4B76}" type="datetime1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081EA-FD3D-DFEE-6D95-67E5E4A89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14320" y="6356350"/>
            <a:ext cx="65633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Dan O'Leary - Industrial &amp; Systems Engineering, Auburn University - INSY 6500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66E28-9D50-5F5D-A686-37F93270E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A0CD8-E904-E941-9989-44DD9BC4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58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INSY 7130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LOF and Isolation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Approaches To 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Which pump readings deserve inspection?</a:t>
            </a:r>
          </a:p>
          <a:p>
            <a:pPr lvl="1"/>
            <a:r>
              <a:rPr sz="2800" dirty="0"/>
              <a:t>High vibration may reflect load, a sensor problem, or a fault</a:t>
            </a:r>
          </a:p>
          <a:p>
            <a:r>
              <a:rPr dirty="0"/>
              <a:t>A detector turns a meaning of “unusual” into a score</a:t>
            </a:r>
          </a:p>
          <a:p>
            <a:pPr lvl="1"/>
            <a:r>
              <a:rPr sz="2800" dirty="0"/>
              <a:t>Different comparisons can prioritize different readings</a:t>
            </a:r>
            <a:endParaRPr lang="en-US" sz="2800" dirty="0"/>
          </a:p>
          <a:p>
            <a:r>
              <a:rPr lang="en-US" dirty="0"/>
              <a:t>We will explore two methods:</a:t>
            </a:r>
          </a:p>
          <a:p>
            <a:pPr lvl="1"/>
            <a:r>
              <a:rPr lang="en-US" sz="2800" dirty="0"/>
              <a:t>Distance- / density-based similarity, aka “support”</a:t>
            </a:r>
          </a:p>
          <a:p>
            <a:pPr lvl="1"/>
            <a:r>
              <a:rPr lang="en-US" sz="2800" dirty="0"/>
              <a:t>Ease of isolation</a:t>
            </a:r>
          </a:p>
          <a:p>
            <a:r>
              <a:rPr lang="en-US" dirty="0"/>
              <a:t>Then use scores to flag observations for review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Comparing a possibly failing pump with healthy pumps can be appropriate</a:t>
            </a:r>
          </a:p>
          <a:p>
            <a:pPr lvl="1"/>
            <a:r>
              <a:rPr sz="2800" dirty="0"/>
              <a:t>Check whether load, design, and environment are comparable</a:t>
            </a:r>
          </a:p>
          <a:p>
            <a:r>
              <a:rPr sz="2800" dirty="0"/>
              <a:t>Two reference situations</a:t>
            </a:r>
          </a:p>
          <a:p>
            <a:pPr lvl="1"/>
            <a:r>
              <a:rPr sz="2800" dirty="0"/>
              <a:t>Find unusual members within a mixed collection</a:t>
            </a:r>
          </a:p>
          <a:p>
            <a:pPr lvl="1"/>
            <a:r>
              <a:rPr sz="2800" dirty="0"/>
              <a:t>Assess new readings against a healthy baseline</a:t>
            </a:r>
            <a:r>
              <a:rPr lang="en-US" sz="2800" dirty="0"/>
              <a:t>, aka “novelty”</a:t>
            </a:r>
            <a:endParaRPr sz="2800" dirty="0"/>
          </a:p>
          <a:p>
            <a:r>
              <a:rPr sz="2800" dirty="0"/>
              <a:t>Our </a:t>
            </a:r>
            <a:r>
              <a:rPr lang="en-US" sz="2800" dirty="0"/>
              <a:t>focus</a:t>
            </a:r>
            <a:r>
              <a:rPr sz="2800" dirty="0"/>
              <a:t>: observations within one collection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Seven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5440680"/>
            <a:ext cx="10972800" cy="914400"/>
          </a:xfrm>
        </p:spPr>
        <p:txBody>
          <a:bodyPr/>
          <a:lstStyle/>
          <a:p>
            <a:r>
              <a:rPr sz="2200"/>
              <a:t>Invented values of one feature: 0, 1, 3, 10, 50, 60, 80</a:t>
            </a:r>
          </a:p>
          <a:p>
            <a:r>
              <a:rPr sz="2200"/>
              <a:t>The gap from 3 to 10 is smaller than either gap in the wide group</a:t>
            </a:r>
          </a:p>
        </p:txBody>
      </p:sp>
      <p:pic>
        <p:nvPicPr>
          <p:cNvPr id="4" name="Picture 3" descr="neighbor-number-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25880"/>
            <a:ext cx="109728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Neighbor-Distance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Score: neighborhood radius,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sz="2800" dirty="0"/>
                  <a:t>Distance to the second-nearest other observation</a:t>
                </a:r>
              </a:p>
              <a:p>
                <a:pPr lvl="1"/>
                <a:r>
                  <a:rPr lang="en-US" sz="2800" dirty="0"/>
                  <a:t>Neighborhood size k = 2</a:t>
                </a:r>
              </a:p>
              <a:p>
                <a:pPr lvl="1"/>
                <a:r>
                  <a:rPr lang="en-US" sz="2800" dirty="0"/>
                  <a:t>Exclude the observation itself</a:t>
                </a:r>
              </a:p>
              <a:p>
                <a:r>
                  <a:rPr lang="en-US" dirty="0"/>
                  <a:t>In one dimension, distance is the absolute difference</a:t>
                </a:r>
              </a:p>
              <a:p>
                <a:r>
                  <a:rPr lang="en-US" dirty="0"/>
                  <a:t>For 10, the two nearest observations are...</a:t>
                </a:r>
              </a:p>
              <a:p>
                <a:pPr lvl="1"/>
                <a:r>
                  <a:rPr lang="en-US" sz="2800" dirty="0"/>
                  <a:t>3: distance 7</a:t>
                </a:r>
              </a:p>
              <a:p>
                <a:pPr lvl="1"/>
                <a:r>
                  <a:rPr lang="en-US" sz="2800" dirty="0"/>
                  <a:t>1: distance 9 → second-neighbor score = 9</a:t>
                </a:r>
                <a:endParaRPr sz="2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Second-Neighbor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8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6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Two Nearest Others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Distances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1, 3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1, 3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0, 3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1, 2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1, 0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2, 3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3, 1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7, 9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9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60, 80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10, 30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60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50, 80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10, 20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20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80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60, 50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20, 30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30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Absolute And Local Spacing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Distance scores place 50 and 80 above 10</a:t>
            </a:r>
          </a:p>
          <a:p>
            <a:pPr lvl="1"/>
            <a:r>
              <a:rPr sz="2800"/>
              <a:t>Both need a radius of 30 to collect two neighbors</a:t>
            </a:r>
          </a:p>
          <a:p>
            <a:r>
              <a:rPr sz="2800"/>
              <a:t>The wide group is a stretched, shifted copy of the tight group</a:t>
            </a:r>
          </a:p>
          <a:p>
            <a:pPr lvl="1"/>
            <a:r>
              <a:rPr sz="2800"/>
              <a:t>Its members have comparable spacing relative to each other</a:t>
            </a:r>
          </a:p>
          <a:p>
            <a:r>
              <a:rPr sz="2800"/>
              <a:t>Is a large gap unusual for its surroundings?</a:t>
            </a:r>
          </a:p>
          <a:p>
            <a:pPr lvl="1"/>
            <a:r>
              <a:rPr sz="2800"/>
              <a:t>Compare each neighborhood with its neighbors' neighborhoods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Outlier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Local Outlier Factor (LOF) compares local packing</a:t>
            </a:r>
            <a:r>
              <a:rPr lang="en-US" sz="2800" dirty="0"/>
              <a:t> / density</a:t>
            </a:r>
          </a:p>
          <a:p>
            <a:r>
              <a:rPr lang="en-US" sz="2800" dirty="0"/>
              <a:t>For 10, neighbors 3 and 1 belong to the tight group</a:t>
            </a:r>
          </a:p>
          <a:p>
            <a:pPr lvl="1"/>
            <a:r>
              <a:rPr sz="2800" dirty="0"/>
              <a:t>They can find nearby support much more easily than 10</a:t>
            </a:r>
          </a:p>
          <a:p>
            <a:r>
              <a:rPr sz="2800" dirty="0"/>
              <a:t>For 80, neighbors 60 and 50 also have wide spacing</a:t>
            </a:r>
          </a:p>
          <a:p>
            <a:pPr lvl="1"/>
            <a:r>
              <a:rPr sz="2800" dirty="0"/>
              <a:t>Its surroundings supply a different reference</a:t>
            </a:r>
          </a:p>
          <a:p>
            <a:r>
              <a:rPr lang="en-US" sz="2800" dirty="0"/>
              <a:t>How do we quantify that?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Density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Start with mean distance to two neighbors</a:t>
            </a:r>
          </a:p>
          <a:p>
            <a:pPr lvl="1"/>
            <a:r>
              <a:rPr sz="2800"/>
              <a:t>Small mean: closely packed</a:t>
            </a:r>
          </a:p>
          <a:p>
            <a:pPr lvl="1"/>
            <a:r>
              <a:rPr sz="2800"/>
              <a:t>Large mean: widely spaced</a:t>
            </a:r>
          </a:p>
          <a:p>
            <a:r>
              <a:rPr sz="2800"/>
              <a:t>Take the reciprocal to express density</a:t>
            </a:r>
          </a:p>
          <a:p>
            <a:pPr lvl="1"/>
            <a:r>
              <a:rPr sz="2800"/>
              <a:t>Greater spacing → lower density</a:t>
            </a:r>
          </a:p>
          <a:p>
            <a:r>
              <a:rPr sz="2800"/>
              <a:t>LOF will adjust the distances before this calculation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Density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54425"/>
            <a:ext cx="10515600" cy="1975104"/>
          </a:xfrm>
        </p:spPr>
        <p:txBody>
          <a:bodyPr wrap="square" anchor="t">
            <a:noAutofit/>
          </a:bodyPr>
          <a:lstStyle/>
          <a:p>
            <a:r>
              <a:rPr sz="2600"/>
              <a:t>The neighborhood around 0 has the higher density</a:t>
            </a:r>
          </a:p>
          <a:p>
            <a:pPr lvl="1"/>
            <a:r>
              <a:rPr sz="2600"/>
              <a:t>Its observations are closer together</a:t>
            </a:r>
          </a:p>
          <a:p>
            <a:r>
              <a:rPr sz="2600"/>
              <a:t>Values describe local packing in inverse-distance units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8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83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Neighbor Distances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Mean Distance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</a:rPr>
                        <a:t>Inverse Mean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1, 3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(1 + 3) / 2 = 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 / 2 = .5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10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7, 9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(7 + 9) / 2 = 8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>
                          <a:solidFill>
                            <a:srgbClr val="212529"/>
                          </a:solidFill>
                        </a:rPr>
                        <a:t>1 / 8 = .125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LOF Method</a:t>
            </a:r>
            <a:br>
              <a:rPr lang="en-US" dirty="0"/>
            </a:br>
            <a:r>
              <a:rPr lang="en-US" sz="2800" dirty="0"/>
              <a:t>Assess local unusualness using neighbors’ density as reference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sz="2800" dirty="0"/>
              <a:t>1. Find each observation's k nearest neighbors</a:t>
            </a:r>
          </a:p>
          <a:p>
            <a:pPr>
              <a:buNone/>
            </a:pPr>
            <a:r>
              <a:rPr sz="2800" dirty="0"/>
              <a:t>2. Adjust distances using each neighbor's surrounding scale</a:t>
            </a:r>
          </a:p>
          <a:p>
            <a:pPr lvl="1"/>
            <a:r>
              <a:rPr sz="2800" dirty="0"/>
              <a:t>Reachability distance</a:t>
            </a:r>
          </a:p>
          <a:p>
            <a:pPr>
              <a:buNone/>
            </a:pPr>
            <a:r>
              <a:rPr sz="2800" dirty="0"/>
              <a:t>3. Average adjusted distances, then take the reciprocal</a:t>
            </a:r>
          </a:p>
          <a:p>
            <a:pPr lvl="1"/>
            <a:r>
              <a:rPr sz="2800" dirty="0"/>
              <a:t>Local reachability density</a:t>
            </a:r>
          </a:p>
          <a:p>
            <a:pPr>
              <a:buNone/>
            </a:pPr>
            <a:r>
              <a:rPr sz="2800" dirty="0"/>
              <a:t>4. Divide neighbors' average density by the observation's own density</a:t>
            </a:r>
          </a:p>
          <a:p>
            <a:pPr lvl="1"/>
            <a:r>
              <a:rPr sz="2800" dirty="0"/>
              <a:t>Local Outlier Factor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Reachability Adjusts Short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53474"/>
          </a:xfrm>
        </p:spPr>
        <p:txBody>
          <a:bodyPr wrap="square" anchor="t">
            <a:noAutofit/>
          </a:bodyPr>
          <a:lstStyle/>
          <a:p>
            <a:r>
              <a:rPr sz="2600"/>
              <a:t>p: observation being scored; o: one of its neighbors</a:t>
            </a:r>
          </a:p>
          <a:p>
            <a:r>
              <a:rPr sz="2600"/>
              <a:t>d(p, o): actual distance between p and o</a:t>
            </a:r>
          </a:p>
          <a:p>
            <a:r>
              <a:rPr sz="2600"/>
              <a:t>rₖ(o): distance from o to its own kth-nearest other observation</a:t>
            </a:r>
          </a:p>
          <a:p>
            <a:pPr lvl="1"/>
            <a:r>
              <a:rPr sz="2600"/>
              <a:t>Exclude o itself; this distance is o's neighborhood radius</a:t>
            </a:r>
          </a:p>
          <a:p>
            <a:r>
              <a:rPr sz="2600"/>
              <a:t>Use that radius as a lower bound to moderate short distances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\operatorname{reach}_k(p,o)=\max\{d(p,o),r_k(o)\}"/>
              <p:cNvSpPr txBox="1"/>
              <p:nvPr/>
            </p:nvSpPr>
            <p:spPr>
              <a:xfrm>
                <a:off x="838200" y="5125403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reach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>
                          <a:latin typeface="Cambria Math" panose="02040503050406030204" pitchFamily="18" charset="0"/>
                        </a:rPr>
                        <m:t>{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4" name="Display equation" descr="\operatorname{reach}_k(p,o)=\max\{d(p,o),r_k(o)\}"/>
              <p:cNvSpPr txBox="1"/>
              <p:nvPr/>
            </p:nvSpPr>
            <p:spPr>
              <a:xfrm>
                <a:off x="838200" y="5125403"/>
                <a:ext cx="10515600" cy="1051560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800">
                    <a:solidFill>
                      <a:srgbClr val="212529"/>
                    </a:solidFill>
                    <a:latin typeface="Consolas"/>
                  </a:rPr>
                  <a:t>\operatorname{reach}_k(p,o)=\max\{d(p,o),r_k(o)\}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Reachability Density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3767"/>
            <a:ext cx="10515600" cy="2903196"/>
          </a:xfrm>
        </p:spPr>
        <p:txBody>
          <a:bodyPr wrap="square" anchor="t">
            <a:noAutofit/>
          </a:bodyPr>
          <a:lstStyle/>
          <a:p>
            <a:r>
              <a:rPr sz="2600"/>
              <a:t>Use the adjusted distances to measure local packing</a:t>
            </a:r>
          </a:p>
          <a:p>
            <a:pPr lvl="1"/>
            <a:r>
              <a:rPr sz="2600"/>
              <a:t>Average them, then take the reciprocal</a:t>
            </a:r>
          </a:p>
          <a:p>
            <a:r>
              <a:rPr sz="2600"/>
              <a:t>Small adjusted distances give high local reachability density</a:t>
            </a:r>
          </a:p>
          <a:p>
            <a:r>
              <a:rPr sz="2600"/>
              <a:t>Repeat for each observation so we can compare densities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\operatorname{lrd}_k(p)=\frac{1}{\text{mean reachability distance to p's neighbors}}"/>
              <p:cNvSpPr txBox="1"/>
              <p:nvPr/>
            </p:nvSpPr>
            <p:spPr>
              <a:xfrm>
                <a:off x="838200" y="1825625"/>
                <a:ext cx="10515600" cy="1173822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4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lrd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i="0"/>
                            <m:t>mean reachability distance to p’s neighbors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Display equation" descr="\operatorname{lrd}_k(p)=\frac{1}{\text{mean reachability distance to p's neighbors}}"/>
              <p:cNvSpPr txBox="1"/>
              <p:nvPr/>
            </p:nvSpPr>
            <p:spPr>
              <a:xfrm>
                <a:off x="838200" y="1825625"/>
                <a:ext cx="10515600" cy="1173822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400">
                    <a:solidFill>
                      <a:srgbClr val="212529"/>
                    </a:solidFill>
                    <a:latin typeface="Consolas"/>
                  </a:rPr>
                  <a:t>\operatorname{lrd}_k(p)=\frac{1}{\text{mean reachability distance to p's neighbors}}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LOF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97808"/>
            <a:ext cx="10515600" cy="2468880"/>
          </a:xfrm>
        </p:spPr>
        <p:txBody>
          <a:bodyPr wrap="square" anchor="t">
            <a:noAutofit/>
          </a:bodyPr>
          <a:lstStyle/>
          <a:p>
            <a:r>
              <a:rPr sz="2600"/>
              <a:t>Both densities are local reachability densities</a:t>
            </a:r>
          </a:p>
          <a:p>
            <a:r>
              <a:rPr sz="2600"/>
              <a:t>Near 1: comparable local support</a:t>
            </a:r>
          </a:p>
          <a:p>
            <a:r>
              <a:rPr sz="2600"/>
              <a:t>Above 1: own density is lower than neighbor average</a:t>
            </a:r>
          </a:p>
          <a:p>
            <a:r>
              <a:rPr sz="2600"/>
              <a:t>Next, work through these operations on the seven observations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Display equation" descr="\operatorname{LOF}_k(p)=\frac{\text{mean neighbor density}}{\text{own density}}"/>
              <p:cNvSpPr txBox="1"/>
              <p:nvPr/>
            </p:nvSpPr>
            <p:spPr>
              <a:xfrm>
                <a:off x="838200" y="1825625"/>
                <a:ext cx="10515600" cy="1197863"/>
              </a:xfrm>
              <a:prstGeom prst="rect">
                <a:avLst/>
              </a:prstGeom>
              <a:noFill/>
            </p:spPr>
            <p:txBody>
              <a:bodyPr wrap="square" lIns="109728" tIns="54864" rIns="109728" bIns="54864" anchor="ctr">
                <a:noAutofit/>
              </a:bodyPr>
              <a:lstStyle/>
              <a:p>
                <a:pPr algn="ctr">
                  <a:defRPr sz="24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LOF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i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i="0"/>
                            <m:t>mean neighbor density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i="0"/>
                            <m:t>own density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 xmlns="">
          <p:sp>
            <p:nvSpPr>
              <p:cNvPr id="4" name="Display equation" descr="\operatorname{LOF}_k(p)=\frac{\text{mean neighbor density}}{\text{own density}}"/>
              <p:cNvSpPr txBox="1"/>
              <p:nvPr/>
            </p:nvSpPr>
            <p:spPr>
              <a:xfrm>
                <a:off x="838200" y="1825625"/>
                <a:ext cx="10515600" cy="1197863"/>
              </a:xfrm>
              <a:prstGeom prst="rect">
                <a:avLst/>
              </a:prstGeom>
              <a:noFill/>
            </p:spPr>
            <p:txBody>
              <a:bodyPr wrap="square" anchor="ctr" lIns="109728" rIns="109728" tIns="54864" bIns="54864">
                <a:no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sz="2400">
                    <a:solidFill>
                      <a:srgbClr val="212529"/>
                    </a:solidFill>
                    <a:latin typeface="Consolas"/>
                  </a:rPr>
                  <a:t>\operatorname{LOF}_k(p)=\frac{\text{mean neighbor density}}{\text{own density}}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LOF And Inspect Local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Open the notebook section with this title</a:t>
            </a:r>
          </a:p>
          <a:p>
            <a:r>
              <a:rPr sz="2800"/>
              <a:t>Calculate reachability distances, local densities, and LOF</a:t>
            </a:r>
          </a:p>
          <a:p>
            <a:r>
              <a:rPr sz="2800"/>
              <a:t>Inspect the scores, then reproduce them with scikit-learn</a:t>
            </a:r>
          </a:p>
          <a:p>
            <a:r>
              <a:rPr sz="2800"/>
              <a:t>Predict and test a change from two neighbors to three</a:t>
            </a:r>
          </a:p>
          <a:p>
            <a:r>
              <a:rPr sz="2800"/>
              <a:t>Return to slides at Isolation Through Random Partitions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 Through Random Partitions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How easily can splits separate an observation?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Splits And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Split observations at a feature threshold</a:t>
            </a:r>
          </a:p>
          <a:p>
            <a:pPr lvl="1"/>
            <a:r>
              <a:rPr sz="2800"/>
              <a:t>Values below the threshold go one way; the rest go the other</a:t>
            </a:r>
          </a:p>
          <a:p>
            <a:pPr lvl="1"/>
            <a:r>
              <a:rPr sz="2800"/>
              <a:t>Repeat within each resulting group</a:t>
            </a:r>
          </a:p>
          <a:p>
            <a:r>
              <a:rPr sz="2800"/>
              <a:t>First illustration: deliberately chosen thresholds</a:t>
            </a:r>
          </a:p>
          <a:p>
            <a:pPr lvl="1"/>
            <a:r>
              <a:rPr sz="2800"/>
              <a:t>Begin at 30, then follow the tree</a:t>
            </a:r>
          </a:p>
          <a:p>
            <a:r>
              <a:rPr sz="2800"/>
              <a:t>After tracing the tree, we will introduce random selection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Partition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de block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rgbClr val="212529"/>
          </a:solidFill>
          <a:ln w="12700">
            <a:solidFill>
              <a:srgbClr val="495057"/>
            </a:solidFill>
          </a:ln>
        </p:spPr>
        <p:txBody>
          <a:bodyPr wrap="none" lIns="219456" tIns="109728" rIns="219456" bIns="109728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F8F9FA"/>
                </a:solidFill>
                <a:latin typeface="Consolas"/>
              </a:rPr>
              <a:t>All: 0, 1, 3, 10, 50, 60, 80  [split at 30]
├── Below 30: 0, 1, 3, 10     [split at 6]
│   ├── Below 6: 0, 1, 3     [split at 2]
│   │   ├── Below 2: 0, 1    [split at .5]
│   │   │   ├── Below .5: 0
│   │   │   └── At least .5: 1
│   │   └── At least 2: 3
│   └── At least 6: 10
└── At least 30: 50, 60, 80  [split at 70]
    ├── Below 70: 50, 60     [split at 55]
    │   ├── Below 55: 50
    │   └── At least 55: 60
    └── At least 70: 80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Tree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Root: starting group containing all observations</a:t>
            </a:r>
          </a:p>
          <a:p>
            <a:r>
              <a:rPr sz="2800"/>
              <a:t>Branches: routes created by a split</a:t>
            </a:r>
          </a:p>
          <a:p>
            <a:r>
              <a:rPr sz="2800"/>
              <a:t>Leaf: terminal group at the end of a route</a:t>
            </a:r>
          </a:p>
          <a:p>
            <a:r>
              <a:rPr sz="2800"/>
              <a:t>Path: route from root to leaf for one observation</a:t>
            </a:r>
          </a:p>
          <a:p>
            <a:r>
              <a:rPr sz="2800"/>
              <a:t>Path length: number of splits encountered</a:t>
            </a:r>
          </a:p>
          <a:p>
            <a:pPr lvl="1"/>
            <a:r>
              <a:rPr sz="2800"/>
              <a:t>Start counting at zero, before the first split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Path Lengths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9689"/>
            <a:ext cx="10515600" cy="1481328"/>
          </a:xfrm>
        </p:spPr>
        <p:txBody>
          <a:bodyPr wrap="square" anchor="t">
            <a:noAutofit/>
          </a:bodyPr>
          <a:lstStyle/>
          <a:p>
            <a:r>
              <a:rPr sz="2600"/>
              <a:t>In this tree, 10 and 80 are easier to isolate than 1</a:t>
            </a:r>
          </a:p>
          <a:p>
            <a:r>
              <a:rPr sz="2600"/>
              <a:t>A different sequence of cuts can produce different paths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401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Observation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Route Through Thresholds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Splits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Below 30; at least 6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1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Below 30; below 6; below 2; at least .5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4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80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At least 30; at least 70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2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Hierarchical clustering and partition trees both describe nested groups</a:t>
            </a:r>
          </a:p>
          <a:p>
            <a:r>
              <a:rPr sz="2800"/>
              <a:t>Agglomerative clustering joins groups using similarity</a:t>
            </a:r>
          </a:p>
          <a:p>
            <a:pPr lvl="1"/>
            <a:r>
              <a:rPr sz="2800"/>
              <a:t>Dendrogram height records the linkage criterion</a:t>
            </a:r>
          </a:p>
          <a:p>
            <a:r>
              <a:rPr sz="2800"/>
              <a:t>Here, repeated splits divide groups</a:t>
            </a:r>
          </a:p>
          <a:p>
            <a:pPr lvl="1"/>
            <a:r>
              <a:rPr sz="2800"/>
              <a:t>Path length counts partitions along one route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Splitting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Within the current group...</a:t>
            </a:r>
          </a:p>
          <a:p>
            <a:pPr lvl="1"/>
            <a:r>
              <a:rPr sz="2800"/>
              <a:t>Choose a feature randomly</a:t>
            </a:r>
          </a:p>
          <a:p>
            <a:pPr lvl="1"/>
            <a:r>
              <a:rPr sz="2800"/>
              <a:t>Choose a threshold uniformly between its minimum and maximum</a:t>
            </a:r>
          </a:p>
          <a:p>
            <a:r>
              <a:rPr sz="2800"/>
              <a:t>Divide the observations, then repeat within each child group</a:t>
            </a:r>
          </a:p>
          <a:p>
            <a:pPr lvl="1"/>
            <a:r>
              <a:rPr sz="2800"/>
              <a:t>Feature ranges change as groups get smaller</a:t>
            </a:r>
          </a:p>
          <a:p>
            <a:r>
              <a:rPr sz="2800"/>
              <a:t>With one feature, only the threshold choice varies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Two-Dimensional Partitions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5440680"/>
            <a:ext cx="10972800" cy="914400"/>
          </a:xfrm>
        </p:spPr>
        <p:txBody>
          <a:bodyPr/>
          <a:lstStyle/>
          <a:p>
            <a:r>
              <a:rPr sz="2200"/>
              <a:t>Chosen cuts: feature 1 at 5, then feature 2 at 5 within the right group</a:t>
            </a:r>
          </a:p>
          <a:p>
            <a:r>
              <a:rPr sz="2200"/>
              <a:t>Follow E through two splits; the second cut applies only to D and E</a:t>
            </a:r>
          </a:p>
        </p:txBody>
      </p:sp>
      <p:pic>
        <p:nvPicPr>
          <p:cNvPr id="4" name="Picture 3" descr="isolation-part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162" y="1325880"/>
            <a:ext cx="10155677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Gaps And Random Cuts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First cut in the seven-point example: uniform between 0 and 80</a:t>
            </a:r>
          </a:p>
          <a:p>
            <a:r>
              <a:rPr dirty="0"/>
              <a:t>Any threshold between 60 and 80 isolates 80 immediately</a:t>
            </a:r>
          </a:p>
          <a:p>
            <a:pPr lvl="1"/>
            <a:r>
              <a:rPr sz="2800" dirty="0"/>
              <a:t>Interval length 20 out of 80: one-quarter chance</a:t>
            </a:r>
          </a:p>
          <a:p>
            <a:r>
              <a:rPr dirty="0"/>
              <a:t>Observation 1 </a:t>
            </a:r>
            <a:r>
              <a:rPr lang="en-US" dirty="0"/>
              <a:t>lies between other observations</a:t>
            </a:r>
            <a:endParaRPr dirty="0"/>
          </a:p>
          <a:p>
            <a:pPr lvl="1"/>
            <a:r>
              <a:rPr sz="2800" dirty="0"/>
              <a:t>One cut cannot isolate it from both sides at once</a:t>
            </a:r>
          </a:p>
          <a:p>
            <a:r>
              <a:rPr lang="en-US" dirty="0"/>
              <a:t>Wide gaps between observations provide more possible cuts</a:t>
            </a:r>
          </a:p>
          <a:p>
            <a:pPr lvl="1"/>
            <a:r>
              <a:rPr lang="en-US" sz="2800" dirty="0"/>
              <a:t>Consequence of random, uniform selection</a:t>
            </a:r>
          </a:p>
          <a:p>
            <a:pPr lvl="1"/>
            <a:r>
              <a:rPr lang="en-US" sz="2800" dirty="0"/>
              <a:t>Wide gaps ≈ isolation</a:t>
            </a:r>
            <a:endParaRPr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One random tree can give a fortunate or unfortunate path</a:t>
            </a:r>
          </a:p>
          <a:p>
            <a:r>
              <a:rPr sz="2800"/>
              <a:t>A forest combines many trees with fresh random choices</a:t>
            </a:r>
          </a:p>
          <a:p>
            <a:pPr lvl="1"/>
            <a:r>
              <a:rPr sz="2800"/>
              <a:t>Commonly build each tree from a sample of the observations</a:t>
            </a:r>
          </a:p>
          <a:p>
            <a:r>
              <a:rPr sz="2800"/>
              <a:t>Route an observation through each tree and average path lengths</a:t>
            </a:r>
          </a:p>
          <a:p>
            <a:pPr lvl="1"/>
            <a:r>
              <a:rPr sz="2800"/>
              <a:t>Short average path: consistently easy to isolate</a:t>
            </a:r>
          </a:p>
          <a:p>
            <a:pPr lvl="1"/>
            <a:r>
              <a:rPr sz="2800"/>
              <a:t>More trees reduce dependence on one set of random cuts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Isolation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Raw path lengths depend on the number of observations used</a:t>
            </a:r>
          </a:p>
          <a:p>
            <a:pPr lvl="1"/>
            <a:r>
              <a:rPr sz="2800"/>
              <a:t>Larger samples ordinarily require more splits</a:t>
            </a:r>
          </a:p>
          <a:p>
            <a:r>
              <a:rPr sz="2800"/>
              <a:t>Normalize average path length against a reference for sample size</a:t>
            </a:r>
          </a:p>
          <a:p>
            <a:pPr lvl="1"/>
            <a:r>
              <a:rPr sz="2800"/>
              <a:t>Shorter paths → easier isolation → higher score</a:t>
            </a:r>
          </a:p>
          <a:p>
            <a:r>
              <a:rPr sz="2800"/>
              <a:t>Score near .5 corresponds to the reference path length</a:t>
            </a:r>
          </a:p>
          <a:p>
            <a:pPr lvl="1"/>
            <a:r>
              <a:rPr sz="2800"/>
              <a:t>We will inspect scores alongside the original observations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Scaling: LOF And Isolation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LOF uses distances across features</a:t>
            </a:r>
          </a:p>
          <a:p>
            <a:pPr lvl="1"/>
            <a:r>
              <a:rPr sz="2800" dirty="0"/>
              <a:t>Changing relative feature scales can change neighborhoods and scores</a:t>
            </a:r>
            <a:endParaRPr lang="en-US" sz="2800" dirty="0"/>
          </a:p>
          <a:p>
            <a:pPr lvl="1"/>
            <a:r>
              <a:rPr lang="en-US" sz="2800" dirty="0"/>
              <a:t>With multiple features, LOF usually requires deliberate scaling</a:t>
            </a:r>
            <a:endParaRPr sz="2800" dirty="0"/>
          </a:p>
          <a:p>
            <a:r>
              <a:rPr dirty="0"/>
              <a:t>Isolation Forest splits one feature at a time</a:t>
            </a:r>
          </a:p>
          <a:p>
            <a:pPr lvl="1"/>
            <a:r>
              <a:rPr sz="2800" dirty="0"/>
              <a:t>Linear changes of units preserve corresponding splits</a:t>
            </a:r>
            <a:endParaRPr lang="en-US" sz="2800" dirty="0"/>
          </a:p>
          <a:p>
            <a:pPr lvl="1"/>
            <a:r>
              <a:rPr lang="en-US" sz="2800" dirty="0"/>
              <a:t>Isolation Forest generally does not require standardization.</a:t>
            </a:r>
            <a:endParaRPr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Apply Isolation Forest And Compare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Open the notebook section with this title</a:t>
            </a:r>
          </a:p>
          <a:p>
            <a:r>
              <a:rPr sz="2800"/>
              <a:t>Fit the forest and inspect its scores</a:t>
            </a:r>
          </a:p>
          <a:p>
            <a:r>
              <a:rPr sz="2800"/>
              <a:t>Compare LOF and isolation on the same observations</a:t>
            </a:r>
          </a:p>
          <a:p>
            <a:pPr lvl="1"/>
            <a:r>
              <a:rPr sz="2800"/>
              <a:t>Explain why their leading observations differ</a:t>
            </a:r>
          </a:p>
          <a:p>
            <a:r>
              <a:rPr sz="2800"/>
              <a:t>Return to slides at Scores, Flags, And Investigation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Scores, Flags, And Investigation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Selection and evaluation for either detector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 And Selection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A score describes unusualness under a detector's criterion</a:t>
            </a:r>
          </a:p>
          <a:p>
            <a:r>
              <a:rPr sz="2800"/>
              <a:t>A selection rule identifies observations for follow-up</a:t>
            </a:r>
          </a:p>
          <a:p>
            <a:pPr lvl="1"/>
            <a:r>
              <a:rPr sz="2800"/>
              <a:t>Example: flag an observation when its score exceeds a threshold</a:t>
            </a:r>
          </a:p>
          <a:p>
            <a:r>
              <a:rPr sz="2800"/>
              <a:t>A flag records that the rule was met</a:t>
            </a:r>
          </a:p>
          <a:p>
            <a:pPr lvl="1"/>
            <a:r>
              <a:rPr sz="2800"/>
              <a:t>Specify the follow-up: sensor check, maintenance investigation, etc.</a:t>
            </a:r>
          </a:p>
          <a:p>
            <a:r>
              <a:rPr sz="2800"/>
              <a:t>Apply the rule, inspect selected readings, then establish their condition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A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Lower threshold: include more observations from the same scores</a:t>
            </a:r>
          </a:p>
          <a:p>
            <a:pPr lvl="1"/>
            <a:r>
              <a:rPr sz="2800"/>
              <a:t>Scores and rankings stay unchanged</a:t>
            </a:r>
          </a:p>
          <a:p>
            <a:r>
              <a:rPr sz="2800"/>
              <a:t>Thresholds belong to the detector's score scale</a:t>
            </a:r>
          </a:p>
          <a:p>
            <a:pPr lvl="1"/>
            <a:r>
              <a:rPr sz="2800"/>
              <a:t>LOF and isolation scores need their own cutoffs</a:t>
            </a:r>
          </a:p>
          <a:p>
            <a:r>
              <a:rPr sz="2800"/>
              <a:t>Choosing an operational threshold requires evidence</a:t>
            </a:r>
          </a:p>
          <a:p>
            <a:pPr lvl="1"/>
            <a:r>
              <a:rPr sz="2800"/>
              <a:t>What condition matters? What are the consequences of a missed case or false alarm?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False Alarms And Missed Faults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24249"/>
            <a:ext cx="10515600" cy="1481328"/>
          </a:xfrm>
        </p:spPr>
        <p:txBody>
          <a:bodyPr wrap="square" anchor="t">
            <a:noAutofit/>
          </a:bodyPr>
          <a:lstStyle/>
          <a:p>
            <a:r>
              <a:rPr sz="2600"/>
              <a:t>Positive/negative: whether a flag was raised</a:t>
            </a:r>
          </a:p>
          <a:p>
            <a:r>
              <a:rPr sz="2600"/>
              <a:t>True/false: whether it matches independently established condition</a:t>
            </a:r>
          </a:p>
        </p:txBody>
      </p:sp>
      <p:graphicFrame>
        <p:nvGraphicFramePr>
          <p:cNvPr id="4" name="Markdown table"/>
          <p:cNvGraphicFramePr>
            <a:graphicFrameLocks noGrp="1"/>
          </p:cNvGraphicFramePr>
          <p:nvPr/>
        </p:nvGraphicFramePr>
        <p:xfrm>
          <a:off x="838200" y="1825625"/>
          <a:ext cx="10515600" cy="2056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6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6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Fault Present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 b="1">
                          <a:solidFill>
                            <a:srgbClr val="FFFFFF"/>
                          </a:solidFill>
                        </a:rPr>
                        <a:t>Fault Absent</a:t>
                      </a:r>
                    </a:p>
                  </a:txBody>
                  <a:tcPr marT="54864" marB="54864" anchor="ctr">
                    <a:solidFill>
                      <a:srgbClr val="BF57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Flag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True positive: fault flagged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False positive: false alarm</a:t>
                      </a:r>
                    </a:p>
                  </a:txBody>
                  <a:tcPr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26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Do not flag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False negative: fault missed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000">
                          <a:solidFill>
                            <a:srgbClr val="212529"/>
                          </a:solidFill>
                        </a:rPr>
                        <a:t>True negative: healthy case not flagged</a:t>
                      </a:r>
                    </a:p>
                  </a:txBody>
                  <a:tcPr marT="54864" marB="54864" anchor="ctr"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Three flags need not mean three faults</a:t>
            </a:r>
          </a:p>
          <a:p>
            <a:pPr lvl="1"/>
            <a:r>
              <a:rPr sz="2800"/>
              <a:t>Actual conditions must be checked</a:t>
            </a:r>
          </a:p>
          <a:p>
            <a:r>
              <a:rPr sz="2800"/>
              <a:t>Checking only flagged readings leaves missed faults unknown</a:t>
            </a:r>
          </a:p>
          <a:p>
            <a:r>
              <a:rPr sz="2800"/>
              <a:t>Define the target before judging the flag</a:t>
            </a:r>
          </a:p>
          <a:p>
            <a:pPr lvl="1"/>
            <a:r>
              <a:rPr sz="2800"/>
              <a:t>An unusual healthy reading can be a false alarm for fault detection</a:t>
            </a:r>
          </a:p>
          <a:p>
            <a:pPr lvl="1"/>
            <a:r>
              <a:rPr sz="2800"/>
              <a:t>It may be useful when discovering new operating regimes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Scores, Flags, And Investigation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Open the notebook section with this title</a:t>
            </a:r>
          </a:p>
          <a:p>
            <a:r>
              <a:rPr sz="2800"/>
              <a:t>Predict which observations two LOF thresholds will select</a:t>
            </a:r>
          </a:p>
          <a:p>
            <a:r>
              <a:rPr sz="2800"/>
              <a:t>Apply the rules and inspect the selected rows</a:t>
            </a:r>
          </a:p>
          <a:p>
            <a:r>
              <a:rPr sz="2800"/>
              <a:t>Count false alarms and missed faults in a separate labeled example</a:t>
            </a:r>
          </a:p>
          <a:p>
            <a:r>
              <a:rPr sz="2800"/>
              <a:t>Explain a detector's priority and identify a useful follow-up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1914</Words>
  <Application>Microsoft Macintosh PowerPoint</Application>
  <PresentationFormat>Widescreen</PresentationFormat>
  <Paragraphs>269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Consolas</vt:lpstr>
      <vt:lpstr>Office Theme</vt:lpstr>
      <vt:lpstr>INSY 7130</vt:lpstr>
      <vt:lpstr>Approaches To Outlier Detection</vt:lpstr>
      <vt:lpstr>Reference Observations</vt:lpstr>
      <vt:lpstr>Seven Observations</vt:lpstr>
      <vt:lpstr>Neighbor-Distance Scores</vt:lpstr>
      <vt:lpstr>Second-Neighbor Distances</vt:lpstr>
      <vt:lpstr>Absolute And Local Spacing</vt:lpstr>
      <vt:lpstr>Local Outlier Factor</vt:lpstr>
      <vt:lpstr>Local Density</vt:lpstr>
      <vt:lpstr>Density Examples</vt:lpstr>
      <vt:lpstr>LOF Method Assess local unusualness using neighbors’ density as reference</vt:lpstr>
      <vt:lpstr>Reachability Adjusts Short Distances</vt:lpstr>
      <vt:lpstr>Local Reachability Density</vt:lpstr>
      <vt:lpstr>LOF Calculation</vt:lpstr>
      <vt:lpstr>Apply LOF And Inspect Local Support</vt:lpstr>
      <vt:lpstr>Isolation Through Random Partitions</vt:lpstr>
      <vt:lpstr>Splits And Paths</vt:lpstr>
      <vt:lpstr>A Partition Tree</vt:lpstr>
      <vt:lpstr>Tree Vocabulary</vt:lpstr>
      <vt:lpstr>Comparing Path Lengths</vt:lpstr>
      <vt:lpstr>Nested Groups</vt:lpstr>
      <vt:lpstr>Random Splitting</vt:lpstr>
      <vt:lpstr>Two-Dimensional Partitions</vt:lpstr>
      <vt:lpstr>Gaps And Random Cuts</vt:lpstr>
      <vt:lpstr>Isolation Forest</vt:lpstr>
      <vt:lpstr>Isolation Scores</vt:lpstr>
      <vt:lpstr>Feature Scaling: LOF And Isolation Forest</vt:lpstr>
      <vt:lpstr>Apply Isolation Forest And Compare Evidence</vt:lpstr>
      <vt:lpstr>Scores, Flags, And Investigation</vt:lpstr>
      <vt:lpstr>Scores And Selection Rules</vt:lpstr>
      <vt:lpstr>Choosing A Threshold</vt:lpstr>
      <vt:lpstr>False Alarms And Missed Faults</vt:lpstr>
      <vt:lpstr>Interpreting Flags</vt:lpstr>
      <vt:lpstr>Scores, Flags, And Investigation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O'Leary</dc:creator>
  <cp:lastModifiedBy>Dan O'Leary</cp:lastModifiedBy>
  <cp:revision>4</cp:revision>
  <dcterms:created xsi:type="dcterms:W3CDTF">2025-11-04T14:41:23Z</dcterms:created>
  <dcterms:modified xsi:type="dcterms:W3CDTF">2026-10-15T15:57:07Z</dcterms:modified>
</cp:coreProperties>
</file>